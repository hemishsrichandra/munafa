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4a8ac3592e4286" /><Relationship Type="http://schemas.openxmlformats.org/officeDocument/2006/relationships/extended-properties" Target="/docProps/app.xml" Id="R480de2784f454e25" /><Relationship Type="http://schemas.openxmlformats.org/officeDocument/2006/relationships/officeDocument" Target="/ppt/presentation.xml" Id="R76f168b7df9d4219" /></Relationships>
</file>

<file path=ppt/presentation.xml><?xml version="1.0" encoding="utf-8"?>
<p:presentation xmlns:p="http://schemas.openxmlformats.org/presentationml/2006/main">
  <p:sldMasterIdLst>
    <p:sldMasterId xmlns:r="http://schemas.openxmlformats.org/officeDocument/2006/relationships" id="2147483648" r:id="Rd697929ffd474f77"/>
  </p:sldMasterIdLst>
  <p:notesMasterIdLst>
    <p:notesMasterId xmlns:r="http://schemas.openxmlformats.org/officeDocument/2006/relationships" r:id="R466ff9945fc749ca"/>
  </p:notesMasterIdLst>
  <p:sldIdLst>
    <p:sldId xmlns:r="http://schemas.openxmlformats.org/officeDocument/2006/relationships" id="256" r:id="R3a78a057404e4da1"/>
    <p:sldId xmlns:r="http://schemas.openxmlformats.org/officeDocument/2006/relationships" id="257" r:id="R90d19bdaab1f4a59"/>
    <p:sldId xmlns:r="http://schemas.openxmlformats.org/officeDocument/2006/relationships" id="258" r:id="R94afae761f074201"/>
    <p:sldId xmlns:r="http://schemas.openxmlformats.org/officeDocument/2006/relationships" id="259" r:id="Ra5e37130814f4167"/>
    <p:sldId xmlns:r="http://schemas.openxmlformats.org/officeDocument/2006/relationships" id="260" r:id="Rad187137335e4433"/>
    <p:sldId xmlns:r="http://schemas.openxmlformats.org/officeDocument/2006/relationships" id="261" r:id="R44c2e9f604304a4c"/>
    <p:sldId xmlns:r="http://schemas.openxmlformats.org/officeDocument/2006/relationships" id="262" r:id="R176cab05b0a140a6"/>
    <p:sldId xmlns:r="http://schemas.openxmlformats.org/officeDocument/2006/relationships" id="263" r:id="R0f8a7ae903444f87"/>
    <p:sldId xmlns:r="http://schemas.openxmlformats.org/officeDocument/2006/relationships" id="264" r:id="R560a65a645044b50"/>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c49102d65344a56" /><Relationship Type="http://schemas.openxmlformats.org/officeDocument/2006/relationships/slideMaster" Target="/ppt/slideMasters/slideMaster1.xml" Id="Rd697929ffd474f77" /><Relationship Type="http://schemas.openxmlformats.org/officeDocument/2006/relationships/notesMaster" Target="/ppt/notesMasters/notesMaster1.xml" Id="R466ff9945fc749ca" /><Relationship Type="http://schemas.openxmlformats.org/officeDocument/2006/relationships/presProps" Target="/ppt/presProps.xml" Id="Rced70b1567dd4361" /><Relationship Type="http://schemas.openxmlformats.org/officeDocument/2006/relationships/viewProps" Target="/ppt/viewProps.xml" Id="Rb1ea18aeccf6460d" /><Relationship Type="http://schemas.openxmlformats.org/officeDocument/2006/relationships/tableStyles" Target="/ppt/tableStyles.xml" Id="R107907adfd0c44da" /><Relationship Type="http://schemas.openxmlformats.org/officeDocument/2006/relationships/slide" Target="/ppt/slides/slide1.xml" Id="R3a78a057404e4da1" /><Relationship Type="http://schemas.openxmlformats.org/officeDocument/2006/relationships/slide" Target="/ppt/slides/slide2.xml" Id="R90d19bdaab1f4a59" /><Relationship Type="http://schemas.openxmlformats.org/officeDocument/2006/relationships/slide" Target="/ppt/slides/slide3.xml" Id="R94afae761f074201" /><Relationship Type="http://schemas.openxmlformats.org/officeDocument/2006/relationships/slide" Target="/ppt/slides/slide4.xml" Id="Ra5e37130814f4167" /><Relationship Type="http://schemas.openxmlformats.org/officeDocument/2006/relationships/slide" Target="/ppt/slides/slide5.xml" Id="Rad187137335e4433" /><Relationship Type="http://schemas.openxmlformats.org/officeDocument/2006/relationships/slide" Target="/ppt/slides/slide6.xml" Id="R44c2e9f604304a4c" /><Relationship Type="http://schemas.openxmlformats.org/officeDocument/2006/relationships/slide" Target="/ppt/slides/slide7.xml" Id="R176cab05b0a140a6" /><Relationship Type="http://schemas.openxmlformats.org/officeDocument/2006/relationships/slide" Target="/ppt/slides/slide8.xml" Id="R0f8a7ae903444f87" /><Relationship Type="http://schemas.openxmlformats.org/officeDocument/2006/relationships/slide" Target="/ppt/slides/slide9.xml" Id="R560a65a645044b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cde393138d42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unafa">
  <a:themeElements>
    <a:clrScheme name="Munafa">
      <a:dk1>
        <a:srgbClr val="132D36"/>
      </a:dk1>
      <a:lt1>
        <a:srgbClr val="FFFFFF"/>
      </a:lt1>
      <a:dk2>
        <a:srgbClr val="0B5C5E"/>
      </a:dk2>
      <a:lt2>
        <a:srgbClr val="F7F5EE"/>
      </a:lt2>
      <a:accent1>
        <a:srgbClr val="007E80"/>
      </a:accent1>
      <a:accent2>
        <a:srgbClr val="F17359"/>
      </a:accent2>
      <a:accent3>
        <a:srgbClr val="EFBA53"/>
      </a:accent3>
      <a:accent4>
        <a:srgbClr val="51D7AE"/>
      </a:accent4>
      <a:accent5>
        <a:srgbClr val="53676C"/>
      </a:accent5>
      <a:accent6>
        <a:srgbClr val="A9BDCD"/>
      </a:accent6>
      <a:hlink>
        <a:srgbClr val="007E80"/>
      </a:hlink>
      <a:folHlink>
        <a:srgbClr val="53676C"/>
      </a:folHlink>
    </a:clrScheme>
    <a:fontScheme name="Munaf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Munaf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d7720231624ab3" /><Relationship Type="http://schemas.openxmlformats.org/officeDocument/2006/relationships/notesMaster" Target="/ppt/notesMasters/notesMaster1.xml" Id="R20f7f06168be4f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d4ca75332a4c21" /><Relationship Type="http://schemas.openxmlformats.org/officeDocument/2006/relationships/notesMaster" Target="/ppt/notesMasters/notesMaster1.xml" Id="Rbbcb539c36a045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a03b615ac74f2b" /><Relationship Type="http://schemas.openxmlformats.org/officeDocument/2006/relationships/notesMaster" Target="/ppt/notesMasters/notesMaster1.xml" Id="Re6d08e0e86a747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906717c4204873" /><Relationship Type="http://schemas.openxmlformats.org/officeDocument/2006/relationships/notesMaster" Target="/ppt/notesMasters/notesMaster1.xml" Id="R78c8567119e640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a4cf9098e54bf4" /><Relationship Type="http://schemas.openxmlformats.org/officeDocument/2006/relationships/notesMaster" Target="/ppt/notesMasters/notesMaster1.xml" Id="Rd6511392b9894a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10bdb6d1434bb7" /><Relationship Type="http://schemas.openxmlformats.org/officeDocument/2006/relationships/notesMaster" Target="/ppt/notesMasters/notesMaster1.xml" Id="R0a5cf8b0d2d74b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b15a98a1584d65" /><Relationship Type="http://schemas.openxmlformats.org/officeDocument/2006/relationships/notesMaster" Target="/ppt/notesMasters/notesMaster1.xml" Id="Ref2632a5af094d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a282c2e04d4d90" /><Relationship Type="http://schemas.openxmlformats.org/officeDocument/2006/relationships/notesMaster" Target="/ppt/notesMasters/notesMaster1.xml" Id="R72e6b5f93ae942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ef9fcdd19d4f7b" /><Relationship Type="http://schemas.openxmlformats.org/officeDocument/2006/relationships/notesMaster" Target="/ppt/notesMasters/notesMaster1.xml" Id="R86595d87722a49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Munafa helps kirana merchants document reported short deliveries and follow supplier credits to resolution. We begin with one narrow workflow. Twelve packs billed, ten received and a confirmed ₹40 per pack give an illustrative ₹80 amount to review. This is a proposed product, not a live integration or a recovery guarantee. The prototype and merchant outcomes have not yet been demonstrated. Team identifiers remain omitted as requested.</a:t>
            </a:r>
            <a:endParaRPr/>
          </a:p>
          <a:p xmlns:a="http://schemas.openxmlformats.org/drawingml/2006/main">
            <a:r>
              <a:t/>
            </a:r>
            <a:endParaRPr/>
          </a:p>
          <a:p xmlns:a="http://schemas.openxmlformats.org/drawingml/2006/main">
            <a:r>
              <a:t>Track fit: supplier operations and working-capital protection, not a claim of measured sales growth. Source: https://luma.com/6afp5q46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case: the merchant confirms ten packs arrived against twelve billed, the same unit basis applies and delivery is complete. The example excludes taxes, discounts and schemes. The invoice establishes billed quantity, not physical delivery. Merchant-confirmed counts support a request but do not independently prove a shortage.</a:t>
            </a:r>
            <a:endParaRPr/>
          </a:p>
          <a:p xmlns:a="http://schemas.openxmlformats.org/drawingml/2006/main">
            <a:r>
              <a:t/>
            </a:r>
            <a:endParaRPr/>
          </a:p>
          <a:p xmlns:a="http://schemas.openxmlformats.org/drawingml/2006/main">
            <a:r>
              <a:t>Discovery must establish incidence, unresolved rupee value, supplier response and current follow-up effort. No interviews or prevalence statistics are claimed. An accepted request stays unresolved until an applied credit, refund or other documented resolution is confirmed.</a:t>
            </a:r>
            <a:endParaRPr/>
          </a:p>
          <a:p xmlns:a="http://schemas.openxmlformats.org/drawingml/2006/main">
            <a:r>
              <a:t>Merchant discovery protocol (planned, not completed): ask each owner to walk through a recent supplier discrepancy and, with consent, show the invoice and follow-up record. Record cases per month, unresolved value, time spent, current tools and reasons a case remains open. Do not infer market-wide demand from 3–5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 supported invoice upload, editable extraction, confirmed received quantity and units, deterministic decimal arithmetic, evidence review and manual WhatsApp sharing. An ordinary prepared-message link does not automatically attach the evidence card or prove delivery. The merchant attaches the card, sends and explicitly confirms sharing. A template can produce the message from approved fields without a second model call.</a:t>
            </a:r>
            <a:endParaRPr/>
          </a:p>
          <a:p xmlns:a="http://schemas.openxmlformats.org/drawingml/2006/main">
            <a:r>
              <a:t/>
            </a:r>
            <a:endParaRPr/>
          </a:p>
          <a:p xmlns:a="http://schemas.openxmlformats.org/drawingml/2006/main">
            <a:r>
              <a:t>English voice is an optional input path with editable text fallback. Hindi/Hinglish is roadmap. A follow-up date is merchant-chosen, not an inferred supplier delivery schedule. Unknown units or incomplete delivery block the affected calculation. Changed inputs invalidate approval. Partial credits reduce the remaining balance but keep the case open.</a:t>
            </a:r>
            <a:endParaRPr/>
          </a:p>
          <a:p xmlns:a="http://schemas.openxmlformats.org/drawingml/2006/main">
            <a:r>
              <a:t>Demonstration sequence using synthetic documents: upload invoice A-104; flag its unclear unit; merchant confirms packs, 10 received and delivery complete; rules calculate (12−10)×40=80; approve evidence and manually share; merchant records sent only after sharing; enter a simulated supplier promise and choose a follow-up date; upload a second synthetic bill showing an explicit credit; verify supplier, original invoice reference and amount; merchant confirms application before recording closure. The simplified example excludes taxes, discounts and schemes. This is a planned demo, not evidence of a working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interface screens using synthetic data, not screenshots of a working product. Left: confirm each invoice line, including a matched line and an unresolved unit. The microphone represents planned English speech input; text entry remains available. Middle: an evidence card combines the bill reference, confirmed count and deterministic calculation. The user opens WhatsApp and manually attaches the card. Right: approval, sending, supplier acceptance and documented resolution remain separate states. The hollow final timeline marker means the case is still open.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implementation: React interface, FastAPI service and PostgreSQL case records. Use a vision model to produce structured invoice fields with source references. Validate the schema and require review of unreadable fields. Never treat a model's self-reported confidence as calibrated accuracy. Confirm actual API access, image input, quotas, latency and cost during the initial technical spike. The AI provider is intentionally not named.</a:t>
            </a:r>
            <a:endParaRPr/>
          </a:p>
          <a:p xmlns:a="http://schemas.openxmlformats.org/drawingml/2006/main">
            <a:r>
              <a:t/>
            </a:r>
            <a:endParaRPr/>
          </a:p>
          <a:p xmlns:a="http://schemas.openxmlformats.org/drawingml/2006/main">
            <a:r>
              <a:t>Inputs are merchant-uploaded invoices and confirmed counts. No Paytm transaction, inventory or supplier API is assumed. The MVP supports one invoice format with synthetic bills and simulated supplier replies. A second invoice with an explicit original-invoice reference supplies the next-bill check. AI extracts candidate credit evidence; deterministic code checks supplier, reference, amount and explicit application. The merchant confirms before closure. Missing or ambiguous evidence stays open.</a:t>
            </a:r>
            <a:endParaRPr/>
          </a:p>
          <a:p xmlns:a="http://schemas.openxmlformats.org/drawingml/2006/main">
            <a:r>
              <a:t/>
            </a:r>
            <a:endParaRPr/>
          </a:p>
          <a:p xmlns:a="http://schemas.openxmlformats.org/drawingml/2006/main">
            <a:r>
              <a:t>Use decimal arithmetic, stable invoice/item/issue keys, unique resolution references and transactional updates. Repeated resolution recording must not change the total twice. Persist evidence, approved input versions, timestamps and status history. Keep pending, rejected and disputed cases distinct. Manual entry is a disclosed fallback, not presented as successful AI extraction.</a:t>
            </a:r>
            <a:endParaRPr/>
          </a:p>
          <a:p xmlns:a="http://schemas.openxmlformats.org/drawingml/2006/main">
            <a:r>
              <a:t>Engineering detail: use a stable case key plus a unique supplier resolution reference, a database uniqueness constraint and atomic state update; a freshly generated ID alone cannot prevent duplicate submissions. Reject conflicting references, over-application and unsupported unit conversions. Input edits invalidate earlier approval. Separate extraction accuracy before correction from calculation accuracy on confirmed inputs. Match explicit credit evidence only; a lower next-bill total is not proof of a credit. If evidence is ambiguous, keep the case open for review. Proposed build sequence: case and validation flow, extraction, evidence approval and history, simulated resolution. Test API availability before committing to a vision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distinction is a guided receiving-to-credit workflow for kirana stores with scattered records, not exclusive invention of vendor credits. Existing accounting products already support vendor credits, applying credits to bills and recording refunds. Usability and advantage over current tools need merchant testing.</a:t>
            </a:r>
            <a:endParaRPr/>
          </a:p>
          <a:p xmlns:a="http://schemas.openxmlformats.org/drawingml/2006/main">
            <a:r>
              <a:t/>
            </a:r>
            <a:endParaRPr/>
          </a:p>
          <a:p xmlns:a="http://schemas.openxmlformats.org/drawingml/2006/main">
            <a:r>
              <a:t>Example: supplier S-01 accepts ₹80 for invoice A-104. A later bill explicitly applies a ₹80 credit against A-104. The system matches supplier identity, invoice reference, amount and actual application; the merchant confirms. A similar amount alone is insufficient. If reference or application is unclear, keep the case open. Record a partial credit once and retain the outstanding balance. A refund is an alternative documented resolution, not a second recovery.</a:t>
            </a:r>
            <a:endParaRPr/>
          </a:p>
          <a:p xmlns:a="http://schemas.openxmlformats.org/drawingml/2006/main">
            <a:r>
              <a:t/>
            </a:r>
            <a:endParaRPr/>
          </a:p>
          <a:p xmlns:a="http://schemas.openxmlformats.org/drawingml/2006/main">
            <a:r>
              <a:t>Source checked 27 October 2026: https://www.zoho.com/en-in/erp/help/purchases/vendor-credits/overview.html</a:t>
            </a:r>
            <a:endParaRPr/>
          </a:p>
          <a:p xmlns:a="http://schemas.openxmlformats.org/drawingml/2006/main">
            <a:r>
              <a:t>Positioning is a usability hypothesis, not a claim of unique vendor-credit functionality. Primary source checked 27 October 2026: https://www.zoho.com/en-in/erp/help/purchases/vendor-credits/overview.html . The source documents vendor credits, applying them to bills, refunds and status tracking. Test whether targeted clarification and source-linked evidence reduce the work of preparing a case compared with current merchant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easier case preparation, visible follow-up and a more specific supplier request. No merchant outcomes or completed pilot are claimed. Proposed pilot: 3–5 stores, compared with their current process. Report case counts, blocked cases, review effort, supplier responses, time to resolution and documented credits/refunds. A small pilot can establish workflow usability, not broad causal impact.</a:t>
            </a:r>
            <a:endParaRPr/>
          </a:p>
          <a:p xmlns:a="http://schemas.openxmlformats.org/drawingml/2006/main">
            <a:r>
              <a:t/>
            </a:r>
            <a:endParaRPr/>
          </a:p>
          <a:p xmlns:a="http://schemas.openxmlformats.org/drawingml/2006/main">
            <a:r>
              <a:t>Documented value sums applied credits and refunds without counting the same resolution twice. Promises and accepted requests do not count as realized value. Report manual corrections and unsupported cases. Measure extraction correctness before merchant edits and calculation correctness after input confirmation separately. Simulated replies cannot establish real supplier acceptance or recovery rates.</a:t>
            </a:r>
            <a:endParaRPr/>
          </a:p>
          <a:p xmlns:a="http://schemas.openxmlformats.org/drawingml/2006/main">
            <a:r>
              <a:t>Pilot design: recruit 3–5 consenting stores, observe one baseline week, then run four pilot weeks. Compare similar discrepancy types within each store and report sample counts; this small study cannot establish causal impact. Primary measures: median preparation time; proportion of newly opened cases with documented closure by pilot end (also report case age and unresolved cases); stores active in both final weeks among stores with eligible cases. Report stores with no eligible cases separately. Proposed decision gate: faster preparation for a majority of evaluable stores, repeat use by a majority with eligible cases, and no unsupported or duplicate closures in tested cases. These are proposed criteria, not achieved results. Record actual applied credits and refunds once; recorded value is not necessarily incremental value caused by Munafa. Extend observation if supplier cycles exceed the study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₹199 per month after a limited free trial is a pricing hypothesis. Three comparable resolved cases at ₹80 each would yield ₹240 of documented value, but this assumes those cases occur and resolve. It excludes merchant effort and other costs and is not Munafa's company break-even or an observed return on investment. Do not attribute all recoveries to Munafa without a comparison to normal follow-up.</a:t>
            </a:r>
            <a:endParaRPr/>
          </a:p>
          <a:p xmlns:a="http://schemas.openxmlformats.org/drawingml/2006/main">
            <a:r>
              <a:t/>
            </a:r>
            <a:endParaRPr/>
          </a:p>
          <a:p xmlns:a="http://schemas.openxmlformats.org/drawingml/2006/main">
            <a:r>
              <a:t>Start with merchants who frequently handle supplier adjustments and lack a satisfactory process. Direct discovery first. Measure API calls including retries, storage, hosting, onboarding and support, then set limits. Test willingness to pay. Outcome fees and a Paytm bundle remain alternatives for later validation, not simultaneous launch commitments. Paytm distribution requires a commercial agreement.</a:t>
            </a:r>
            <a:endParaRPr/>
          </a:p>
          <a:p xmlns:a="http://schemas.openxmlformats.org/drawingml/2006/main">
            <a:r>
              <a:t/>
            </a:r>
            <a:endParaRPr/>
          </a:p>
          <a:p xmlns:a="http://schemas.openxmlformats.org/drawingml/2006/main">
            <a:r>
              <a:t>Keep Net-Pay out of the MVP. Any future payment adjustment needs supplier-agreed credit application and controls against double deduction. Pending claims must never automatically reduce a payment. Roadmap prioritizes Hindi/Hinglish and returns, then price/scheme checks.</a:t>
            </a:r>
            <a:endParaRPr/>
          </a:p>
          <a:p xmlns:a="http://schemas.openxmlformats.org/drawingml/2006/main">
            <a:r>
              <a:t>Pricing is an untested hypothesis. Do not present 3×80 versus 199 as proven ROI: case frequency, recoverability, merchant effort and outcomes without the tool are unknown. Collect willingness to pay after use; measure model/API cost, retries, hosting, storage, onboarding and support per active store. Validate whether time saved and incremental resolution benefit justify the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One-day scope is a plan, not a claim of completed work. Planning assumption: approximately 6–8 available hours, subject to organizer rules. First hour: verify programmatic model access on the supported sample and freeze schema. Hours 1–3: implement case data, confirmed counts and rules alongside the basic UI. Hours 3–5: connect extraction, evidence/message review and manual sharing. Hours 5–6: add explicit next-bill credit matching and resolution history. Remaining time: test, record a short demo and rehearse. If time is shorter, retain text input and template messages and omit optional voice. Do not build live Paytm integration, hardware or autonomous supplier outreach.</a:t>
            </a:r>
            <a:endParaRPr/>
          </a:p>
          <a:p xmlns:a="http://schemas.openxmlformats.org/drawingml/2006/main">
            <a:r>
              <a:t/>
            </a:r>
            <a:endParaRPr/>
          </a:p>
          <a:p xmlns:a="http://schemas.openxmlformats.org/drawingml/2006/main">
            <a:r>
              <a:t>Demo: upload synthetic A-104; confirm ten packs arrived; show ₹80 review amount; demonstrate that unknown units block a calculation; approve the evidence and open the message; manually record a simulated supplier acceptance; upload the second synthetic bill showing an explicit ₹80 credit; confirm resolution; replay the same resolution and show the total remains ₹80. Clearly label synthetic data and simulated supplier behaviour.</a:t>
            </a:r>
            <a:endParaRPr/>
          </a:p>
          <a:p xmlns:a="http://schemas.openxmlformats.org/drawingml/2006/main">
            <a:r>
              <a:t/>
            </a:r>
            <a:endParaRPr/>
          </a:p>
          <a:p xmlns:a="http://schemas.openxmlformats.org/drawingml/2006/main">
            <a:r>
              <a:t>Paytm opportunity is a proposed extension into merchant supplier operations. Paytm's official AI Soundbox announcement describes business insights in 11 local languages. This supports strategic context, not API availability or an existing Munafa integration. Ask for introductions to 3–5 suitable merchants and guidance on integration access.</a:t>
            </a:r>
            <a:endParaRPr/>
          </a:p>
          <a:p xmlns:a="http://schemas.openxmlformats.org/drawingml/2006/main">
            <a:r>
              <a:t/>
            </a:r>
            <a:endParaRPr/>
          </a:p>
          <a:p xmlns:a="http://schemas.openxmlformats.org/drawingml/2006/main">
            <a:r>
              <a:t>Sources checked 27 October 2026: https://luma.com/6afp5q46 and https://paytm.com/document/ir/press-release/AI-SB.pdf</a:t>
            </a:r>
            <a:endParaRPr/>
          </a:p>
          <a:p xmlns:a="http://schemas.openxmlformats.org/drawingml/2006/main">
            <a:r>
              <a:t/>
            </a:r>
            <a:endParaRPr/>
          </a:p>
          <a:p xmlns:a="http://schemas.openxmlformats.org/drawingml/2006/main">
            <a:r>
              <a:t>The public event page lists the required pitch sections and final-round prototype, demo video and presentation. Exact build hours, prebuilt-code rules, mandatory APIs and evaluation details must follow organizer communication.</a:t>
            </a:r>
            <a:endParaRPr/>
          </a:p>
          <a:p xmlns:a="http://schemas.openxmlformats.org/drawingml/2006/main">
            <a:r>
              <a:t>Paytm positioning: a proposed supplier-follow-up workflow within Paytm for Business, subject to partnership, integration access and merchant consent. Existing Paytm Billing POS already advertises vendor management, purchase orders and inventory features; do not claim Paytm lacks operational tools. Primary source checked 27 October 2026: https://business.paytm.com/pos-billing-software . Start as a standalone prototype with merchant-uploaded documents, without assuming access to Paytm merchant or payment data. The initial scope addresses operations and margin protection; broader growth or customer-service features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693d05b0e548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15a8af71ce4e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679018c4024e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26cbfd2c7f43c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rgbClr val="F7F5E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7C7309-C948-427F-80B3-F665874788E0}"/>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1400" b="1" kern="0" spc="200">
                <a:solidFill>
                  <a:schemeClr val="accent1"/>
                </a:solidFill>
              </a:defRPr>
            </a:lvl1pPr>
          </a:lstStyle>
          <a:p xmlns:a="http://schemas.openxmlformats.org/drawingml/2006/main">
            <a:pPr marL="0" indent="0">
              <a:buNone/>
            </a:pPr>
            <a:endParaRPr sz="1400"/>
          </a:p>
        </p:txBody>
      </p:sp>
      <p:sp>
        <p:nvSpPr>
          <p:cNvPr id="3" name="Text 0">
            <a:extLst xmlns:a="http://schemas.openxmlformats.org/drawingml/2006/main">
              <a:ext uri="{FF2B5EF4-FFF2-40B4-BE49-F238E27FC236}">
                <a16:creationId xmlns:a16="http://schemas.microsoft.com/office/drawing/2014/main" id="{C8C86F3D-02AA-4ED6-A2D7-4B0D84AADB66}"/>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600" b="1">
                <a:solidFill>
                  <a:schemeClr val="tx1"/>
                </a:solidFill>
              </a:defRPr>
            </a:lvl1pPr>
          </a:lstStyle>
          <a:p xmlns:a="http://schemas.openxmlformats.org/drawingml/2006/main">
            <a:pPr marL="0" indent="0" algn="l">
              <a:buNone/>
            </a:pPr>
            <a:endParaRPr sz="3600"/>
          </a:p>
        </p:txBody>
      </p:sp>
      <p:sp>
        <p:nvSpPr>
          <p:cNvPr id="4" name="Text 0">
            <a:extLst xmlns:a="http://schemas.openxmlformats.org/drawingml/2006/main">
              <a:ext uri="{FF2B5EF4-FFF2-40B4-BE49-F238E27FC236}">
                <a16:creationId xmlns:a16="http://schemas.microsoft.com/office/drawing/2014/main" id="{97305038-158F-4021-8B63-1038FC08A6B3}"/>
              </a:ext>
            </a:extLst>
          </p:cNvPr>
          <p:cNvSpPr>
            <a:spLocks xmlns:a="http://schemas.openxmlformats.org/drawingml/2006/main" noGrp="1"/>
          </p:cNvSpPr>
          <p:nvPr/>
        </p:nvSpPr>
        <p:spPr>
          <a:xfrm xmlns:a="http://schemas.openxmlformats.org/drawingml/2006/main">
            <a:off x="548640" y="6455664"/>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3676C"/>
                </a:solidFill>
              </a:rPr>
              <a:t>MUNAFA  ·  Paytm Build for India  ·  Merchant Growth AI</a:t>
            </a:r>
            <a:endParaRPr sz="1000"/>
          </a:p>
        </p:txBody>
      </p:sp>
      <p:sp>
        <p:nvSpPr>
          <p:cNvPr id="25" name="Slide Number Placeholder 0">
            <a:extLst xmlns:a="http://schemas.openxmlformats.org/drawingml/2006/main">
              <a:ext uri="{FF2B5EF4-FFF2-40B4-BE49-F238E27FC236}">
                <a16:creationId xmlns:a16="http://schemas.microsoft.com/office/drawing/2014/main" id="{E70E20BB-201F-441F-A339-2738A0E1FFEA}"/>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1002</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rgbClr val="132D36"/>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6E0423-2E7A-46C8-ABB9-8930CFF9FD96}"/>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1400" b="1" kern="0" spc="200">
                <a:solidFill>
                  <a:schemeClr val="accent3"/>
                </a:solidFill>
              </a:defRPr>
            </a:lvl1pPr>
          </a:lstStyle>
          <a:p xmlns:a="http://schemas.openxmlformats.org/drawingml/2006/main">
            <a:pPr marL="0" indent="0">
              <a:buNone/>
            </a:pPr>
            <a:endParaRPr sz="1400"/>
          </a:p>
        </p:txBody>
      </p:sp>
      <p:sp>
        <p:nvSpPr>
          <p:cNvPr id="3" name="Text 0">
            <a:extLst xmlns:a="http://schemas.openxmlformats.org/drawingml/2006/main">
              <a:ext uri="{FF2B5EF4-FFF2-40B4-BE49-F238E27FC236}">
                <a16:creationId xmlns:a16="http://schemas.microsoft.com/office/drawing/2014/main" id="{6FB5B78F-F8EB-4235-96CA-FBBD3E42E285}"/>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600" b="1">
                <a:solidFill>
                  <a:schemeClr val="bg1"/>
                </a:solidFill>
              </a:defRPr>
            </a:lvl1pPr>
          </a:lstStyle>
          <a:p xmlns:a="http://schemas.openxmlformats.org/drawingml/2006/main">
            <a:pPr marL="0" indent="0" algn="l">
              <a:buNone/>
            </a:pPr>
            <a:endParaRPr sz="3600"/>
          </a:p>
        </p:txBody>
      </p:sp>
      <p:sp>
        <p:nvSpPr>
          <p:cNvPr id="4" name="Text 0">
            <a:extLst xmlns:a="http://schemas.openxmlformats.org/drawingml/2006/main">
              <a:ext uri="{FF2B5EF4-FFF2-40B4-BE49-F238E27FC236}">
                <a16:creationId xmlns:a16="http://schemas.microsoft.com/office/drawing/2014/main" id="{DAA2B476-048E-436C-B755-823D309A1A8E}"/>
              </a:ext>
            </a:extLst>
          </p:cNvPr>
          <p:cNvSpPr>
            <a:spLocks xmlns:a="http://schemas.openxmlformats.org/drawingml/2006/main" noGrp="1"/>
          </p:cNvSpPr>
          <p:nvPr/>
        </p:nvSpPr>
        <p:spPr>
          <a:xfrm xmlns:a="http://schemas.openxmlformats.org/drawingml/2006/main">
            <a:off x="548640" y="6455664"/>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BDCD"/>
                </a:solidFill>
              </a:rPr>
              <a:t>MUNAFA  ·  Paytm Build for India  ·  Merchant Growth AI</a:t>
            </a:r>
            <a:endParaRPr sz="1000"/>
          </a:p>
        </p:txBody>
      </p:sp>
      <p:sp>
        <p:nvSpPr>
          <p:cNvPr id="25" name="Slide Number Placeholder 0">
            <a:extLst xmlns:a="http://schemas.openxmlformats.org/drawingml/2006/main">
              <a:ext uri="{FF2B5EF4-FFF2-40B4-BE49-F238E27FC236}">
                <a16:creationId xmlns:a16="http://schemas.microsoft.com/office/drawing/2014/main" id="{7523317E-BF2E-45C7-9C80-0E2BA91A8B57}"/>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A9BDCD"/>
                </a:solidFil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TITLE_DARK">
    <p:bg>
      <p:bgPr>
        <a:solidFill xmlns:a="http://schemas.openxmlformats.org/drawingml/2006/main">
          <a:srgbClr val="132D36"/>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F8D055-3433-4AA3-9F7E-A19EB0459379}"/>
              </a:ext>
            </a:extLst>
          </p:cNvPr>
          <p:cNvSpPr>
            <a:spLocks xmlns:a="http://schemas.openxmlformats.org/drawingml/2006/main" noGrp="1"/>
          </p:cNvSpPr>
          <p:nvPr>
            <p:ph type="title" idx="100" hasCustomPrompt="1"/>
          </p:nvPr>
        </p:nvSpPr>
        <p:spPr>
          <a:xfrm xmlns:a="http://schemas.openxmlformats.org/drawingml/2006/main">
            <a:off x="731520" y="1234440"/>
            <a:ext cx="6583680" cy="12801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8000" b="1">
                <a:solidFill>
                  <a:schemeClr val="bg1"/>
                </a:solidFill>
              </a:defRPr>
            </a:lvl1pPr>
          </a:lstStyle>
          <a:p xmlns:a="http://schemas.openxmlformats.org/drawingml/2006/main">
            <a:pPr marL="0" indent="0" algn="l">
              <a:buNone/>
            </a:pPr>
            <a:endParaRPr sz="80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ff994613db4007" /><Relationship Type="http://schemas.openxmlformats.org/officeDocument/2006/relationships/slideLayout" Target="/ppt/slideLayouts/slideLayout1.xml" Id="R2b3c775c6e3d4a5d" /><Relationship Type="http://schemas.openxmlformats.org/officeDocument/2006/relationships/slideLayout" Target="/ppt/slideLayouts/slideLayout2.xml" Id="Rab2479e46dd54d84" /><Relationship Type="http://schemas.openxmlformats.org/officeDocument/2006/relationships/slideLayout" Target="/ppt/slideLayouts/slideLayout3.xml" Id="Rbef14b21222c4634" /><Relationship Type="http://schemas.openxmlformats.org/officeDocument/2006/relationships/slideLayout" Target="/ppt/slideLayouts/slideLayout4.xml" Id="R3cfb481af6e7482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100ECD7B-DBE6-4E85-BD29-30859D038200}"/>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3c775c6e3d4a5d"/>
    <p:sldLayoutId xmlns:r="http://schemas.openxmlformats.org/officeDocument/2006/relationships" id="2147483650" r:id="Rab2479e46dd54d84"/>
    <p:sldLayoutId xmlns:r="http://schemas.openxmlformats.org/officeDocument/2006/relationships" id="2147483651" r:id="Rbef14b21222c4634"/>
    <p:sldLayoutId xmlns:r="http://schemas.openxmlformats.org/officeDocument/2006/relationships" id="2147483652" r:id="R3cfb481af6e7482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Munafa">
  <a:themeElements>
    <a:clrScheme name="Munafa">
      <a:dk1>
        <a:srgbClr val="132D36"/>
      </a:dk1>
      <a:lt1>
        <a:srgbClr val="FFFFFF"/>
      </a:lt1>
      <a:dk2>
        <a:srgbClr val="0B5C5E"/>
      </a:dk2>
      <a:lt2>
        <a:srgbClr val="F7F5EE"/>
      </a:lt2>
      <a:accent1>
        <a:srgbClr val="007E80"/>
      </a:accent1>
      <a:accent2>
        <a:srgbClr val="F17359"/>
      </a:accent2>
      <a:accent3>
        <a:srgbClr val="EFBA53"/>
      </a:accent3>
      <a:accent4>
        <a:srgbClr val="51D7AE"/>
      </a:accent4>
      <a:accent5>
        <a:srgbClr val="53676C"/>
      </a:accent5>
      <a:accent6>
        <a:srgbClr val="A9BDCD"/>
      </a:accent6>
      <a:hlink>
        <a:srgbClr val="007E80"/>
      </a:hlink>
      <a:folHlink>
        <a:srgbClr val="53676C"/>
      </a:folHlink>
    </a:clrScheme>
    <a:fontScheme name="Munaf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Munaf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12ec490855f949af" /><Relationship Type="http://schemas.openxmlformats.org/officeDocument/2006/relationships/notesSlide" Target="/ppt/notesSlides/notesSlide1.xml" Id="R1b9b89287f804f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f4c4cc2864745f0" /><Relationship Type="http://schemas.openxmlformats.org/officeDocument/2006/relationships/notesSlide" Target="/ppt/notesSlides/notesSlide2.xml" Id="R2e259909896441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79ae96ef660430b" /><Relationship Type="http://schemas.openxmlformats.org/officeDocument/2006/relationships/image" Target="/ppt/media/image.png" Id="R9791f88aca8d4afe" /><Relationship Type="http://schemas.openxmlformats.org/officeDocument/2006/relationships/image" Target="/ppt/media/image2.png" Id="R1258e8fa92d84132" /><Relationship Type="http://schemas.openxmlformats.org/officeDocument/2006/relationships/image" Target="/ppt/media/image3.png" Id="Ra2ae30fd8a584f91" /><Relationship Type="http://schemas.openxmlformats.org/officeDocument/2006/relationships/image" Target="/ppt/media/image4.png" Id="Rb0ed2db0d66a4a98" /><Relationship Type="http://schemas.openxmlformats.org/officeDocument/2006/relationships/image" Target="/ppt/media/image5.png" Id="Ref72defd0e1d45d3" /><Relationship Type="http://schemas.openxmlformats.org/officeDocument/2006/relationships/notesSlide" Target="/ppt/notesSlides/notesSlide3.xml" Id="R1ed62cadef0f49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d6b527805af4849" /><Relationship Type="http://schemas.openxmlformats.org/officeDocument/2006/relationships/image" Target="/ppt/media/image6.png" Id="Re3e1c8f2e0124052" /><Relationship Type="http://schemas.openxmlformats.org/officeDocument/2006/relationships/notesSlide" Target="/ppt/notesSlides/notesSlide4.xml" Id="Raab2a372927e41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8c1ae22219e401a" /><Relationship Type="http://schemas.openxmlformats.org/officeDocument/2006/relationships/image" Target="/ppt/media/image7.png" Id="R39f7a0642dc548de" /><Relationship Type="http://schemas.openxmlformats.org/officeDocument/2006/relationships/image" Target="/ppt/media/image8.png" Id="R24f95ae3d43043a7" /><Relationship Type="http://schemas.openxmlformats.org/officeDocument/2006/relationships/image" Target="/ppt/media/image9.png" Id="R042ac92190de4f23" /><Relationship Type="http://schemas.openxmlformats.org/officeDocument/2006/relationships/notesSlide" Target="/ppt/notesSlides/notesSlide5.xml" Id="R02dd707b94d545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dcc40a6cf48461c" /><Relationship Type="http://schemas.openxmlformats.org/officeDocument/2006/relationships/image" Target="/ppt/media/image10.png" Id="R170ea7583dab469b" /><Relationship Type="http://schemas.openxmlformats.org/officeDocument/2006/relationships/image" Target="/ppt/media/image11.png" Id="R2957fcdbb62c4ccd" /><Relationship Type="http://schemas.openxmlformats.org/officeDocument/2006/relationships/image" Target="/ppt/media/image12.png" Id="R544037cf94034c86" /><Relationship Type="http://schemas.openxmlformats.org/officeDocument/2006/relationships/notesSlide" Target="/ppt/notesSlides/notesSlide6.xml" Id="R0d0cc7cee52742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59f0b14f67b4653" /><Relationship Type="http://schemas.openxmlformats.org/officeDocument/2006/relationships/image" Target="/ppt/media/image13.png" Id="R1d012b533b664198" /><Relationship Type="http://schemas.openxmlformats.org/officeDocument/2006/relationships/image" Target="/ppt/media/image14.png" Id="R613552debcb14d0f" /><Relationship Type="http://schemas.openxmlformats.org/officeDocument/2006/relationships/image" Target="/ppt/media/image15.png" Id="R81ebabe5c1294597" /><Relationship Type="http://schemas.openxmlformats.org/officeDocument/2006/relationships/notesSlide" Target="/ppt/notesSlides/notesSlide7.xml" Id="R41f15882a29943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b44934597df43ba" /><Relationship Type="http://schemas.openxmlformats.org/officeDocument/2006/relationships/image" Target="/ppt/media/image16.png" Id="Rb347742fbcf54e43" /><Relationship Type="http://schemas.openxmlformats.org/officeDocument/2006/relationships/image" Target="/ppt/media/image17.png" Id="Rc205b3eb0dd64cd0" /><Relationship Type="http://schemas.openxmlformats.org/officeDocument/2006/relationships/notesSlide" Target="/ppt/notesSlides/notesSlide8.xml" Id="R81e768400a4345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7a702bbd32ac4544" /><Relationship Type="http://schemas.openxmlformats.org/officeDocument/2006/relationships/notesSlide" Target="/ppt/notesSlides/notesSlide9.xml" Id="R9aacf13d5f6a4c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Eyebrow">
            <a:extLst xmlns:a="http://schemas.openxmlformats.org/drawingml/2006/main">
              <a:ext uri="{FF2B5EF4-FFF2-40B4-BE49-F238E27FC236}">
                <a16:creationId xmlns:a16="http://schemas.microsoft.com/office/drawing/2014/main" id="{956DACFB-6959-4C77-8CA5-08BD53ADCE28}"/>
              </a:ext>
            </a:extLst>
          </p:cNvPr>
          <p:cNvSpPr>
            <a:spLocks xmlns:a="http://schemas.openxmlformats.org/drawingml/2006/main" noGrp="1"/>
          </p:cNvSpPr>
          <p:nvPr/>
        </p:nvSpPr>
        <p:spPr>
          <a:xfrm xmlns:a="http://schemas.openxmlformats.org/drawingml/2006/main">
            <a:off x="731520" y="685800"/>
            <a:ext cx="6583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spc="200">
                <a:solidFill>
                  <a:schemeClr val="accent3"/>
                </a:solidFill>
              </a:rPr>
              <a:t>PAYTM BUILD FOR INDIA  ·  MERCHANT GROWTH AI</a:t>
            </a:r>
            <a:endParaRPr sz="1400"/>
          </a:p>
        </p:txBody>
      </p:sp>
      <p:sp>
        <p:nvSpPr>
          <p:cNvPr id="3" name="Text 0">
            <a:extLst xmlns:a="http://schemas.openxmlformats.org/drawingml/2006/main">
              <a:ext uri="{FF2B5EF4-FFF2-40B4-BE49-F238E27FC236}">
                <a16:creationId xmlns:a16="http://schemas.microsoft.com/office/drawing/2014/main" id="{07EE9A34-9282-4A34-A83E-988079E63F60}"/>
              </a:ext>
            </a:extLst>
          </p:cNvPr>
          <p:cNvSpPr>
            <a:spLocks xmlns:a="http://schemas.openxmlformats.org/drawingml/2006/main" noGrp="1"/>
          </p:cNvSpPr>
          <p:nvPr>
            <p:ph type="title" idx="100" hasCustomPrompt="1"/>
          </p:nvPr>
        </p:nvSpPr>
        <p:spPr>
          <a:xfrm xmlns:a="http://schemas.openxmlformats.org/drawingml/2006/main">
            <a:off x="731520" y="1234440"/>
            <a:ext cx="6583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0" b="1">
                <a:solidFill>
                  <a:schemeClr val="bg1"/>
                </a:solidFill>
              </a:rPr>
              <a:t>MUNAFA</a:t>
            </a:r>
            <a:endParaRPr sz="8000"/>
          </a:p>
        </p:txBody>
      </p:sp>
      <p:sp>
        <p:nvSpPr>
          <p:cNvPr id="4" name="Tagline">
            <a:extLst xmlns:a="http://schemas.openxmlformats.org/drawingml/2006/main">
              <a:ext uri="{FF2B5EF4-FFF2-40B4-BE49-F238E27FC236}">
                <a16:creationId xmlns:a16="http://schemas.microsoft.com/office/drawing/2014/main" id="{766B6A83-C8E8-4E6A-AE90-2072B806A03A}"/>
              </a:ext>
            </a:extLst>
          </p:cNvPr>
          <p:cNvSpPr>
            <a:spLocks xmlns:a="http://schemas.openxmlformats.org/drawingml/2006/main" noGrp="1"/>
          </p:cNvSpPr>
          <p:nvPr/>
        </p:nvSpPr>
        <p:spPr>
          <a:xfrm xmlns:a="http://schemas.openxmlformats.org/drawingml/2006/main">
            <a:off x="731520" y="2743200"/>
            <a:ext cx="6309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marL="0" indent="0" algn="l">
              <a:buNone/>
              <a:defRPr sz="3000" b="1" i="0">
                <a:solidFill>
                  <a:srgbClr val="FFFFFF"/>
                </a:solidFill>
                <a:latin typeface="Arial"/>
                <a:ea typeface="Arial"/>
                <a:cs typeface="Arial"/>
              </a:defRPr>
            </a:pPr>
            <a:r>
              <a:rPr sz="3000" b="1" i="0">
                <a:solidFill>
                  <a:srgbClr val="FFFFFF"/>
                </a:solidFill>
                <a:latin typeface="Arial"/>
                <a:ea typeface="Arial"/>
                <a:cs typeface="Arial"/>
              </a:rPr>
              <a:t>Recover what your</a:t>
            </a:r>
            <a:endParaRPr sz="3000"/>
          </a:p>
          <a:p xmlns:a="http://schemas.openxmlformats.org/drawingml/2006/main">
            <a:pPr marL="0" indent="0" algn="l">
              <a:buNone/>
              <a:defRPr sz="3000" b="1" i="0">
                <a:solidFill>
                  <a:srgbClr val="FFFFFF"/>
                </a:solidFill>
                <a:latin typeface="Arial"/>
                <a:ea typeface="Arial"/>
                <a:cs typeface="Arial"/>
              </a:defRPr>
            </a:pPr>
            <a:r>
              <a:rPr sz="3000" b="1" i="0">
                <a:solidFill>
                  <a:srgbClr val="FFFFFF"/>
                </a:solidFill>
                <a:latin typeface="Arial"/>
                <a:ea typeface="Arial"/>
                <a:cs typeface="Arial"/>
              </a:rPr>
              <a:t>store is owed.</a:t>
            </a:r>
            <a:endParaRPr sz="3000"/>
          </a:p>
          <a:p xmlns:a="http://schemas.openxmlformats.org/drawingml/2006/main">
            <a:pPr marL="0" indent="0" algn="l">
              <a:buNone/>
              <a:defRPr sz="3000" b="1" i="0">
                <a:solidFill>
                  <a:srgbClr val="FFFFFF"/>
                </a:solidFill>
                <a:latin typeface="Arial"/>
                <a:ea typeface="Arial"/>
                <a:cs typeface="Arial"/>
              </a:defRPr>
            </a:pPr>
            <a:r>
              <a:rPr sz="3000" b="1" i="0">
                <a:solidFill>
                  <a:srgbClr val="FFFFFF"/>
                </a:solidFill>
                <a:latin typeface="Arial"/>
                <a:ea typeface="Arial"/>
                <a:cs typeface="Arial"/>
              </a:rPr>
              <a:t>Track credits to resolution.</a:t>
            </a:r>
            <a:endParaRPr sz="3000"/>
          </a:p>
        </p:txBody>
      </p:sp>
      <p:sp>
        <p:nvSpPr>
          <p:cNvPr id="5" name="Subtitle">
            <a:extLst xmlns:a="http://schemas.openxmlformats.org/drawingml/2006/main">
              <a:ext uri="{FF2B5EF4-FFF2-40B4-BE49-F238E27FC236}">
                <a16:creationId xmlns:a16="http://schemas.microsoft.com/office/drawing/2014/main" id="{3D1E888D-637C-40BE-AE9D-2BD783EAB65A}"/>
              </a:ext>
            </a:extLst>
          </p:cNvPr>
          <p:cNvSpPr>
            <a:spLocks xmlns:a="http://schemas.openxmlformats.org/drawingml/2006/main" noGrp="1"/>
          </p:cNvSpPr>
          <p:nvPr/>
        </p:nvSpPr>
        <p:spPr>
          <a:xfrm xmlns:a="http://schemas.openxmlformats.org/drawingml/2006/main">
            <a:off x="731520" y="4251960"/>
            <a:ext cx="6309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chemeClr val="accent6"/>
                </a:solidFill>
              </a:rPr>
              <a:t>AI-assisted supplier-credit follow-up for kirana stores.</a:t>
            </a:r>
            <a:endParaRPr sz="1800"/>
          </a:p>
        </p:txBody>
      </p:sp>
      <p:sp>
        <p:nvSpPr>
          <p:cNvPr id="6" name="Example chip">
            <a:extLst xmlns:a="http://schemas.openxmlformats.org/drawingml/2006/main">
              <a:ext uri="{FF2B5EF4-FFF2-40B4-BE49-F238E27FC236}">
                <a16:creationId xmlns:a16="http://schemas.microsoft.com/office/drawing/2014/main" id="{42D6EAAC-FC23-485E-9C3A-BE4093446E0C}"/>
              </a:ext>
            </a:extLst>
          </p:cNvPr>
          <p:cNvSpPr>
            <a:spLocks xmlns:a="http://schemas.openxmlformats.org/drawingml/2006/main" noGrp="1"/>
          </p:cNvSpPr>
          <p:nvPr/>
        </p:nvSpPr>
        <p:spPr>
          <a:xfrm xmlns:a="http://schemas.openxmlformats.org/drawingml/2006/main">
            <a:off x="731520" y="5074920"/>
            <a:ext cx="5760720" cy="685800"/>
          </a:xfrm>
          <a:prstGeom xmlns:a="http://schemas.openxmlformats.org/drawingml/2006/main" prst="roundRect">
            <a:avLst>
              <a:gd name="adj" fmla="val 13333"/>
            </a:avLst>
          </a:prstGeom>
          <a:solidFill xmlns:a="http://schemas.openxmlformats.org/drawingml/2006/main">
            <a:schemeClr val="accent3"/>
          </a:solidFill>
        </p:spPr>
      </p:sp>
      <p:sp>
        <p:nvSpPr>
          <p:cNvPr id="7" name="Example text">
            <a:extLst xmlns:a="http://schemas.openxmlformats.org/drawingml/2006/main">
              <a:ext uri="{FF2B5EF4-FFF2-40B4-BE49-F238E27FC236}">
                <a16:creationId xmlns:a16="http://schemas.microsoft.com/office/drawing/2014/main" id="{9B8EC8C9-BA21-49FF-8ADD-F3133BFD6DC5}"/>
              </a:ext>
            </a:extLst>
          </p:cNvPr>
          <p:cNvSpPr>
            <a:spLocks xmlns:a="http://schemas.openxmlformats.org/drawingml/2006/main" noGrp="1"/>
          </p:cNvSpPr>
          <p:nvPr/>
        </p:nvSpPr>
        <p:spPr>
          <a:xfrm xmlns:a="http://schemas.openxmlformats.org/drawingml/2006/main">
            <a:off x="960120" y="5074920"/>
            <a:ext cx="5394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00" b="1" i="0">
                <a:solidFill>
                  <a:srgbClr val="132D36"/>
                </a:solidFill>
                <a:latin typeface="Arial"/>
                <a:ea typeface="Arial"/>
                <a:cs typeface="Arial"/>
              </a:defRPr>
            </a:defPPr>
            <a:lvl1pPr algn="l">
              <a:buNone/>
              <a:defRPr sz="1600" b="1" i="0">
                <a:solidFill>
                  <a:srgbClr val="132D36"/>
                </a:solidFill>
                <a:latin typeface="Arial"/>
                <a:ea typeface="Arial"/>
                <a:cs typeface="Arial"/>
              </a:defRPr>
            </a:lvl1pPr>
            <a:lvl2pPr algn="l">
              <a:buNone/>
              <a:defRPr sz="1600" b="1" i="0">
                <a:solidFill>
                  <a:srgbClr val="132D36"/>
                </a:solidFill>
                <a:latin typeface="Arial"/>
                <a:ea typeface="Arial"/>
                <a:cs typeface="Arial"/>
              </a:defRPr>
            </a:lvl2pPr>
            <a:lvl3pPr algn="l">
              <a:buNone/>
              <a:defRPr sz="1600" b="1" i="0">
                <a:solidFill>
                  <a:srgbClr val="132D36"/>
                </a:solidFill>
                <a:latin typeface="Arial"/>
                <a:ea typeface="Arial"/>
                <a:cs typeface="Arial"/>
              </a:defRPr>
            </a:lvl3pPr>
            <a:lvl4pPr algn="l">
              <a:buNone/>
              <a:defRPr sz="1600" b="1" i="0">
                <a:solidFill>
                  <a:srgbClr val="132D36"/>
                </a:solidFill>
                <a:latin typeface="Arial"/>
                <a:ea typeface="Arial"/>
                <a:cs typeface="Arial"/>
              </a:defRPr>
            </a:lvl4pPr>
            <a:lvl5pPr algn="l">
              <a:buNone/>
              <a:defRPr sz="1600" b="1" i="0">
                <a:solidFill>
                  <a:srgbClr val="132D36"/>
                </a:solidFill>
                <a:latin typeface="Arial"/>
                <a:ea typeface="Arial"/>
                <a:cs typeface="Arial"/>
              </a:defRPr>
            </a:lvl5pPr>
            <a:lvl6pPr algn="l">
              <a:buNone/>
              <a:defRPr sz="1600" b="1" i="0">
                <a:solidFill>
                  <a:srgbClr val="132D36"/>
                </a:solidFill>
                <a:latin typeface="Arial"/>
                <a:ea typeface="Arial"/>
                <a:cs typeface="Arial"/>
              </a:defRPr>
            </a:lvl6pPr>
            <a:lvl7pPr algn="l">
              <a:buNone/>
              <a:defRPr sz="1600" b="1" i="0">
                <a:solidFill>
                  <a:srgbClr val="132D36"/>
                </a:solidFill>
                <a:latin typeface="Arial"/>
                <a:ea typeface="Arial"/>
                <a:cs typeface="Arial"/>
              </a:defRPr>
            </a:lvl7pPr>
            <a:lvl8pPr algn="l">
              <a:buNone/>
              <a:defRPr sz="1600" b="1" i="0">
                <a:solidFill>
                  <a:srgbClr val="132D36"/>
                </a:solidFill>
                <a:latin typeface="Arial"/>
                <a:ea typeface="Arial"/>
                <a:cs typeface="Arial"/>
              </a:defRPr>
            </a:lvl8pPr>
            <a:lvl9pPr algn="l">
              <a:buNone/>
              <a:defRPr sz="1600" b="1" i="0">
                <a:solidFill>
                  <a:srgbClr val="132D36"/>
                </a:solidFill>
                <a:latin typeface="Arial"/>
                <a:ea typeface="Arial"/>
                <a:cs typeface="Arial"/>
              </a:defRPr>
            </a:lvl9pPr>
          </a:lstStyle>
          <a:p xmlns:a="http://schemas.openxmlformats.org/drawingml/2006/main">
            <a:pPr marL="0" indent="0" algn="l">
              <a:buNone/>
              <a:defRPr sz="1600" b="1" i="0">
                <a:solidFill>
                  <a:srgbClr val="132D36"/>
                </a:solidFill>
                <a:latin typeface="Arial"/>
                <a:ea typeface="Arial"/>
                <a:cs typeface="Arial"/>
              </a:defRPr>
            </a:pPr>
            <a:r>
              <a:rPr sz="1600" b="1" i="0">
                <a:solidFill>
                  <a:srgbClr val="132D36"/>
                </a:solidFill>
                <a:latin typeface="Arial"/>
                <a:ea typeface="Arial"/>
                <a:cs typeface="Arial"/>
              </a:rPr>
              <a:t>12 billed  ·  10 received  ·  ₹40/pack  =  ₹80 to review</a:t>
            </a:r>
            <a:endParaRPr sz="1600"/>
          </a:p>
        </p:txBody>
      </p:sp>
      <p:sp>
        <p:nvSpPr>
          <p:cNvPr id="8" name="Phone body">
            <a:extLst xmlns:a="http://schemas.openxmlformats.org/drawingml/2006/main">
              <a:ext uri="{FF2B5EF4-FFF2-40B4-BE49-F238E27FC236}">
                <a16:creationId xmlns:a16="http://schemas.microsoft.com/office/drawing/2014/main" id="{2E7C792E-03FF-46B1-90F3-0BA99BD4568C}"/>
              </a:ext>
            </a:extLst>
          </p:cNvPr>
          <p:cNvSpPr>
            <a:spLocks xmlns:a="http://schemas.openxmlformats.org/drawingml/2006/main" noGrp="1"/>
          </p:cNvSpPr>
          <p:nvPr/>
        </p:nvSpPr>
        <p:spPr>
          <a:xfrm xmlns:a="http://schemas.openxmlformats.org/drawingml/2006/main">
            <a:off x="7818120" y="640080"/>
            <a:ext cx="3566160" cy="5577840"/>
          </a:xfrm>
          <a:prstGeom xmlns:a="http://schemas.openxmlformats.org/drawingml/2006/main" prst="roundRect">
            <a:avLst>
              <a:gd name="adj" fmla="val 8205"/>
            </a:avLst>
          </a:prstGeom>
          <a:solidFill xmlns:a="http://schemas.openxmlformats.org/drawingml/2006/main">
            <a:srgbClr val="FFFFFF"/>
          </a:solidFill>
          <a:effectLst xmlns:a="http://schemas.openxmlformats.org/drawingml/2006/main">
            <a:outerShdw blurRad="127000" dist="38100" dir="5400000" sx="100000" sy="100000" kx="0" ky="0" algn="bl" rotWithShape="0">
              <a:srgbClr val="000000">
                <a:alpha val="12000"/>
              </a:srgbClr>
            </a:outerShdw>
          </a:effectLst>
        </p:spPr>
      </p:sp>
      <p:sp>
        <p:nvSpPr>
          <p:cNvPr id="9" name="Phone screen">
            <a:extLst xmlns:a="http://schemas.openxmlformats.org/drawingml/2006/main">
              <a:ext uri="{FF2B5EF4-FFF2-40B4-BE49-F238E27FC236}">
                <a16:creationId xmlns:a16="http://schemas.microsoft.com/office/drawing/2014/main" id="{235A5E1B-A20E-4963-BAA6-835008ED95BE}"/>
              </a:ext>
            </a:extLst>
          </p:cNvPr>
          <p:cNvSpPr>
            <a:spLocks xmlns:a="http://schemas.openxmlformats.org/drawingml/2006/main" noGrp="1"/>
          </p:cNvSpPr>
          <p:nvPr/>
        </p:nvSpPr>
        <p:spPr>
          <a:xfrm xmlns:a="http://schemas.openxmlformats.org/drawingml/2006/main">
            <a:off x="7927848" y="749808"/>
            <a:ext cx="3346704" cy="5358384"/>
          </a:xfrm>
          <a:prstGeom xmlns:a="http://schemas.openxmlformats.org/drawingml/2006/main" prst="roundRect">
            <a:avLst>
              <a:gd name="adj" fmla="val 6011"/>
            </a:avLst>
          </a:prstGeom>
          <a:solidFill xmlns:a="http://schemas.openxmlformats.org/drawingml/2006/main">
            <a:schemeClr val="bg2"/>
          </a:solidFill>
        </p:spPr>
      </p:sp>
      <p:sp>
        <p:nvSpPr>
          <p:cNvPr id="10" name="Phone notch">
            <a:extLst xmlns:a="http://schemas.openxmlformats.org/drawingml/2006/main">
              <a:ext uri="{FF2B5EF4-FFF2-40B4-BE49-F238E27FC236}">
                <a16:creationId xmlns:a16="http://schemas.microsoft.com/office/drawing/2014/main" id="{8B1EB3F6-7469-436F-AA32-6C30D8BE35F4}"/>
              </a:ext>
            </a:extLst>
          </p:cNvPr>
          <p:cNvSpPr>
            <a:spLocks xmlns:a="http://schemas.openxmlformats.org/drawingml/2006/main" noGrp="1"/>
          </p:cNvSpPr>
          <p:nvPr/>
        </p:nvSpPr>
        <p:spPr>
          <a:xfrm xmlns:a="http://schemas.openxmlformats.org/drawingml/2006/main">
            <a:off x="9235440" y="804672"/>
            <a:ext cx="731520" cy="73152"/>
          </a:xfrm>
          <a:prstGeom xmlns:a="http://schemas.openxmlformats.org/drawingml/2006/main" prst="roundRect">
            <a:avLst>
              <a:gd name="adj" fmla="val 50000"/>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6C1C6C53-815F-4FCE-BB8F-E3C5247DBA5F}"/>
              </a:ext>
            </a:extLst>
          </p:cNvPr>
          <p:cNvSpPr>
            <a:spLocks xmlns:a="http://schemas.openxmlformats.org/drawingml/2006/main" noGrp="1"/>
          </p:cNvSpPr>
          <p:nvPr/>
        </p:nvSpPr>
        <p:spPr>
          <a:xfrm xmlns:a="http://schemas.openxmlformats.org/drawingml/2006/main">
            <a:off x="8202168" y="1161288"/>
            <a:ext cx="2834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chemeClr val="tx1"/>
                </a:solidFill>
              </a:rPr>
              <a:t>Invoice A-104  ·  Biscuits</a:t>
            </a:r>
            <a:endParaRPr sz="1300"/>
          </a:p>
        </p:txBody>
      </p:sp>
      <p:sp>
        <p:nvSpPr>
          <p:cNvPr id="12" name="Text 10">
            <a:extLst xmlns:a="http://schemas.openxmlformats.org/drawingml/2006/main">
              <a:ext uri="{FF2B5EF4-FFF2-40B4-BE49-F238E27FC236}">
                <a16:creationId xmlns:a16="http://schemas.microsoft.com/office/drawing/2014/main" id="{B3FB4F5C-9501-428F-A318-5A371C5E140B}"/>
              </a:ext>
            </a:extLst>
          </p:cNvPr>
          <p:cNvSpPr>
            <a:spLocks xmlns:a="http://schemas.openxmlformats.org/drawingml/2006/main" noGrp="1"/>
          </p:cNvSpPr>
          <p:nvPr/>
        </p:nvSpPr>
        <p:spPr>
          <a:xfrm xmlns:a="http://schemas.openxmlformats.org/drawingml/2006/main">
            <a:off x="8202168" y="1463040"/>
            <a:ext cx="2834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0" i="0">
                <a:solidFill>
                  <a:srgbClr val="53676C"/>
                </a:solidFill>
                <a:latin typeface="Arial"/>
                <a:ea typeface="Arial"/>
                <a:cs typeface="Arial"/>
              </a:defRPr>
            </a:defPPr>
            <a:lvl1pPr algn="l">
              <a:buNone/>
              <a:defRPr sz="1200" b="0" i="0">
                <a:solidFill>
                  <a:srgbClr val="53676C"/>
                </a:solidFill>
                <a:latin typeface="Arial"/>
                <a:ea typeface="Arial"/>
                <a:cs typeface="Arial"/>
              </a:defRPr>
            </a:lvl1pPr>
            <a:lvl2pPr algn="l">
              <a:buNone/>
              <a:defRPr sz="1200" b="0" i="0">
                <a:solidFill>
                  <a:srgbClr val="53676C"/>
                </a:solidFill>
                <a:latin typeface="Arial"/>
                <a:ea typeface="Arial"/>
                <a:cs typeface="Arial"/>
              </a:defRPr>
            </a:lvl2pPr>
            <a:lvl3pPr algn="l">
              <a:buNone/>
              <a:defRPr sz="1200" b="0" i="0">
                <a:solidFill>
                  <a:srgbClr val="53676C"/>
                </a:solidFill>
                <a:latin typeface="Arial"/>
                <a:ea typeface="Arial"/>
                <a:cs typeface="Arial"/>
              </a:defRPr>
            </a:lvl3pPr>
            <a:lvl4pPr algn="l">
              <a:buNone/>
              <a:defRPr sz="1200" b="0" i="0">
                <a:solidFill>
                  <a:srgbClr val="53676C"/>
                </a:solidFill>
                <a:latin typeface="Arial"/>
                <a:ea typeface="Arial"/>
                <a:cs typeface="Arial"/>
              </a:defRPr>
            </a:lvl4pPr>
            <a:lvl5pPr algn="l">
              <a:buNone/>
              <a:defRPr sz="1200" b="0" i="0">
                <a:solidFill>
                  <a:srgbClr val="53676C"/>
                </a:solidFill>
                <a:latin typeface="Arial"/>
                <a:ea typeface="Arial"/>
                <a:cs typeface="Arial"/>
              </a:defRPr>
            </a:lvl5pPr>
            <a:lvl6pPr algn="l">
              <a:buNone/>
              <a:defRPr sz="1200" b="0" i="0">
                <a:solidFill>
                  <a:srgbClr val="53676C"/>
                </a:solidFill>
                <a:latin typeface="Arial"/>
                <a:ea typeface="Arial"/>
                <a:cs typeface="Arial"/>
              </a:defRPr>
            </a:lvl6pPr>
            <a:lvl7pPr algn="l">
              <a:buNone/>
              <a:defRPr sz="1200" b="0" i="0">
                <a:solidFill>
                  <a:srgbClr val="53676C"/>
                </a:solidFill>
                <a:latin typeface="Arial"/>
                <a:ea typeface="Arial"/>
                <a:cs typeface="Arial"/>
              </a:defRPr>
            </a:lvl7pPr>
            <a:lvl8pPr algn="l">
              <a:buNone/>
              <a:defRPr sz="1200" b="0" i="0">
                <a:solidFill>
                  <a:srgbClr val="53676C"/>
                </a:solidFill>
                <a:latin typeface="Arial"/>
                <a:ea typeface="Arial"/>
                <a:cs typeface="Arial"/>
              </a:defRPr>
            </a:lvl8pPr>
            <a:lvl9pPr algn="l">
              <a:buNone/>
              <a:defRPr sz="1200" b="0" i="0">
                <a:solidFill>
                  <a:srgbClr val="53676C"/>
                </a:solidFill>
                <a:latin typeface="Arial"/>
                <a:ea typeface="Arial"/>
                <a:cs typeface="Arial"/>
              </a:defRPr>
            </a:lvl9pPr>
          </a:lstStyle>
          <a:p xmlns:a="http://schemas.openxmlformats.org/drawingml/2006/main">
            <a:pPr marL="0" indent="0" algn="l">
              <a:buNone/>
              <a:defRPr sz="1200" b="0" i="0">
                <a:solidFill>
                  <a:srgbClr val="53676C"/>
                </a:solidFill>
                <a:latin typeface="Arial"/>
                <a:ea typeface="Arial"/>
                <a:cs typeface="Arial"/>
              </a:defRPr>
            </a:pPr>
            <a:r>
              <a:rPr sz="1200" b="0" i="0">
                <a:solidFill>
                  <a:srgbClr val="53676C"/>
                </a:solidFill>
                <a:latin typeface="Arial"/>
                <a:ea typeface="Arial"/>
                <a:cs typeface="Arial"/>
              </a:rPr>
              <a:t>Reported delivery gap</a:t>
            </a:r>
            <a:endParaRPr sz="1200"/>
          </a:p>
        </p:txBody>
      </p:sp>
      <p:sp>
        <p:nvSpPr>
          <p:cNvPr id="13" name="Gap panel">
            <a:extLst xmlns:a="http://schemas.openxmlformats.org/drawingml/2006/main">
              <a:ext uri="{FF2B5EF4-FFF2-40B4-BE49-F238E27FC236}">
                <a16:creationId xmlns:a16="http://schemas.microsoft.com/office/drawing/2014/main" id="{73894867-F438-488B-AFBE-2A35948859C3}"/>
              </a:ext>
            </a:extLst>
          </p:cNvPr>
          <p:cNvSpPr>
            <a:spLocks xmlns:a="http://schemas.openxmlformats.org/drawingml/2006/main" noGrp="1"/>
          </p:cNvSpPr>
          <p:nvPr/>
        </p:nvSpPr>
        <p:spPr>
          <a:xfrm xmlns:a="http://schemas.openxmlformats.org/drawingml/2006/main">
            <a:off x="8110728" y="1847088"/>
            <a:ext cx="2980944" cy="1600200"/>
          </a:xfrm>
          <a:prstGeom xmlns:a="http://schemas.openxmlformats.org/drawingml/2006/main" prst="roundRect">
            <a:avLst>
              <a:gd name="adj" fmla="val 8571"/>
            </a:avLst>
          </a:prstGeom>
          <a:solidFill xmlns:a="http://schemas.openxmlformats.org/drawingml/2006/main">
            <a:schemeClr val="tx1"/>
          </a:solidFill>
        </p:spPr>
      </p:sp>
      <p:sp>
        <p:nvSpPr>
          <p:cNvPr id="14" name="Text 12">
            <a:extLst xmlns:a="http://schemas.openxmlformats.org/drawingml/2006/main">
              <a:ext uri="{FF2B5EF4-FFF2-40B4-BE49-F238E27FC236}">
                <a16:creationId xmlns:a16="http://schemas.microsoft.com/office/drawing/2014/main" id="{71C26D8E-9718-447F-95B7-7CE9B0D4013A}"/>
              </a:ext>
            </a:extLst>
          </p:cNvPr>
          <p:cNvSpPr>
            <a:spLocks xmlns:a="http://schemas.openxmlformats.org/drawingml/2006/main" noGrp="1"/>
          </p:cNvSpPr>
          <p:nvPr/>
        </p:nvSpPr>
        <p:spPr>
          <a:xfrm xmlns:a="http://schemas.openxmlformats.org/drawingml/2006/main">
            <a:off x="8110728" y="1938528"/>
            <a:ext cx="298094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400" b="1">
                <a:solidFill>
                  <a:schemeClr val="accent2"/>
                </a:solidFill>
              </a:rPr>
              <a:t>₹80</a:t>
            </a:r>
            <a:endParaRPr sz="6400"/>
          </a:p>
        </p:txBody>
      </p:sp>
      <p:sp>
        <p:nvSpPr>
          <p:cNvPr id="15" name="Text 13">
            <a:extLst xmlns:a="http://schemas.openxmlformats.org/drawingml/2006/main">
              <a:ext uri="{FF2B5EF4-FFF2-40B4-BE49-F238E27FC236}">
                <a16:creationId xmlns:a16="http://schemas.microsoft.com/office/drawing/2014/main" id="{6BCED102-B885-4A50-B2A6-C09B93424FF6}"/>
              </a:ext>
            </a:extLst>
          </p:cNvPr>
          <p:cNvSpPr>
            <a:spLocks xmlns:a="http://schemas.openxmlformats.org/drawingml/2006/main" noGrp="1"/>
          </p:cNvSpPr>
          <p:nvPr/>
        </p:nvSpPr>
        <p:spPr>
          <a:xfrm xmlns:a="http://schemas.openxmlformats.org/drawingml/2006/main">
            <a:off x="8110728" y="2944368"/>
            <a:ext cx="29809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chemeClr val="bg1"/>
                </a:solidFill>
              </a:rPr>
              <a:t>to review</a:t>
            </a:r>
            <a:endParaRPr sz="1400"/>
          </a:p>
        </p:txBody>
      </p:sp>
      <p:sp>
        <p:nvSpPr>
          <p:cNvPr id="16" name="Billed">
            <a:extLst xmlns:a="http://schemas.openxmlformats.org/drawingml/2006/main">
              <a:ext uri="{FF2B5EF4-FFF2-40B4-BE49-F238E27FC236}">
                <a16:creationId xmlns:a16="http://schemas.microsoft.com/office/drawing/2014/main" id="{D527DECC-CBC0-4396-9160-CABA354D2F77}"/>
              </a:ext>
            </a:extLst>
          </p:cNvPr>
          <p:cNvSpPr>
            <a:spLocks xmlns:a="http://schemas.openxmlformats.org/drawingml/2006/main" noGrp="1"/>
          </p:cNvSpPr>
          <p:nvPr/>
        </p:nvSpPr>
        <p:spPr>
          <a:xfrm xmlns:a="http://schemas.openxmlformats.org/drawingml/2006/main">
            <a:off x="8110728" y="3630168"/>
            <a:ext cx="1417320" cy="868680"/>
          </a:xfrm>
          <a:prstGeom xmlns:a="http://schemas.openxmlformats.org/drawingml/2006/main" prst="roundRect">
            <a:avLst>
              <a:gd name="adj" fmla="val 1052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7" name="Text 15">
            <a:extLst xmlns:a="http://schemas.openxmlformats.org/drawingml/2006/main">
              <a:ext uri="{FF2B5EF4-FFF2-40B4-BE49-F238E27FC236}">
                <a16:creationId xmlns:a16="http://schemas.microsoft.com/office/drawing/2014/main" id="{42C8671F-B592-4A18-A53A-85921297D0DD}"/>
              </a:ext>
            </a:extLst>
          </p:cNvPr>
          <p:cNvSpPr>
            <a:spLocks xmlns:a="http://schemas.openxmlformats.org/drawingml/2006/main" noGrp="1"/>
          </p:cNvSpPr>
          <p:nvPr/>
        </p:nvSpPr>
        <p:spPr>
          <a:xfrm xmlns:a="http://schemas.openxmlformats.org/drawingml/2006/main">
            <a:off x="8247888" y="3721608"/>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accent5"/>
                </a:solidFill>
              </a:rPr>
              <a:t>Billed</a:t>
            </a:r>
            <a:endParaRPr sz="1100"/>
          </a:p>
        </p:txBody>
      </p:sp>
      <p:sp>
        <p:nvSpPr>
          <p:cNvPr id="18" name="Text 16">
            <a:extLst xmlns:a="http://schemas.openxmlformats.org/drawingml/2006/main">
              <a:ext uri="{FF2B5EF4-FFF2-40B4-BE49-F238E27FC236}">
                <a16:creationId xmlns:a16="http://schemas.microsoft.com/office/drawing/2014/main" id="{10260F9F-8102-410F-A1EC-9C70B7BEB45A}"/>
              </a:ext>
            </a:extLst>
          </p:cNvPr>
          <p:cNvSpPr>
            <a:spLocks xmlns:a="http://schemas.openxmlformats.org/drawingml/2006/main" noGrp="1"/>
          </p:cNvSpPr>
          <p:nvPr/>
        </p:nvSpPr>
        <p:spPr>
          <a:xfrm xmlns:a="http://schemas.openxmlformats.org/drawingml/2006/main">
            <a:off x="8247888" y="3950208"/>
            <a:ext cx="1280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tx1"/>
                </a:solidFill>
              </a:rPr>
              <a:t>12</a:t>
            </a:r>
            <a:endParaRPr sz="2400"/>
          </a:p>
        </p:txBody>
      </p:sp>
      <p:sp>
        <p:nvSpPr>
          <p:cNvPr id="19" name="Received">
            <a:extLst xmlns:a="http://schemas.openxmlformats.org/drawingml/2006/main">
              <a:ext uri="{FF2B5EF4-FFF2-40B4-BE49-F238E27FC236}">
                <a16:creationId xmlns:a16="http://schemas.microsoft.com/office/drawing/2014/main" id="{CFC2756E-1CA7-4131-89D6-C6F2845920BA}"/>
              </a:ext>
            </a:extLst>
          </p:cNvPr>
          <p:cNvSpPr>
            <a:spLocks xmlns:a="http://schemas.openxmlformats.org/drawingml/2006/main" noGrp="1"/>
          </p:cNvSpPr>
          <p:nvPr/>
        </p:nvSpPr>
        <p:spPr>
          <a:xfrm xmlns:a="http://schemas.openxmlformats.org/drawingml/2006/main">
            <a:off x="9674352" y="3630168"/>
            <a:ext cx="1417320" cy="868680"/>
          </a:xfrm>
          <a:prstGeom xmlns:a="http://schemas.openxmlformats.org/drawingml/2006/main" prst="roundRect">
            <a:avLst>
              <a:gd name="adj" fmla="val 1052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0" name="Text 18">
            <a:extLst xmlns:a="http://schemas.openxmlformats.org/drawingml/2006/main">
              <a:ext uri="{FF2B5EF4-FFF2-40B4-BE49-F238E27FC236}">
                <a16:creationId xmlns:a16="http://schemas.microsoft.com/office/drawing/2014/main" id="{35430BE6-94AF-4EC1-9FFC-81EB251908EA}"/>
              </a:ext>
            </a:extLst>
          </p:cNvPr>
          <p:cNvSpPr>
            <a:spLocks xmlns:a="http://schemas.openxmlformats.org/drawingml/2006/main" noGrp="1"/>
          </p:cNvSpPr>
          <p:nvPr/>
        </p:nvSpPr>
        <p:spPr>
          <a:xfrm xmlns:a="http://schemas.openxmlformats.org/drawingml/2006/main">
            <a:off x="9811512" y="3721608"/>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accent5"/>
                </a:solidFill>
              </a:rPr>
              <a:t>Received</a:t>
            </a:r>
            <a:endParaRPr sz="1100"/>
          </a:p>
        </p:txBody>
      </p:sp>
      <p:sp>
        <p:nvSpPr>
          <p:cNvPr id="21" name="Text 19">
            <a:extLst xmlns:a="http://schemas.openxmlformats.org/drawingml/2006/main">
              <a:ext uri="{FF2B5EF4-FFF2-40B4-BE49-F238E27FC236}">
                <a16:creationId xmlns:a16="http://schemas.microsoft.com/office/drawing/2014/main" id="{F740BB66-6266-40A6-983D-50FD43417AFC}"/>
              </a:ext>
            </a:extLst>
          </p:cNvPr>
          <p:cNvSpPr>
            <a:spLocks xmlns:a="http://schemas.openxmlformats.org/drawingml/2006/main" noGrp="1"/>
          </p:cNvSpPr>
          <p:nvPr/>
        </p:nvSpPr>
        <p:spPr>
          <a:xfrm xmlns:a="http://schemas.openxmlformats.org/drawingml/2006/main">
            <a:off x="9811512" y="3950208"/>
            <a:ext cx="1280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tx1"/>
                </a:solidFill>
              </a:rPr>
              <a:t>10</a:t>
            </a:r>
            <a:endParaRPr sz="2400"/>
          </a:p>
        </p:txBody>
      </p:sp>
      <p:sp>
        <p:nvSpPr>
          <p:cNvPr id="22" name="Text 20">
            <a:extLst xmlns:a="http://schemas.openxmlformats.org/drawingml/2006/main">
              <a:ext uri="{FF2B5EF4-FFF2-40B4-BE49-F238E27FC236}">
                <a16:creationId xmlns:a16="http://schemas.microsoft.com/office/drawing/2014/main" id="{240AD507-B0E1-400B-BF65-FB01AF11CD58}"/>
              </a:ext>
            </a:extLst>
          </p:cNvPr>
          <p:cNvSpPr>
            <a:spLocks xmlns:a="http://schemas.openxmlformats.org/drawingml/2006/main" noGrp="1"/>
          </p:cNvSpPr>
          <p:nvPr/>
        </p:nvSpPr>
        <p:spPr>
          <a:xfrm xmlns:a="http://schemas.openxmlformats.org/drawingml/2006/main">
            <a:off x="8202168" y="4681728"/>
            <a:ext cx="2834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0" i="0">
                <a:solidFill>
                  <a:srgbClr val="53676C"/>
                </a:solidFill>
                <a:latin typeface="Arial"/>
                <a:ea typeface="Arial"/>
                <a:cs typeface="Arial"/>
              </a:defRPr>
            </a:defPPr>
            <a:lvl1pPr algn="l">
              <a:buNone/>
              <a:defRPr sz="1200" b="0" i="0">
                <a:solidFill>
                  <a:srgbClr val="53676C"/>
                </a:solidFill>
                <a:latin typeface="Arial"/>
                <a:ea typeface="Arial"/>
                <a:cs typeface="Arial"/>
              </a:defRPr>
            </a:lvl1pPr>
            <a:lvl2pPr algn="l">
              <a:buNone/>
              <a:defRPr sz="1200" b="0" i="0">
                <a:solidFill>
                  <a:srgbClr val="53676C"/>
                </a:solidFill>
                <a:latin typeface="Arial"/>
                <a:ea typeface="Arial"/>
                <a:cs typeface="Arial"/>
              </a:defRPr>
            </a:lvl2pPr>
            <a:lvl3pPr algn="l">
              <a:buNone/>
              <a:defRPr sz="1200" b="0" i="0">
                <a:solidFill>
                  <a:srgbClr val="53676C"/>
                </a:solidFill>
                <a:latin typeface="Arial"/>
                <a:ea typeface="Arial"/>
                <a:cs typeface="Arial"/>
              </a:defRPr>
            </a:lvl3pPr>
            <a:lvl4pPr algn="l">
              <a:buNone/>
              <a:defRPr sz="1200" b="0" i="0">
                <a:solidFill>
                  <a:srgbClr val="53676C"/>
                </a:solidFill>
                <a:latin typeface="Arial"/>
                <a:ea typeface="Arial"/>
                <a:cs typeface="Arial"/>
              </a:defRPr>
            </a:lvl4pPr>
            <a:lvl5pPr algn="l">
              <a:buNone/>
              <a:defRPr sz="1200" b="0" i="0">
                <a:solidFill>
                  <a:srgbClr val="53676C"/>
                </a:solidFill>
                <a:latin typeface="Arial"/>
                <a:ea typeface="Arial"/>
                <a:cs typeface="Arial"/>
              </a:defRPr>
            </a:lvl5pPr>
            <a:lvl6pPr algn="l">
              <a:buNone/>
              <a:defRPr sz="1200" b="0" i="0">
                <a:solidFill>
                  <a:srgbClr val="53676C"/>
                </a:solidFill>
                <a:latin typeface="Arial"/>
                <a:ea typeface="Arial"/>
                <a:cs typeface="Arial"/>
              </a:defRPr>
            </a:lvl6pPr>
            <a:lvl7pPr algn="l">
              <a:buNone/>
              <a:defRPr sz="1200" b="0" i="0">
                <a:solidFill>
                  <a:srgbClr val="53676C"/>
                </a:solidFill>
                <a:latin typeface="Arial"/>
                <a:ea typeface="Arial"/>
                <a:cs typeface="Arial"/>
              </a:defRPr>
            </a:lvl7pPr>
            <a:lvl8pPr algn="l">
              <a:buNone/>
              <a:defRPr sz="1200" b="0" i="0">
                <a:solidFill>
                  <a:srgbClr val="53676C"/>
                </a:solidFill>
                <a:latin typeface="Arial"/>
                <a:ea typeface="Arial"/>
                <a:cs typeface="Arial"/>
              </a:defRPr>
            </a:lvl8pPr>
            <a:lvl9pPr algn="l">
              <a:buNone/>
              <a:defRPr sz="1200" b="0" i="0">
                <a:solidFill>
                  <a:srgbClr val="53676C"/>
                </a:solidFill>
                <a:latin typeface="Arial"/>
                <a:ea typeface="Arial"/>
                <a:cs typeface="Arial"/>
              </a:defRPr>
            </a:lvl9pPr>
          </a:lstStyle>
          <a:p xmlns:a="http://schemas.openxmlformats.org/drawingml/2006/main">
            <a:pPr marL="0" indent="0" algn="l">
              <a:buNone/>
              <a:defRPr sz="1200" b="0" i="0">
                <a:solidFill>
                  <a:srgbClr val="53676C"/>
                </a:solidFill>
                <a:latin typeface="Arial"/>
                <a:ea typeface="Arial"/>
                <a:cs typeface="Arial"/>
              </a:defRPr>
            </a:pPr>
            <a:r>
              <a:rPr sz="1200" b="0" i="0">
                <a:solidFill>
                  <a:srgbClr val="53676C"/>
                </a:solidFill>
                <a:latin typeface="Arial"/>
                <a:ea typeface="Arial"/>
                <a:cs typeface="Arial"/>
              </a:rPr>
              <a:t>(12 − 10) packs × ₹40 per pack</a:t>
            </a:r>
            <a:endParaRPr sz="1200"/>
          </a:p>
        </p:txBody>
      </p:sp>
      <p:sp>
        <p:nvSpPr>
          <p:cNvPr id="23" name="Status pill">
            <a:extLst xmlns:a="http://schemas.openxmlformats.org/drawingml/2006/main">
              <a:ext uri="{FF2B5EF4-FFF2-40B4-BE49-F238E27FC236}">
                <a16:creationId xmlns:a16="http://schemas.microsoft.com/office/drawing/2014/main" id="{10157EBF-7777-486F-B35C-F54EEE1C1434}"/>
              </a:ext>
            </a:extLst>
          </p:cNvPr>
          <p:cNvSpPr>
            <a:spLocks xmlns:a="http://schemas.openxmlformats.org/drawingml/2006/main" noGrp="1"/>
          </p:cNvSpPr>
          <p:nvPr/>
        </p:nvSpPr>
        <p:spPr>
          <a:xfrm xmlns:a="http://schemas.openxmlformats.org/drawingml/2006/main">
            <a:off x="8110728" y="5047488"/>
            <a:ext cx="2980944" cy="384048"/>
          </a:xfrm>
          <a:prstGeom xmlns:a="http://schemas.openxmlformats.org/drawingml/2006/main" prst="roundRect">
            <a:avLst>
              <a:gd name="adj" fmla="val 19048"/>
            </a:avLst>
          </a:prstGeom>
          <a:solidFill xmlns:a="http://schemas.openxmlformats.org/drawingml/2006/main">
            <a:schemeClr val="accent3">
              <a:alpha val="40000"/>
            </a:schemeClr>
          </a:solidFill>
        </p:spPr>
      </p:sp>
      <p:sp>
        <p:nvSpPr>
          <p:cNvPr id="24" name="Text 22">
            <a:extLst xmlns:a="http://schemas.openxmlformats.org/drawingml/2006/main">
              <a:ext uri="{FF2B5EF4-FFF2-40B4-BE49-F238E27FC236}">
                <a16:creationId xmlns:a16="http://schemas.microsoft.com/office/drawing/2014/main" id="{C4F47D3E-622F-4E56-AC34-EEEA51754DA8}"/>
              </a:ext>
            </a:extLst>
          </p:cNvPr>
          <p:cNvSpPr>
            <a:spLocks xmlns:a="http://schemas.openxmlformats.org/drawingml/2006/main" noGrp="1"/>
          </p:cNvSpPr>
          <p:nvPr/>
        </p:nvSpPr>
        <p:spPr>
          <a:xfrm xmlns:a="http://schemas.openxmlformats.org/drawingml/2006/main">
            <a:off x="8110728" y="5047488"/>
            <a:ext cx="29809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tx1"/>
                </a:solidFill>
              </a:rPr>
              <a:t>Awaiting your review</a:t>
            </a:r>
            <a:endParaRPr sz="1200"/>
          </a:p>
        </p:txBody>
      </p:sp>
      <p:sp>
        <p:nvSpPr>
          <p:cNvPr id="25" name="Approve button">
            <a:extLst xmlns:a="http://schemas.openxmlformats.org/drawingml/2006/main">
              <a:ext uri="{FF2B5EF4-FFF2-40B4-BE49-F238E27FC236}">
                <a16:creationId xmlns:a16="http://schemas.microsoft.com/office/drawing/2014/main" id="{E803AA25-4A6D-4B81-94E6-C20AFCFC1CC7}"/>
              </a:ext>
            </a:extLst>
          </p:cNvPr>
          <p:cNvSpPr>
            <a:spLocks xmlns:a="http://schemas.openxmlformats.org/drawingml/2006/main" noGrp="1"/>
          </p:cNvSpPr>
          <p:nvPr/>
        </p:nvSpPr>
        <p:spPr>
          <a:xfrm xmlns:a="http://schemas.openxmlformats.org/drawingml/2006/main">
            <a:off x="8110728" y="5504688"/>
            <a:ext cx="2980944" cy="411480"/>
          </a:xfrm>
          <a:prstGeom xmlns:a="http://schemas.openxmlformats.org/drawingml/2006/main" prst="roundRect">
            <a:avLst>
              <a:gd name="adj" fmla="val 22222"/>
            </a:avLst>
          </a:prstGeom>
          <a:solidFill xmlns:a="http://schemas.openxmlformats.org/drawingml/2006/main">
            <a:schemeClr val="accent1"/>
          </a:solidFill>
        </p:spPr>
      </p:sp>
      <p:sp>
        <p:nvSpPr>
          <p:cNvPr id="26" name="Text 24">
            <a:extLst xmlns:a="http://schemas.openxmlformats.org/drawingml/2006/main">
              <a:ext uri="{FF2B5EF4-FFF2-40B4-BE49-F238E27FC236}">
                <a16:creationId xmlns:a16="http://schemas.microsoft.com/office/drawing/2014/main" id="{8A9D86ED-E182-4431-B6A3-E2869A8ADB3A}"/>
              </a:ext>
            </a:extLst>
          </p:cNvPr>
          <p:cNvSpPr>
            <a:spLocks xmlns:a="http://schemas.openxmlformats.org/drawingml/2006/main" noGrp="1"/>
          </p:cNvSpPr>
          <p:nvPr/>
        </p:nvSpPr>
        <p:spPr>
          <a:xfrm xmlns:a="http://schemas.openxmlformats.org/drawingml/2006/main">
            <a:off x="8110728" y="5504688"/>
            <a:ext cx="298094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Approve draft</a:t>
            </a:r>
            <a:endParaRPr sz="1400"/>
          </a:p>
        </p:txBody>
      </p:sp>
      <p:sp>
        <p:nvSpPr>
          <p:cNvPr id="27" name="cover-concept-disclosure">
            <a:extLst xmlns:a="http://schemas.openxmlformats.org/drawingml/2006/main">
              <a:ext uri="{FF2B5EF4-FFF2-40B4-BE49-F238E27FC236}">
                <a16:creationId xmlns:a16="http://schemas.microsoft.com/office/drawing/2014/main" id="{7B56ED89-4E1F-4013-936D-0A27126C86FF}"/>
              </a:ext>
            </a:extLst>
          </p:cNvPr>
          <p:cNvSpPr>
            <a:spLocks xmlns:a="http://schemas.openxmlformats.org/drawingml/2006/main" noGrp="1"/>
          </p:cNvSpPr>
          <p:nvPr/>
        </p:nvSpPr>
        <p:spPr>
          <a:xfrm xmlns:a="http://schemas.openxmlformats.org/drawingml/2006/main">
            <a:off x="731520" y="6067425"/>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A9BDCD"/>
                </a:solidFill>
                <a:latin typeface="Arial"/>
                <a:ea typeface="Arial"/>
                <a:cs typeface="Arial"/>
              </a:defRPr>
            </a:defPPr>
            <a:lvl1pPr>
              <a:buNone/>
              <a:defRPr sz="1200" b="0">
                <a:solidFill>
                  <a:srgbClr val="A9BDCD"/>
                </a:solidFill>
                <a:latin typeface="Arial"/>
                <a:ea typeface="Arial"/>
                <a:cs typeface="Arial"/>
              </a:defRPr>
            </a:lvl1pPr>
            <a:lvl2pPr>
              <a:buNone/>
              <a:defRPr sz="1200" b="0">
                <a:solidFill>
                  <a:srgbClr val="A9BDCD"/>
                </a:solidFill>
                <a:latin typeface="Arial"/>
                <a:ea typeface="Arial"/>
                <a:cs typeface="Arial"/>
              </a:defRPr>
            </a:lvl2pPr>
            <a:lvl3pPr>
              <a:buNone/>
              <a:defRPr sz="1200" b="0">
                <a:solidFill>
                  <a:srgbClr val="A9BDCD"/>
                </a:solidFill>
                <a:latin typeface="Arial"/>
                <a:ea typeface="Arial"/>
                <a:cs typeface="Arial"/>
              </a:defRPr>
            </a:lvl3pPr>
            <a:lvl4pPr>
              <a:buNone/>
              <a:defRPr sz="1200" b="0">
                <a:solidFill>
                  <a:srgbClr val="A9BDCD"/>
                </a:solidFill>
                <a:latin typeface="Arial"/>
                <a:ea typeface="Arial"/>
                <a:cs typeface="Arial"/>
              </a:defRPr>
            </a:lvl4pPr>
            <a:lvl5pPr>
              <a:buNone/>
              <a:defRPr sz="1200" b="0">
                <a:solidFill>
                  <a:srgbClr val="A9BDCD"/>
                </a:solidFill>
                <a:latin typeface="Arial"/>
                <a:ea typeface="Arial"/>
                <a:cs typeface="Arial"/>
              </a:defRPr>
            </a:lvl5pPr>
            <a:lvl6pPr>
              <a:buNone/>
              <a:defRPr sz="1200" b="0">
                <a:solidFill>
                  <a:srgbClr val="A9BDCD"/>
                </a:solidFill>
                <a:latin typeface="Arial"/>
                <a:ea typeface="Arial"/>
                <a:cs typeface="Arial"/>
              </a:defRPr>
            </a:lvl6pPr>
            <a:lvl7pPr>
              <a:buNone/>
              <a:defRPr sz="1200" b="0">
                <a:solidFill>
                  <a:srgbClr val="A9BDCD"/>
                </a:solidFill>
                <a:latin typeface="Arial"/>
                <a:ea typeface="Arial"/>
                <a:cs typeface="Arial"/>
              </a:defRPr>
            </a:lvl7pPr>
            <a:lvl8pPr>
              <a:buNone/>
              <a:defRPr sz="1200" b="0">
                <a:solidFill>
                  <a:srgbClr val="A9BDCD"/>
                </a:solidFill>
                <a:latin typeface="Arial"/>
                <a:ea typeface="Arial"/>
                <a:cs typeface="Arial"/>
              </a:defRPr>
            </a:lvl8pPr>
            <a:lvl9pPr>
              <a:buNone/>
              <a:defRPr sz="1200" b="0">
                <a:solidFill>
                  <a:srgbClr val="A9BDCD"/>
                </a:solidFill>
                <a:latin typeface="Arial"/>
                <a:ea typeface="Arial"/>
                <a:cs typeface="Arial"/>
              </a:defRPr>
            </a:lvl9pPr>
          </a:lstStyle>
          <a:p xmlns:a="http://schemas.openxmlformats.org/drawingml/2006/main">
            <a:pPr>
              <a:buNone/>
              <a:defRPr sz="1200" b="0">
                <a:solidFill>
                  <a:srgbClr val="A9BDCD"/>
                </a:solidFill>
                <a:latin typeface="Arial"/>
                <a:ea typeface="Arial"/>
                <a:cs typeface="Arial"/>
              </a:defRPr>
            </a:pPr>
            <a:r>
              <a:rPr sz="1200" b="0">
                <a:solidFill>
                  <a:srgbClr val="A9BDCD"/>
                </a:solidFill>
                <a:latin typeface="Arial"/>
                <a:ea typeface="Arial"/>
                <a:cs typeface="Arial"/>
              </a:rPr>
              <a:t>Illustrative case. Proposed interface.</a:t>
            </a:r>
          </a:p>
        </p:txBody>
      </p:sp>
    </p:spTree>
    <p:extLst>
      <p:ext uri="{BB962C8B-B14F-4D97-AF65-F5344CB8AC3E}">
        <p14:creationId xmlns:p14="http://schemas.microsoft.com/office/powerpoint/2010/main" val="20109833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864902-09B8-4852-947C-ABA4F3AA44E3}"/>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PROBLEM STATEMENT</a:t>
            </a:r>
            <a:endParaRPr sz="1400"/>
          </a:p>
        </p:txBody>
      </p:sp>
      <p:sp>
        <p:nvSpPr>
          <p:cNvPr id="3" name="Text 0">
            <a:extLst xmlns:a="http://schemas.openxmlformats.org/drawingml/2006/main">
              <a:ext uri="{FF2B5EF4-FFF2-40B4-BE49-F238E27FC236}">
                <a16:creationId xmlns:a16="http://schemas.microsoft.com/office/drawing/2014/main" id="{08C117D4-0294-40F5-BEBF-A744C16029B8}"/>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132D36"/>
                </a:solidFill>
                <a:latin typeface="Arial"/>
                <a:ea typeface="Arial"/>
                <a:cs typeface="Arial"/>
              </a:defRPr>
            </a:defPPr>
            <a:lvl1pPr algn="l">
              <a:buNone/>
              <a:defRPr sz="3600" b="1" i="0">
                <a:solidFill>
                  <a:srgbClr val="132D36"/>
                </a:solidFill>
                <a:latin typeface="Arial"/>
                <a:ea typeface="Arial"/>
                <a:cs typeface="Arial"/>
              </a:defRPr>
            </a:lvl1pPr>
            <a:lvl2pPr algn="l">
              <a:buNone/>
              <a:defRPr sz="3600" b="1" i="0">
                <a:solidFill>
                  <a:srgbClr val="132D36"/>
                </a:solidFill>
                <a:latin typeface="Arial"/>
                <a:ea typeface="Arial"/>
                <a:cs typeface="Arial"/>
              </a:defRPr>
            </a:lvl2pPr>
            <a:lvl3pPr algn="l">
              <a:buNone/>
              <a:defRPr sz="3600" b="1" i="0">
                <a:solidFill>
                  <a:srgbClr val="132D36"/>
                </a:solidFill>
                <a:latin typeface="Arial"/>
                <a:ea typeface="Arial"/>
                <a:cs typeface="Arial"/>
              </a:defRPr>
            </a:lvl3pPr>
            <a:lvl4pPr algn="l">
              <a:buNone/>
              <a:defRPr sz="3600" b="1" i="0">
                <a:solidFill>
                  <a:srgbClr val="132D36"/>
                </a:solidFill>
                <a:latin typeface="Arial"/>
                <a:ea typeface="Arial"/>
                <a:cs typeface="Arial"/>
              </a:defRPr>
            </a:lvl4pPr>
            <a:lvl5pPr algn="l">
              <a:buNone/>
              <a:defRPr sz="3600" b="1" i="0">
                <a:solidFill>
                  <a:srgbClr val="132D36"/>
                </a:solidFill>
                <a:latin typeface="Arial"/>
                <a:ea typeface="Arial"/>
                <a:cs typeface="Arial"/>
              </a:defRPr>
            </a:lvl5pPr>
            <a:lvl6pPr algn="l">
              <a:buNone/>
              <a:defRPr sz="3600" b="1" i="0">
                <a:solidFill>
                  <a:srgbClr val="132D36"/>
                </a:solidFill>
                <a:latin typeface="Arial"/>
                <a:ea typeface="Arial"/>
                <a:cs typeface="Arial"/>
              </a:defRPr>
            </a:lvl6pPr>
            <a:lvl7pPr algn="l">
              <a:buNone/>
              <a:defRPr sz="3600" b="1" i="0">
                <a:solidFill>
                  <a:srgbClr val="132D36"/>
                </a:solidFill>
                <a:latin typeface="Arial"/>
                <a:ea typeface="Arial"/>
                <a:cs typeface="Arial"/>
              </a:defRPr>
            </a:lvl7pPr>
            <a:lvl8pPr algn="l">
              <a:buNone/>
              <a:defRPr sz="3600" b="1" i="0">
                <a:solidFill>
                  <a:srgbClr val="132D36"/>
                </a:solidFill>
                <a:latin typeface="Arial"/>
                <a:ea typeface="Arial"/>
                <a:cs typeface="Arial"/>
              </a:defRPr>
            </a:lvl8pPr>
            <a:lvl9pPr algn="l">
              <a:buNone/>
              <a:defRPr sz="3600" b="1" i="0">
                <a:solidFill>
                  <a:srgbClr val="132D36"/>
                </a:solidFill>
                <a:latin typeface="Arial"/>
                <a:ea typeface="Arial"/>
                <a:cs typeface="Arial"/>
              </a:defRPr>
            </a:lvl9pPr>
          </a:lstStyle>
          <a:p xmlns:a="http://schemas.openxmlformats.org/drawingml/2006/main">
            <a:pPr marL="0" indent="0" algn="l">
              <a:buNone/>
              <a:defRPr sz="3600" b="1" i="0">
                <a:solidFill>
                  <a:srgbClr val="132D36"/>
                </a:solidFill>
                <a:latin typeface="Arial"/>
                <a:ea typeface="Arial"/>
                <a:cs typeface="Arial"/>
              </a:defRPr>
            </a:pPr>
            <a:r>
              <a:rPr sz="3600" b="1" i="0">
                <a:solidFill>
                  <a:srgbClr val="132D36"/>
                </a:solidFill>
                <a:latin typeface="Arial"/>
                <a:ea typeface="Arial"/>
                <a:cs typeface="Arial"/>
              </a:rPr>
              <a:t>12 packs billed. 10 packs received</a:t>
            </a:r>
            <a:endParaRPr sz="3600"/>
          </a:p>
        </p:txBody>
      </p:sp>
      <p:sp>
        <p:nvSpPr>
          <p:cNvPr id="4" name="Bill card">
            <a:extLst xmlns:a="http://schemas.openxmlformats.org/drawingml/2006/main">
              <a:ext uri="{FF2B5EF4-FFF2-40B4-BE49-F238E27FC236}">
                <a16:creationId xmlns:a16="http://schemas.microsoft.com/office/drawing/2014/main" id="{C4A5ACC1-5EC6-4C61-B089-DF8BAB3B0ED0}"/>
              </a:ext>
            </a:extLst>
          </p:cNvPr>
          <p:cNvSpPr>
            <a:spLocks xmlns:a="http://schemas.openxmlformats.org/drawingml/2006/main" noGrp="1"/>
          </p:cNvSpPr>
          <p:nvPr/>
        </p:nvSpPr>
        <p:spPr>
          <a:xfrm xmlns:a="http://schemas.openxmlformats.org/drawingml/2006/main">
            <a:off x="548640" y="1645920"/>
            <a:ext cx="3200400" cy="2194560"/>
          </a:xfrm>
          <a:prstGeom xmlns:a="http://schemas.openxmlformats.org/drawingml/2006/main" prst="roundRect">
            <a:avLst>
              <a:gd name="adj" fmla="val 50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A6BAFE25-ED66-49DB-BC0D-9CE599FA4DB5}"/>
              </a:ext>
            </a:extLst>
          </p:cNvPr>
          <p:cNvSpPr>
            <a:spLocks xmlns:a="http://schemas.openxmlformats.org/drawingml/2006/main" noGrp="1"/>
          </p:cNvSpPr>
          <p:nvPr/>
        </p:nvSpPr>
        <p:spPr>
          <a:xfrm xmlns:a="http://schemas.openxmlformats.org/drawingml/2006/main">
            <a:off x="822960" y="187452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00">
                <a:solidFill>
                  <a:schemeClr val="accent1"/>
                </a:solidFill>
              </a:rPr>
              <a:t>THE BILL</a:t>
            </a:r>
            <a:endParaRPr sz="1200"/>
          </a:p>
        </p:txBody>
      </p:sp>
      <p:sp>
        <p:nvSpPr>
          <p:cNvPr id="6" name="Text 4">
            <a:extLst xmlns:a="http://schemas.openxmlformats.org/drawingml/2006/main">
              <a:ext uri="{FF2B5EF4-FFF2-40B4-BE49-F238E27FC236}">
                <a16:creationId xmlns:a16="http://schemas.microsoft.com/office/drawing/2014/main" id="{3A4871AB-E98C-446B-B4DF-12AB69002DE4}"/>
              </a:ext>
            </a:extLst>
          </p:cNvPr>
          <p:cNvSpPr>
            <a:spLocks xmlns:a="http://schemas.openxmlformats.org/drawingml/2006/main" noGrp="1"/>
          </p:cNvSpPr>
          <p:nvPr/>
        </p:nvSpPr>
        <p:spPr>
          <a:xfrm xmlns:a="http://schemas.openxmlformats.org/drawingml/2006/main">
            <a:off x="822960" y="2194560"/>
            <a:ext cx="2743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12 packs</a:t>
            </a:r>
            <a:endParaRPr sz="3400"/>
          </a:p>
        </p:txBody>
      </p:sp>
      <p:sp>
        <p:nvSpPr>
          <p:cNvPr id="7" name="Text 5">
            <a:extLst xmlns:a="http://schemas.openxmlformats.org/drawingml/2006/main">
              <a:ext uri="{FF2B5EF4-FFF2-40B4-BE49-F238E27FC236}">
                <a16:creationId xmlns:a16="http://schemas.microsoft.com/office/drawing/2014/main" id="{06649E74-3FD9-4593-B13B-5B33300280EA}"/>
              </a:ext>
            </a:extLst>
          </p:cNvPr>
          <p:cNvSpPr>
            <a:spLocks xmlns:a="http://schemas.openxmlformats.org/drawingml/2006/main" noGrp="1"/>
          </p:cNvSpPr>
          <p:nvPr/>
        </p:nvSpPr>
        <p:spPr>
          <a:xfrm xmlns:a="http://schemas.openxmlformats.org/drawingml/2006/main">
            <a:off x="822960" y="278892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chemeClr val="accent5"/>
                </a:solidFill>
              </a:rPr>
              <a:t>× ₹40 = ₹480</a:t>
            </a:r>
            <a:endParaRPr sz="1800"/>
          </a:p>
        </p:txBody>
      </p:sp>
      <p:sp>
        <p:nvSpPr>
          <p:cNvPr id="8" name="Text 6">
            <a:extLst xmlns:a="http://schemas.openxmlformats.org/drawingml/2006/main">
              <a:ext uri="{FF2B5EF4-FFF2-40B4-BE49-F238E27FC236}">
                <a16:creationId xmlns:a16="http://schemas.microsoft.com/office/drawing/2014/main" id="{64A2AB14-C18F-4EEF-A1B3-CB229F97CE2C}"/>
              </a:ext>
            </a:extLst>
          </p:cNvPr>
          <p:cNvSpPr>
            <a:spLocks xmlns:a="http://schemas.openxmlformats.org/drawingml/2006/main" noGrp="1"/>
          </p:cNvSpPr>
          <p:nvPr/>
        </p:nvSpPr>
        <p:spPr>
          <a:xfrm xmlns:a="http://schemas.openxmlformats.org/drawingml/2006/main">
            <a:off x="822960" y="3200400"/>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Shows what was billed, not what arrived.</a:t>
            </a:r>
            <a:endParaRPr sz="1400"/>
          </a:p>
        </p:txBody>
      </p:sp>
      <p:sp>
        <p:nvSpPr>
          <p:cNvPr id="9" name="Text 7">
            <a:extLst xmlns:a="http://schemas.openxmlformats.org/drawingml/2006/main">
              <a:ext uri="{FF2B5EF4-FFF2-40B4-BE49-F238E27FC236}">
                <a16:creationId xmlns:a16="http://schemas.microsoft.com/office/drawing/2014/main" id="{61F09F97-29D0-45CA-BA2C-1455D4DA47E3}"/>
              </a:ext>
            </a:extLst>
          </p:cNvPr>
          <p:cNvSpPr>
            <a:spLocks xmlns:a="http://schemas.openxmlformats.org/drawingml/2006/main" noGrp="1"/>
          </p:cNvSpPr>
          <p:nvPr/>
        </p:nvSpPr>
        <p:spPr>
          <a:xfrm xmlns:a="http://schemas.openxmlformats.org/drawingml/2006/main">
            <a:off x="3749040" y="2377440"/>
            <a:ext cx="457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4400" b="1">
                <a:solidFill>
                  <a:schemeClr val="accent5"/>
                </a:solidFill>
              </a:rPr>
              <a:t>−</a:t>
            </a:r>
            <a:endParaRPr sz="4400"/>
          </a:p>
        </p:txBody>
      </p:sp>
      <p:sp>
        <p:nvSpPr>
          <p:cNvPr id="10" name="Received card">
            <a:extLst xmlns:a="http://schemas.openxmlformats.org/drawingml/2006/main">
              <a:ext uri="{FF2B5EF4-FFF2-40B4-BE49-F238E27FC236}">
                <a16:creationId xmlns:a16="http://schemas.microsoft.com/office/drawing/2014/main" id="{D90EA251-84CB-4306-9216-19587A0AC2D3}"/>
              </a:ext>
            </a:extLst>
          </p:cNvPr>
          <p:cNvSpPr>
            <a:spLocks xmlns:a="http://schemas.openxmlformats.org/drawingml/2006/main" noGrp="1"/>
          </p:cNvSpPr>
          <p:nvPr/>
        </p:nvSpPr>
        <p:spPr>
          <a:xfrm xmlns:a="http://schemas.openxmlformats.org/drawingml/2006/main">
            <a:off x="4206240" y="1645920"/>
            <a:ext cx="3200400" cy="2194560"/>
          </a:xfrm>
          <a:prstGeom xmlns:a="http://schemas.openxmlformats.org/drawingml/2006/main" prst="roundRect">
            <a:avLst>
              <a:gd name="adj" fmla="val 50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1" name="Text 9">
            <a:extLst xmlns:a="http://schemas.openxmlformats.org/drawingml/2006/main">
              <a:ext uri="{FF2B5EF4-FFF2-40B4-BE49-F238E27FC236}">
                <a16:creationId xmlns:a16="http://schemas.microsoft.com/office/drawing/2014/main" id="{97F2EB56-EC83-4721-A8A7-3BA13C07DA7F}"/>
              </a:ext>
            </a:extLst>
          </p:cNvPr>
          <p:cNvSpPr>
            <a:spLocks xmlns:a="http://schemas.openxmlformats.org/drawingml/2006/main" noGrp="1"/>
          </p:cNvSpPr>
          <p:nvPr/>
        </p:nvSpPr>
        <p:spPr>
          <a:xfrm xmlns:a="http://schemas.openxmlformats.org/drawingml/2006/main">
            <a:off x="4480560" y="187452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i="0">
                <a:solidFill>
                  <a:srgbClr val="007E80"/>
                </a:solidFill>
                <a:latin typeface="Arial"/>
                <a:ea typeface="Arial"/>
                <a:cs typeface="Arial"/>
              </a:defRPr>
            </a:defPPr>
            <a:lvl1pPr algn="l">
              <a:buNone/>
              <a:defRPr sz="1200" b="1" i="0">
                <a:solidFill>
                  <a:srgbClr val="007E80"/>
                </a:solidFill>
                <a:latin typeface="Arial"/>
                <a:ea typeface="Arial"/>
                <a:cs typeface="Arial"/>
              </a:defRPr>
            </a:lvl1pPr>
            <a:lvl2pPr algn="l">
              <a:buNone/>
              <a:defRPr sz="1200" b="1" i="0">
                <a:solidFill>
                  <a:srgbClr val="007E80"/>
                </a:solidFill>
                <a:latin typeface="Arial"/>
                <a:ea typeface="Arial"/>
                <a:cs typeface="Arial"/>
              </a:defRPr>
            </a:lvl2pPr>
            <a:lvl3pPr algn="l">
              <a:buNone/>
              <a:defRPr sz="1200" b="1" i="0">
                <a:solidFill>
                  <a:srgbClr val="007E80"/>
                </a:solidFill>
                <a:latin typeface="Arial"/>
                <a:ea typeface="Arial"/>
                <a:cs typeface="Arial"/>
              </a:defRPr>
            </a:lvl3pPr>
            <a:lvl4pPr algn="l">
              <a:buNone/>
              <a:defRPr sz="1200" b="1" i="0">
                <a:solidFill>
                  <a:srgbClr val="007E80"/>
                </a:solidFill>
                <a:latin typeface="Arial"/>
                <a:ea typeface="Arial"/>
                <a:cs typeface="Arial"/>
              </a:defRPr>
            </a:lvl4pPr>
            <a:lvl5pPr algn="l">
              <a:buNone/>
              <a:defRPr sz="1200" b="1" i="0">
                <a:solidFill>
                  <a:srgbClr val="007E80"/>
                </a:solidFill>
                <a:latin typeface="Arial"/>
                <a:ea typeface="Arial"/>
                <a:cs typeface="Arial"/>
              </a:defRPr>
            </a:lvl5pPr>
            <a:lvl6pPr algn="l">
              <a:buNone/>
              <a:defRPr sz="1200" b="1" i="0">
                <a:solidFill>
                  <a:srgbClr val="007E80"/>
                </a:solidFill>
                <a:latin typeface="Arial"/>
                <a:ea typeface="Arial"/>
                <a:cs typeface="Arial"/>
              </a:defRPr>
            </a:lvl6pPr>
            <a:lvl7pPr algn="l">
              <a:buNone/>
              <a:defRPr sz="1200" b="1" i="0">
                <a:solidFill>
                  <a:srgbClr val="007E80"/>
                </a:solidFill>
                <a:latin typeface="Arial"/>
                <a:ea typeface="Arial"/>
                <a:cs typeface="Arial"/>
              </a:defRPr>
            </a:lvl7pPr>
            <a:lvl8pPr algn="l">
              <a:buNone/>
              <a:defRPr sz="1200" b="1" i="0">
                <a:solidFill>
                  <a:srgbClr val="007E80"/>
                </a:solidFill>
                <a:latin typeface="Arial"/>
                <a:ea typeface="Arial"/>
                <a:cs typeface="Arial"/>
              </a:defRPr>
            </a:lvl8pPr>
            <a:lvl9pPr algn="l">
              <a:buNone/>
              <a:defRPr sz="1200" b="1" i="0">
                <a:solidFill>
                  <a:srgbClr val="007E80"/>
                </a:solidFill>
                <a:latin typeface="Arial"/>
                <a:ea typeface="Arial"/>
                <a:cs typeface="Arial"/>
              </a:defRPr>
            </a:lvl9pPr>
          </a:lstStyle>
          <a:p xmlns:a="http://schemas.openxmlformats.org/drawingml/2006/main">
            <a:pPr marL="0" indent="0" algn="l">
              <a:buNone/>
              <a:defRPr sz="1200" b="1" i="0">
                <a:solidFill>
                  <a:srgbClr val="007E80"/>
                </a:solidFill>
                <a:latin typeface="Arial"/>
                <a:ea typeface="Arial"/>
                <a:cs typeface="Arial"/>
              </a:defRPr>
            </a:pPr>
            <a:r>
              <a:rPr sz="1200" b="1" i="0" spc="100">
                <a:solidFill>
                  <a:srgbClr val="007E80"/>
                </a:solidFill>
                <a:latin typeface="Arial"/>
                <a:ea typeface="Arial"/>
                <a:cs typeface="Arial"/>
              </a:rPr>
              <a:t>MERCHANT CONFIRMS</a:t>
            </a:r>
            <a:endParaRPr sz="1200"/>
          </a:p>
        </p:txBody>
      </p:sp>
      <p:sp>
        <p:nvSpPr>
          <p:cNvPr id="12" name="Text 10">
            <a:extLst xmlns:a="http://schemas.openxmlformats.org/drawingml/2006/main">
              <a:ext uri="{FF2B5EF4-FFF2-40B4-BE49-F238E27FC236}">
                <a16:creationId xmlns:a16="http://schemas.microsoft.com/office/drawing/2014/main" id="{1C278490-C459-4FF6-B182-BB036CEF82DE}"/>
              </a:ext>
            </a:extLst>
          </p:cNvPr>
          <p:cNvSpPr>
            <a:spLocks xmlns:a="http://schemas.openxmlformats.org/drawingml/2006/main" noGrp="1"/>
          </p:cNvSpPr>
          <p:nvPr/>
        </p:nvSpPr>
        <p:spPr>
          <a:xfrm xmlns:a="http://schemas.openxmlformats.org/drawingml/2006/main">
            <a:off x="4480560" y="2194560"/>
            <a:ext cx="2743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tx1"/>
                </a:solidFill>
              </a:rPr>
              <a:t>10 packs</a:t>
            </a:r>
            <a:endParaRPr sz="3400"/>
          </a:p>
        </p:txBody>
      </p:sp>
      <p:sp>
        <p:nvSpPr>
          <p:cNvPr id="13" name="Text 11">
            <a:extLst xmlns:a="http://schemas.openxmlformats.org/drawingml/2006/main">
              <a:ext uri="{FF2B5EF4-FFF2-40B4-BE49-F238E27FC236}">
                <a16:creationId xmlns:a16="http://schemas.microsoft.com/office/drawing/2014/main" id="{6E963871-7117-4A73-85C4-13897F44DCD3}"/>
              </a:ext>
            </a:extLst>
          </p:cNvPr>
          <p:cNvSpPr>
            <a:spLocks xmlns:a="http://schemas.openxmlformats.org/drawingml/2006/main" noGrp="1"/>
          </p:cNvSpPr>
          <p:nvPr/>
        </p:nvSpPr>
        <p:spPr>
          <a:xfrm xmlns:a="http://schemas.openxmlformats.org/drawingml/2006/main">
            <a:off x="4480560" y="278892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chemeClr val="accent5"/>
                </a:solidFill>
              </a:rPr>
              <a:t>Delivery complete: yes</a:t>
            </a:r>
            <a:endParaRPr sz="1800"/>
          </a:p>
        </p:txBody>
      </p:sp>
      <p:sp>
        <p:nvSpPr>
          <p:cNvPr id="14" name="Text 12">
            <a:extLst xmlns:a="http://schemas.openxmlformats.org/drawingml/2006/main">
              <a:ext uri="{FF2B5EF4-FFF2-40B4-BE49-F238E27FC236}">
                <a16:creationId xmlns:a16="http://schemas.microsoft.com/office/drawing/2014/main" id="{F26B4CF4-A177-4F85-80C1-66952491AB97}"/>
              </a:ext>
            </a:extLst>
          </p:cNvPr>
          <p:cNvSpPr>
            <a:spLocks xmlns:a="http://schemas.openxmlformats.org/drawingml/2006/main" noGrp="1"/>
          </p:cNvSpPr>
          <p:nvPr/>
        </p:nvSpPr>
        <p:spPr>
          <a:xfrm xmlns:a="http://schemas.openxmlformats.org/drawingml/2006/main">
            <a:off x="4480560" y="3200400"/>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Same units confirmed. Actual receiving needs merchant input.</a:t>
            </a:r>
            <a:endParaRPr sz="1400"/>
          </a:p>
        </p:txBody>
      </p:sp>
      <p:sp>
        <p:nvSpPr>
          <p:cNvPr id="15" name="Text 13">
            <a:extLst xmlns:a="http://schemas.openxmlformats.org/drawingml/2006/main">
              <a:ext uri="{FF2B5EF4-FFF2-40B4-BE49-F238E27FC236}">
                <a16:creationId xmlns:a16="http://schemas.microsoft.com/office/drawing/2014/main" id="{79376CE9-77C7-4C05-8EF8-A65603CECA9A}"/>
              </a:ext>
            </a:extLst>
          </p:cNvPr>
          <p:cNvSpPr>
            <a:spLocks xmlns:a="http://schemas.openxmlformats.org/drawingml/2006/main" noGrp="1"/>
          </p:cNvSpPr>
          <p:nvPr/>
        </p:nvSpPr>
        <p:spPr>
          <a:xfrm xmlns:a="http://schemas.openxmlformats.org/drawingml/2006/main">
            <a:off x="7406640" y="2377440"/>
            <a:ext cx="457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4400" b="1">
                <a:solidFill>
                  <a:schemeClr val="accent5"/>
                </a:solidFill>
              </a:rPr>
              <a:t>=</a:t>
            </a:r>
            <a:endParaRPr sz="4400"/>
          </a:p>
        </p:txBody>
      </p:sp>
      <p:sp>
        <p:nvSpPr>
          <p:cNvPr id="16" name="Gap card">
            <a:extLst xmlns:a="http://schemas.openxmlformats.org/drawingml/2006/main">
              <a:ext uri="{FF2B5EF4-FFF2-40B4-BE49-F238E27FC236}">
                <a16:creationId xmlns:a16="http://schemas.microsoft.com/office/drawing/2014/main" id="{15BC4DE4-FBF7-4F7A-9457-6317DB33436A}"/>
              </a:ext>
            </a:extLst>
          </p:cNvPr>
          <p:cNvSpPr>
            <a:spLocks xmlns:a="http://schemas.openxmlformats.org/drawingml/2006/main" noGrp="1"/>
          </p:cNvSpPr>
          <p:nvPr/>
        </p:nvSpPr>
        <p:spPr>
          <a:xfrm xmlns:a="http://schemas.openxmlformats.org/drawingml/2006/main">
            <a:off x="7863840" y="1645920"/>
            <a:ext cx="3776472" cy="2194560"/>
          </a:xfrm>
          <a:prstGeom xmlns:a="http://schemas.openxmlformats.org/drawingml/2006/main" prst="roundRect">
            <a:avLst>
              <a:gd name="adj" fmla="val 5000"/>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17" name="Text 15">
            <a:extLst xmlns:a="http://schemas.openxmlformats.org/drawingml/2006/main">
              <a:ext uri="{FF2B5EF4-FFF2-40B4-BE49-F238E27FC236}">
                <a16:creationId xmlns:a16="http://schemas.microsoft.com/office/drawing/2014/main" id="{7C461598-ABEB-47AF-9CEA-50A3AA8AA6E8}"/>
              </a:ext>
            </a:extLst>
          </p:cNvPr>
          <p:cNvSpPr>
            <a:spLocks xmlns:a="http://schemas.openxmlformats.org/drawingml/2006/main" noGrp="1"/>
          </p:cNvSpPr>
          <p:nvPr/>
        </p:nvSpPr>
        <p:spPr>
          <a:xfrm xmlns:a="http://schemas.openxmlformats.org/drawingml/2006/main">
            <a:off x="8183880" y="1874520"/>
            <a:ext cx="3108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i="0">
                <a:solidFill>
                  <a:srgbClr val="EFBA53"/>
                </a:solidFill>
                <a:latin typeface="Arial"/>
                <a:ea typeface="Arial"/>
                <a:cs typeface="Arial"/>
              </a:defRPr>
            </a:defPPr>
            <a:lvl1pPr algn="l">
              <a:buNone/>
              <a:defRPr sz="1200" b="1" i="0">
                <a:solidFill>
                  <a:srgbClr val="EFBA53"/>
                </a:solidFill>
                <a:latin typeface="Arial"/>
                <a:ea typeface="Arial"/>
                <a:cs typeface="Arial"/>
              </a:defRPr>
            </a:lvl1pPr>
            <a:lvl2pPr algn="l">
              <a:buNone/>
              <a:defRPr sz="1200" b="1" i="0">
                <a:solidFill>
                  <a:srgbClr val="EFBA53"/>
                </a:solidFill>
                <a:latin typeface="Arial"/>
                <a:ea typeface="Arial"/>
                <a:cs typeface="Arial"/>
              </a:defRPr>
            </a:lvl2pPr>
            <a:lvl3pPr algn="l">
              <a:buNone/>
              <a:defRPr sz="1200" b="1" i="0">
                <a:solidFill>
                  <a:srgbClr val="EFBA53"/>
                </a:solidFill>
                <a:latin typeface="Arial"/>
                <a:ea typeface="Arial"/>
                <a:cs typeface="Arial"/>
              </a:defRPr>
            </a:lvl3pPr>
            <a:lvl4pPr algn="l">
              <a:buNone/>
              <a:defRPr sz="1200" b="1" i="0">
                <a:solidFill>
                  <a:srgbClr val="EFBA53"/>
                </a:solidFill>
                <a:latin typeface="Arial"/>
                <a:ea typeface="Arial"/>
                <a:cs typeface="Arial"/>
              </a:defRPr>
            </a:lvl4pPr>
            <a:lvl5pPr algn="l">
              <a:buNone/>
              <a:defRPr sz="1200" b="1" i="0">
                <a:solidFill>
                  <a:srgbClr val="EFBA53"/>
                </a:solidFill>
                <a:latin typeface="Arial"/>
                <a:ea typeface="Arial"/>
                <a:cs typeface="Arial"/>
              </a:defRPr>
            </a:lvl5pPr>
            <a:lvl6pPr algn="l">
              <a:buNone/>
              <a:defRPr sz="1200" b="1" i="0">
                <a:solidFill>
                  <a:srgbClr val="EFBA53"/>
                </a:solidFill>
                <a:latin typeface="Arial"/>
                <a:ea typeface="Arial"/>
                <a:cs typeface="Arial"/>
              </a:defRPr>
            </a:lvl6pPr>
            <a:lvl7pPr algn="l">
              <a:buNone/>
              <a:defRPr sz="1200" b="1" i="0">
                <a:solidFill>
                  <a:srgbClr val="EFBA53"/>
                </a:solidFill>
                <a:latin typeface="Arial"/>
                <a:ea typeface="Arial"/>
                <a:cs typeface="Arial"/>
              </a:defRPr>
            </a:lvl7pPr>
            <a:lvl8pPr algn="l">
              <a:buNone/>
              <a:defRPr sz="1200" b="1" i="0">
                <a:solidFill>
                  <a:srgbClr val="EFBA53"/>
                </a:solidFill>
                <a:latin typeface="Arial"/>
                <a:ea typeface="Arial"/>
                <a:cs typeface="Arial"/>
              </a:defRPr>
            </a:lvl8pPr>
            <a:lvl9pPr algn="l">
              <a:buNone/>
              <a:defRPr sz="1200" b="1" i="0">
                <a:solidFill>
                  <a:srgbClr val="EFBA53"/>
                </a:solidFill>
                <a:latin typeface="Arial"/>
                <a:ea typeface="Arial"/>
                <a:cs typeface="Arial"/>
              </a:defRPr>
            </a:lvl9pPr>
          </a:lstStyle>
          <a:p xmlns:a="http://schemas.openxmlformats.org/drawingml/2006/main">
            <a:pPr marL="0" indent="0" algn="l">
              <a:buNone/>
              <a:defRPr sz="1200" b="1" i="0">
                <a:solidFill>
                  <a:srgbClr val="EFBA53"/>
                </a:solidFill>
                <a:latin typeface="Arial"/>
                <a:ea typeface="Arial"/>
                <a:cs typeface="Arial"/>
              </a:defRPr>
            </a:pPr>
            <a:r>
              <a:rPr sz="1200" b="1" i="0" spc="100">
                <a:solidFill>
                  <a:srgbClr val="EFBA53"/>
                </a:solidFill>
                <a:latin typeface="Arial"/>
                <a:ea typeface="Arial"/>
                <a:cs typeface="Arial"/>
              </a:rPr>
              <a:t>AMOUNT TO REVIEW</a:t>
            </a:r>
            <a:endParaRPr sz="1200"/>
          </a:p>
        </p:txBody>
      </p:sp>
      <p:sp>
        <p:nvSpPr>
          <p:cNvPr id="18" name="Text 16">
            <a:extLst xmlns:a="http://schemas.openxmlformats.org/drawingml/2006/main">
              <a:ext uri="{FF2B5EF4-FFF2-40B4-BE49-F238E27FC236}">
                <a16:creationId xmlns:a16="http://schemas.microsoft.com/office/drawing/2014/main" id="{FA68DEE6-3459-49D5-BE0E-0E3E57B711A0}"/>
              </a:ext>
            </a:extLst>
          </p:cNvPr>
          <p:cNvSpPr>
            <a:spLocks xmlns:a="http://schemas.openxmlformats.org/drawingml/2006/main" noGrp="1"/>
          </p:cNvSpPr>
          <p:nvPr/>
        </p:nvSpPr>
        <p:spPr>
          <a:xfrm xmlns:a="http://schemas.openxmlformats.org/drawingml/2006/main">
            <a:off x="8183880" y="2148840"/>
            <a:ext cx="3108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5600" b="1">
                <a:solidFill>
                  <a:schemeClr val="accent2"/>
                </a:solidFill>
              </a:rPr>
              <a:t>₹80</a:t>
            </a:r>
            <a:endParaRPr sz="5600"/>
          </a:p>
        </p:txBody>
      </p:sp>
      <p:sp>
        <p:nvSpPr>
          <p:cNvPr id="19" name="Text 17">
            <a:extLst xmlns:a="http://schemas.openxmlformats.org/drawingml/2006/main">
              <a:ext uri="{FF2B5EF4-FFF2-40B4-BE49-F238E27FC236}">
                <a16:creationId xmlns:a16="http://schemas.microsoft.com/office/drawing/2014/main" id="{89936B3A-A065-4F45-8B55-2D9974A558A8}"/>
              </a:ext>
            </a:extLst>
          </p:cNvPr>
          <p:cNvSpPr>
            <a:spLocks xmlns:a="http://schemas.openxmlformats.org/drawingml/2006/main" noGrp="1"/>
          </p:cNvSpPr>
          <p:nvPr/>
        </p:nvSpPr>
        <p:spPr>
          <a:xfrm xmlns:a="http://schemas.openxmlformats.org/drawingml/2006/main">
            <a:off x="8183880" y="3017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chemeClr val="bg1"/>
                </a:solidFill>
              </a:rPr>
              <a:t>(12 − 10) × ₹40</a:t>
            </a:r>
            <a:endParaRPr sz="1800"/>
          </a:p>
        </p:txBody>
      </p:sp>
      <p:sp>
        <p:nvSpPr>
          <p:cNvPr id="20" name="Text 18">
            <a:extLst xmlns:a="http://schemas.openxmlformats.org/drawingml/2006/main">
              <a:ext uri="{FF2B5EF4-FFF2-40B4-BE49-F238E27FC236}">
                <a16:creationId xmlns:a16="http://schemas.microsoft.com/office/drawing/2014/main" id="{0E8FA835-71BC-4352-99B9-63B0A1921169}"/>
              </a:ext>
            </a:extLst>
          </p:cNvPr>
          <p:cNvSpPr>
            <a:spLocks xmlns:a="http://schemas.openxmlformats.org/drawingml/2006/main" noGrp="1"/>
          </p:cNvSpPr>
          <p:nvPr/>
        </p:nvSpPr>
        <p:spPr>
          <a:xfrm xmlns:a="http://schemas.openxmlformats.org/drawingml/2006/main">
            <a:off x="8183880" y="338328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6"/>
                </a:solidFill>
              </a:rPr>
              <a:t>Simplified: no tax, discount or scheme.</a:t>
            </a:r>
            <a:endParaRPr sz="1200"/>
          </a:p>
        </p:txBody>
      </p:sp>
      <p:sp>
        <p:nvSpPr>
          <p:cNvPr id="21" name="Text 19">
            <a:extLst xmlns:a="http://schemas.openxmlformats.org/drawingml/2006/main">
              <a:ext uri="{FF2B5EF4-FFF2-40B4-BE49-F238E27FC236}">
                <a16:creationId xmlns:a16="http://schemas.microsoft.com/office/drawing/2014/main" id="{25C54316-E802-47BB-8A4F-7249F1874805}"/>
              </a:ext>
            </a:extLst>
          </p:cNvPr>
          <p:cNvSpPr>
            <a:spLocks xmlns:a="http://schemas.openxmlformats.org/drawingml/2006/main" noGrp="1"/>
          </p:cNvSpPr>
          <p:nvPr/>
        </p:nvSpPr>
        <p:spPr>
          <a:xfrm xmlns:a="http://schemas.openxmlformats.org/drawingml/2006/main">
            <a:off x="548640" y="4206240"/>
            <a:ext cx="6858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Then the supplier says</a:t>
            </a:r>
            <a:endParaRPr sz="1400"/>
          </a:p>
        </p:txBody>
      </p:sp>
      <p:sp>
        <p:nvSpPr>
          <p:cNvPr id="22" name="Text 20">
            <a:extLst xmlns:a="http://schemas.openxmlformats.org/drawingml/2006/main">
              <a:ext uri="{FF2B5EF4-FFF2-40B4-BE49-F238E27FC236}">
                <a16:creationId xmlns:a16="http://schemas.microsoft.com/office/drawing/2014/main" id="{83DAB409-73D1-4411-9F6E-94B7817330A4}"/>
              </a:ext>
            </a:extLst>
          </p:cNvPr>
          <p:cNvSpPr>
            <a:spLocks xmlns:a="http://schemas.openxmlformats.org/drawingml/2006/main" noGrp="1"/>
          </p:cNvSpPr>
          <p:nvPr/>
        </p:nvSpPr>
        <p:spPr>
          <a:xfrm xmlns:a="http://schemas.openxmlformats.org/drawingml/2006/main">
            <a:off x="548640" y="4526280"/>
            <a:ext cx="6949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200" b="1">
                <a:solidFill>
                  <a:schemeClr val="tx1"/>
                </a:solidFill>
              </a:rPr>
              <a:t>“Adjust it in the next bill.”</a:t>
            </a:r>
            <a:endParaRPr sz="3200"/>
          </a:p>
        </p:txBody>
      </p:sp>
      <p:sp>
        <p:nvSpPr>
          <p:cNvPr id="23" name="Text 21">
            <a:extLst xmlns:a="http://schemas.openxmlformats.org/drawingml/2006/main">
              <a:ext uri="{FF2B5EF4-FFF2-40B4-BE49-F238E27FC236}">
                <a16:creationId xmlns:a16="http://schemas.microsoft.com/office/drawing/2014/main" id="{0D1AED38-DDB8-4BCB-9380-446959DBE948}"/>
              </a:ext>
            </a:extLst>
          </p:cNvPr>
          <p:cNvSpPr>
            <a:spLocks xmlns:a="http://schemas.openxmlformats.org/drawingml/2006/main" noGrp="1"/>
          </p:cNvSpPr>
          <p:nvPr/>
        </p:nvSpPr>
        <p:spPr>
          <a:xfrm xmlns:a="http://schemas.openxmlformats.org/drawingml/2006/main">
            <a:off x="548640" y="5212080"/>
            <a:ext cx="6858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accent1"/>
                </a:solidFill>
              </a:rPr>
              <a:t>Where is the credit note?</a:t>
            </a:r>
            <a:endParaRPr sz="2000"/>
          </a:p>
          <a:p xmlns:a="http://schemas.openxmlformats.org/drawingml/2006/main">
            <a:pPr marL="0" indent="0">
              <a:buNone/>
            </a:pPr>
            <a:r>
              <a:rPr sz="2000" b="1">
                <a:solidFill>
                  <a:schemeClr val="accent1"/>
                </a:solidFill>
              </a:rPr>
              <a:t>Was it applied, or refunded?</a:t>
            </a:r>
            <a:endParaRPr sz="2000"/>
          </a:p>
        </p:txBody>
      </p:sp>
      <p:sp>
        <p:nvSpPr>
          <p:cNvPr id="24" name="Text 22">
            <a:extLst xmlns:a="http://schemas.openxmlformats.org/drawingml/2006/main">
              <a:ext uri="{FF2B5EF4-FFF2-40B4-BE49-F238E27FC236}">
                <a16:creationId xmlns:a16="http://schemas.microsoft.com/office/drawing/2014/main" id="{AAE5F206-4FB4-4231-9E72-148A930A7C7D}"/>
              </a:ext>
            </a:extLst>
          </p:cNvPr>
          <p:cNvSpPr>
            <a:spLocks xmlns:a="http://schemas.openxmlformats.org/drawingml/2006/main" noGrp="1"/>
          </p:cNvSpPr>
          <p:nvPr/>
        </p:nvSpPr>
        <p:spPr>
          <a:xfrm xmlns:a="http://schemas.openxmlformats.org/drawingml/2006/main">
            <a:off x="548640" y="594360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500" b="0" i="0">
                <a:solidFill>
                  <a:srgbClr val="53676C"/>
                </a:solidFill>
                <a:latin typeface="Arial"/>
                <a:ea typeface="Arial"/>
                <a:cs typeface="Arial"/>
              </a:defRPr>
            </a:defPPr>
            <a:lvl1pPr algn="l">
              <a:buNone/>
              <a:defRPr sz="1500" b="0" i="0">
                <a:solidFill>
                  <a:srgbClr val="53676C"/>
                </a:solidFill>
                <a:latin typeface="Arial"/>
                <a:ea typeface="Arial"/>
                <a:cs typeface="Arial"/>
              </a:defRPr>
            </a:lvl1pPr>
            <a:lvl2pPr algn="l">
              <a:buNone/>
              <a:defRPr sz="1500" b="0" i="0">
                <a:solidFill>
                  <a:srgbClr val="53676C"/>
                </a:solidFill>
                <a:latin typeface="Arial"/>
                <a:ea typeface="Arial"/>
                <a:cs typeface="Arial"/>
              </a:defRPr>
            </a:lvl2pPr>
            <a:lvl3pPr algn="l">
              <a:buNone/>
              <a:defRPr sz="1500" b="0" i="0">
                <a:solidFill>
                  <a:srgbClr val="53676C"/>
                </a:solidFill>
                <a:latin typeface="Arial"/>
                <a:ea typeface="Arial"/>
                <a:cs typeface="Arial"/>
              </a:defRPr>
            </a:lvl3pPr>
            <a:lvl4pPr algn="l">
              <a:buNone/>
              <a:defRPr sz="1500" b="0" i="0">
                <a:solidFill>
                  <a:srgbClr val="53676C"/>
                </a:solidFill>
                <a:latin typeface="Arial"/>
                <a:ea typeface="Arial"/>
                <a:cs typeface="Arial"/>
              </a:defRPr>
            </a:lvl4pPr>
            <a:lvl5pPr algn="l">
              <a:buNone/>
              <a:defRPr sz="1500" b="0" i="0">
                <a:solidFill>
                  <a:srgbClr val="53676C"/>
                </a:solidFill>
                <a:latin typeface="Arial"/>
                <a:ea typeface="Arial"/>
                <a:cs typeface="Arial"/>
              </a:defRPr>
            </a:lvl5pPr>
            <a:lvl6pPr algn="l">
              <a:buNone/>
              <a:defRPr sz="1500" b="0" i="0">
                <a:solidFill>
                  <a:srgbClr val="53676C"/>
                </a:solidFill>
                <a:latin typeface="Arial"/>
                <a:ea typeface="Arial"/>
                <a:cs typeface="Arial"/>
              </a:defRPr>
            </a:lvl6pPr>
            <a:lvl7pPr algn="l">
              <a:buNone/>
              <a:defRPr sz="1500" b="0" i="0">
                <a:solidFill>
                  <a:srgbClr val="53676C"/>
                </a:solidFill>
                <a:latin typeface="Arial"/>
                <a:ea typeface="Arial"/>
                <a:cs typeface="Arial"/>
              </a:defRPr>
            </a:lvl7pPr>
            <a:lvl8pPr algn="l">
              <a:buNone/>
              <a:defRPr sz="1500" b="0" i="0">
                <a:solidFill>
                  <a:srgbClr val="53676C"/>
                </a:solidFill>
                <a:latin typeface="Arial"/>
                <a:ea typeface="Arial"/>
                <a:cs typeface="Arial"/>
              </a:defRPr>
            </a:lvl8pPr>
            <a:lvl9pPr algn="l">
              <a:buNone/>
              <a:defRPr sz="1500" b="0" i="0">
                <a:solidFill>
                  <a:srgbClr val="53676C"/>
                </a:solidFill>
                <a:latin typeface="Arial"/>
                <a:ea typeface="Arial"/>
                <a:cs typeface="Arial"/>
              </a:defRPr>
            </a:lvl9pPr>
          </a:lstStyle>
          <a:p xmlns:a="http://schemas.openxmlformats.org/drawingml/2006/main">
            <a:pPr marL="0" indent="0" algn="l">
              <a:buNone/>
              <a:defRPr sz="1500" b="0" i="0">
                <a:solidFill>
                  <a:srgbClr val="53676C"/>
                </a:solidFill>
                <a:latin typeface="Arial"/>
                <a:ea typeface="Arial"/>
                <a:cs typeface="Arial"/>
              </a:defRPr>
            </a:pPr>
            <a:r>
              <a:rPr sz="1500" b="0" i="0">
                <a:solidFill>
                  <a:srgbClr val="53676C"/>
                </a:solidFill>
                <a:latin typeface="Arial"/>
                <a:ea typeface="Arial"/>
                <a:cs typeface="Arial"/>
              </a:rPr>
              <a:t>An accepted promise can still leave the credit unresolved.</a:t>
            </a:r>
            <a:endParaRPr sz="1500"/>
          </a:p>
        </p:txBody>
      </p:sp>
      <p:sp>
        <p:nvSpPr>
          <p:cNvPr id="25" name="Validate tile">
            <a:extLst xmlns:a="http://schemas.openxmlformats.org/drawingml/2006/main">
              <a:ext uri="{FF2B5EF4-FFF2-40B4-BE49-F238E27FC236}">
                <a16:creationId xmlns:a16="http://schemas.microsoft.com/office/drawing/2014/main" id="{DA170625-34B6-4AF4-9656-D52263C0A94B}"/>
              </a:ext>
            </a:extLst>
          </p:cNvPr>
          <p:cNvSpPr>
            <a:spLocks xmlns:a="http://schemas.openxmlformats.org/drawingml/2006/main" noGrp="1"/>
          </p:cNvSpPr>
          <p:nvPr/>
        </p:nvSpPr>
        <p:spPr>
          <a:xfrm xmlns:a="http://schemas.openxmlformats.org/drawingml/2006/main">
            <a:off x="7863840" y="4206240"/>
            <a:ext cx="3776472" cy="2011680"/>
          </a:xfrm>
          <a:prstGeom xmlns:a="http://schemas.openxmlformats.org/drawingml/2006/main" prst="roundRect">
            <a:avLst>
              <a:gd name="adj" fmla="val 5455"/>
            </a:avLst>
          </a:prstGeom>
          <a:solidFill xmlns:a="http://schemas.openxmlformats.org/drawingml/2006/main">
            <a:schemeClr val="accent3">
              <a:alpha val="30000"/>
            </a:schemeClr>
          </a:solidFill>
        </p:spPr>
      </p:sp>
      <p:sp>
        <p:nvSpPr>
          <p:cNvPr id="26" name="Text 24">
            <a:extLst xmlns:a="http://schemas.openxmlformats.org/drawingml/2006/main">
              <a:ext uri="{FF2B5EF4-FFF2-40B4-BE49-F238E27FC236}">
                <a16:creationId xmlns:a16="http://schemas.microsoft.com/office/drawing/2014/main" id="{62A834EE-4A8E-458B-9B78-73B5823F6051}"/>
              </a:ext>
            </a:extLst>
          </p:cNvPr>
          <p:cNvSpPr>
            <a:spLocks xmlns:a="http://schemas.openxmlformats.org/drawingml/2006/main" noGrp="1"/>
          </p:cNvSpPr>
          <p:nvPr/>
        </p:nvSpPr>
        <p:spPr>
          <a:xfrm xmlns:a="http://schemas.openxmlformats.org/drawingml/2006/main">
            <a:off x="8138160" y="43891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00">
                <a:solidFill>
                  <a:schemeClr val="tx1"/>
                </a:solidFill>
              </a:rPr>
              <a:t>TO VALIDATE WITH MERCHANTS</a:t>
            </a:r>
            <a:endParaRPr sz="1200"/>
          </a:p>
        </p:txBody>
      </p:sp>
      <p:sp>
        <p:nvSpPr>
          <p:cNvPr id="27" name="Text 25">
            <a:extLst xmlns:a="http://schemas.openxmlformats.org/drawingml/2006/main">
              <a:ext uri="{FF2B5EF4-FFF2-40B4-BE49-F238E27FC236}">
                <a16:creationId xmlns:a16="http://schemas.microsoft.com/office/drawing/2014/main" id="{F501DFDF-68FF-400E-BF0D-E1898E5DB0BE}"/>
              </a:ext>
            </a:extLst>
          </p:cNvPr>
          <p:cNvSpPr>
            <a:spLocks xmlns:a="http://schemas.openxmlformats.org/drawingml/2006/main" noGrp="1"/>
          </p:cNvSpPr>
          <p:nvPr/>
        </p:nvSpPr>
        <p:spPr>
          <a:xfrm xmlns:a="http://schemas.openxmlformats.org/drawingml/2006/main">
            <a:off x="8138160" y="4754880"/>
            <a:ext cx="32918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i="0">
                <a:solidFill>
                  <a:srgbClr val="132D36"/>
                </a:solidFill>
                <a:latin typeface="Arial"/>
                <a:ea typeface="Arial"/>
                <a:cs typeface="Arial"/>
              </a:defRPr>
            </a:defPPr>
            <a:lvl1pPr algn="l">
              <a:buNone/>
              <a:defRPr sz="1600" b="0" i="0">
                <a:solidFill>
                  <a:srgbClr val="132D36"/>
                </a:solidFill>
                <a:latin typeface="Arial"/>
                <a:ea typeface="Arial"/>
                <a:cs typeface="Arial"/>
              </a:defRPr>
            </a:lvl1pPr>
            <a:lvl2pPr algn="l">
              <a:buNone/>
              <a:defRPr sz="1600" b="0" i="0">
                <a:solidFill>
                  <a:srgbClr val="132D36"/>
                </a:solidFill>
                <a:latin typeface="Arial"/>
                <a:ea typeface="Arial"/>
                <a:cs typeface="Arial"/>
              </a:defRPr>
            </a:lvl2pPr>
            <a:lvl3pPr algn="l">
              <a:buNone/>
              <a:defRPr sz="1600" b="0" i="0">
                <a:solidFill>
                  <a:srgbClr val="132D36"/>
                </a:solidFill>
                <a:latin typeface="Arial"/>
                <a:ea typeface="Arial"/>
                <a:cs typeface="Arial"/>
              </a:defRPr>
            </a:lvl3pPr>
            <a:lvl4pPr algn="l">
              <a:buNone/>
              <a:defRPr sz="1600" b="0" i="0">
                <a:solidFill>
                  <a:srgbClr val="132D36"/>
                </a:solidFill>
                <a:latin typeface="Arial"/>
                <a:ea typeface="Arial"/>
                <a:cs typeface="Arial"/>
              </a:defRPr>
            </a:lvl4pPr>
            <a:lvl5pPr algn="l">
              <a:buNone/>
              <a:defRPr sz="1600" b="0" i="0">
                <a:solidFill>
                  <a:srgbClr val="132D36"/>
                </a:solidFill>
                <a:latin typeface="Arial"/>
                <a:ea typeface="Arial"/>
                <a:cs typeface="Arial"/>
              </a:defRPr>
            </a:lvl5pPr>
            <a:lvl6pPr algn="l">
              <a:buNone/>
              <a:defRPr sz="1600" b="0" i="0">
                <a:solidFill>
                  <a:srgbClr val="132D36"/>
                </a:solidFill>
                <a:latin typeface="Arial"/>
                <a:ea typeface="Arial"/>
                <a:cs typeface="Arial"/>
              </a:defRPr>
            </a:lvl6pPr>
            <a:lvl7pPr algn="l">
              <a:buNone/>
              <a:defRPr sz="1600" b="0" i="0">
                <a:solidFill>
                  <a:srgbClr val="132D36"/>
                </a:solidFill>
                <a:latin typeface="Arial"/>
                <a:ea typeface="Arial"/>
                <a:cs typeface="Arial"/>
              </a:defRPr>
            </a:lvl7pPr>
            <a:lvl8pPr algn="l">
              <a:buNone/>
              <a:defRPr sz="1600" b="0" i="0">
                <a:solidFill>
                  <a:srgbClr val="132D36"/>
                </a:solidFill>
                <a:latin typeface="Arial"/>
                <a:ea typeface="Arial"/>
                <a:cs typeface="Arial"/>
              </a:defRPr>
            </a:lvl8pPr>
            <a:lvl9pPr algn="l">
              <a:buNone/>
              <a:defRPr sz="1600" b="0" i="0">
                <a:solidFill>
                  <a:srgbClr val="132D36"/>
                </a:solidFill>
                <a:latin typeface="Arial"/>
                <a:ea typeface="Arial"/>
                <a:cs typeface="Arial"/>
              </a:defRPr>
            </a:lvl9pPr>
          </a:lstStyle>
          <a:p xmlns:a="http://schemas.openxmlformats.org/drawingml/2006/main">
            <a:pPr marL="0" indent="0" algn="l">
              <a:buNone/>
              <a:defRPr sz="1600" b="0" i="0">
                <a:solidFill>
                  <a:srgbClr val="132D36"/>
                </a:solidFill>
                <a:latin typeface="Arial"/>
                <a:ea typeface="Arial"/>
                <a:cs typeface="Arial"/>
              </a:defRPr>
            </a:pPr>
            <a:r>
              <a:rPr sz="1600" b="0" i="0">
                <a:solidFill>
                  <a:srgbClr val="132D36"/>
                </a:solidFill>
                <a:latin typeface="Arial"/>
                <a:ea typeface="Arial"/>
                <a:cs typeface="Arial"/>
              </a:rPr>
              <a:t>Ask to review a recent case: frequency, pending value, tracking method and follow-up time.</a:t>
            </a:r>
            <a:endParaRPr sz="1600"/>
          </a:p>
        </p:txBody>
      </p:sp>
      <p:sp>
        <p:nvSpPr>
          <p:cNvPr id="28" name="Text 26">
            <a:extLst xmlns:a="http://schemas.openxmlformats.org/drawingml/2006/main">
              <a:ext uri="{FF2B5EF4-FFF2-40B4-BE49-F238E27FC236}">
                <a16:creationId xmlns:a16="http://schemas.microsoft.com/office/drawing/2014/main" id="{F913C6BE-A3C0-4885-AEA7-90963B851BFB}"/>
              </a:ext>
            </a:extLst>
          </p:cNvPr>
          <p:cNvSpPr>
            <a:spLocks xmlns:a="http://schemas.openxmlformats.org/drawingml/2006/main" noGrp="1"/>
          </p:cNvSpPr>
          <p:nvPr/>
        </p:nvSpPr>
        <p:spPr>
          <a:xfrm xmlns:a="http://schemas.openxmlformats.org/drawingml/2006/main">
            <a:off x="8138160" y="57150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1"/>
                </a:solidFill>
              </a:rPr>
              <a:t>Discovery planned: 3–5 stores.</a:t>
            </a:r>
            <a:endParaRPr sz="1400"/>
          </a:p>
        </p:txBody>
      </p:sp>
      <p:sp>
        <p:nvSpPr>
          <p:cNvPr id="29" name="Slide Number Placeholder 0">
            <a:extLst xmlns:a="http://schemas.openxmlformats.org/drawingml/2006/main">
              <a:ext uri="{FF2B5EF4-FFF2-40B4-BE49-F238E27FC236}">
                <a16:creationId xmlns:a16="http://schemas.microsoft.com/office/drawing/2014/main" id="{6237E4E5-69CE-4931-A72E-18B9739FD270}"/>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8889613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177A0E-F8E2-4518-B327-709BC3A7328D}"/>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PROPOSED SOLUTION</a:t>
            </a:r>
            <a:endParaRPr sz="1400"/>
          </a:p>
        </p:txBody>
      </p:sp>
      <p:sp>
        <p:nvSpPr>
          <p:cNvPr id="3" name="Text 0">
            <a:extLst xmlns:a="http://schemas.openxmlformats.org/drawingml/2006/main">
              <a:ext uri="{FF2B5EF4-FFF2-40B4-BE49-F238E27FC236}">
                <a16:creationId xmlns:a16="http://schemas.microsoft.com/office/drawing/2014/main" id="{BBD962CA-DC4B-4139-B2E8-1443F5F739C3}"/>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132D36"/>
                </a:solidFill>
                <a:latin typeface="Arial"/>
                <a:ea typeface="Arial"/>
                <a:cs typeface="Arial"/>
              </a:defRPr>
            </a:defPPr>
            <a:lvl1pPr algn="l">
              <a:buNone/>
              <a:defRPr sz="3600" b="1" i="0">
                <a:solidFill>
                  <a:srgbClr val="132D36"/>
                </a:solidFill>
                <a:latin typeface="Arial"/>
                <a:ea typeface="Arial"/>
                <a:cs typeface="Arial"/>
              </a:defRPr>
            </a:lvl1pPr>
            <a:lvl2pPr algn="l">
              <a:buNone/>
              <a:defRPr sz="3600" b="1" i="0">
                <a:solidFill>
                  <a:srgbClr val="132D36"/>
                </a:solidFill>
                <a:latin typeface="Arial"/>
                <a:ea typeface="Arial"/>
                <a:cs typeface="Arial"/>
              </a:defRPr>
            </a:lvl2pPr>
            <a:lvl3pPr algn="l">
              <a:buNone/>
              <a:defRPr sz="3600" b="1" i="0">
                <a:solidFill>
                  <a:srgbClr val="132D36"/>
                </a:solidFill>
                <a:latin typeface="Arial"/>
                <a:ea typeface="Arial"/>
                <a:cs typeface="Arial"/>
              </a:defRPr>
            </a:lvl3pPr>
            <a:lvl4pPr algn="l">
              <a:buNone/>
              <a:defRPr sz="3600" b="1" i="0">
                <a:solidFill>
                  <a:srgbClr val="132D36"/>
                </a:solidFill>
                <a:latin typeface="Arial"/>
                <a:ea typeface="Arial"/>
                <a:cs typeface="Arial"/>
              </a:defRPr>
            </a:lvl4pPr>
            <a:lvl5pPr algn="l">
              <a:buNone/>
              <a:defRPr sz="3600" b="1" i="0">
                <a:solidFill>
                  <a:srgbClr val="132D36"/>
                </a:solidFill>
                <a:latin typeface="Arial"/>
                <a:ea typeface="Arial"/>
                <a:cs typeface="Arial"/>
              </a:defRPr>
            </a:lvl5pPr>
            <a:lvl6pPr algn="l">
              <a:buNone/>
              <a:defRPr sz="3600" b="1" i="0">
                <a:solidFill>
                  <a:srgbClr val="132D36"/>
                </a:solidFill>
                <a:latin typeface="Arial"/>
                <a:ea typeface="Arial"/>
                <a:cs typeface="Arial"/>
              </a:defRPr>
            </a:lvl6pPr>
            <a:lvl7pPr algn="l">
              <a:buNone/>
              <a:defRPr sz="3600" b="1" i="0">
                <a:solidFill>
                  <a:srgbClr val="132D36"/>
                </a:solidFill>
                <a:latin typeface="Arial"/>
                <a:ea typeface="Arial"/>
                <a:cs typeface="Arial"/>
              </a:defRPr>
            </a:lvl7pPr>
            <a:lvl8pPr algn="l">
              <a:buNone/>
              <a:defRPr sz="3600" b="1" i="0">
                <a:solidFill>
                  <a:srgbClr val="132D36"/>
                </a:solidFill>
                <a:latin typeface="Arial"/>
                <a:ea typeface="Arial"/>
                <a:cs typeface="Arial"/>
              </a:defRPr>
            </a:lvl8pPr>
            <a:lvl9pPr algn="l">
              <a:buNone/>
              <a:defRPr sz="3600" b="1" i="0">
                <a:solidFill>
                  <a:srgbClr val="132D36"/>
                </a:solidFill>
                <a:latin typeface="Arial"/>
                <a:ea typeface="Arial"/>
                <a:cs typeface="Arial"/>
              </a:defRPr>
            </a:lvl9pPr>
          </a:lstStyle>
          <a:p xmlns:a="http://schemas.openxmlformats.org/drawingml/2006/main">
            <a:pPr marL="0" indent="0" algn="l">
              <a:buNone/>
              <a:defRPr sz="3600" b="1" i="0">
                <a:solidFill>
                  <a:srgbClr val="132D36"/>
                </a:solidFill>
                <a:latin typeface="Arial"/>
                <a:ea typeface="Arial"/>
                <a:cs typeface="Arial"/>
              </a:defRPr>
            </a:pPr>
            <a:r>
              <a:rPr sz="3600" b="1" i="0">
                <a:solidFill>
                  <a:srgbClr val="132D36"/>
                </a:solidFill>
                <a:latin typeface="Arial"/>
                <a:ea typeface="Arial"/>
                <a:cs typeface="Arial"/>
              </a:rPr>
              <a:t>From short delivery to documented resolution</a:t>
            </a:r>
            <a:endParaRPr sz="3600"/>
          </a:p>
        </p:txBody>
      </p:sp>
      <p:sp>
        <p:nvSpPr>
          <p:cNvPr id="4" name="Step card 1">
            <a:extLst xmlns:a="http://schemas.openxmlformats.org/drawingml/2006/main">
              <a:ext uri="{FF2B5EF4-FFF2-40B4-BE49-F238E27FC236}">
                <a16:creationId xmlns:a16="http://schemas.microsoft.com/office/drawing/2014/main" id="{7DE8C30B-EA97-46B4-9335-75E8A2C48E38}"/>
              </a:ext>
            </a:extLst>
          </p:cNvPr>
          <p:cNvSpPr>
            <a:spLocks xmlns:a="http://schemas.openxmlformats.org/drawingml/2006/main" noGrp="1"/>
          </p:cNvSpPr>
          <p:nvPr/>
        </p:nvSpPr>
        <p:spPr>
          <a:xfrm xmlns:a="http://schemas.openxmlformats.org/drawingml/2006/main">
            <a:off x="548640" y="1645920"/>
            <a:ext cx="2057400" cy="2971800"/>
          </a:xfrm>
          <a:prstGeom xmlns:a="http://schemas.openxmlformats.org/drawingml/2006/main" prst="roundRect">
            <a:avLst>
              <a:gd name="adj" fmla="val 5333"/>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5" name="Snap circle">
            <a:extLst xmlns:a="http://schemas.openxmlformats.org/drawingml/2006/main">
              <a:ext uri="{FF2B5EF4-FFF2-40B4-BE49-F238E27FC236}">
                <a16:creationId xmlns:a16="http://schemas.microsoft.com/office/drawing/2014/main" id="{0325C2D9-9866-4138-A389-ABE91B79B97E}"/>
              </a:ext>
            </a:extLst>
          </p:cNvPr>
          <p:cNvSpPr>
            <a:spLocks xmlns:a="http://schemas.openxmlformats.org/drawingml/2006/main" noGrp="1"/>
          </p:cNvSpPr>
          <p:nvPr/>
        </p:nvSpPr>
        <p:spPr>
          <a:xfrm xmlns:a="http://schemas.openxmlformats.org/drawingml/2006/main">
            <a:off x="731520" y="1847088"/>
            <a:ext cx="566928" cy="566928"/>
          </a:xfrm>
          <a:prstGeom xmlns:a="http://schemas.openxmlformats.org/drawingml/2006/main" prst="ellipse">
            <a:avLst/>
          </a:prstGeom>
          <a:solidFill xmlns:a="http://schemas.openxmlformats.org/drawingml/2006/main">
            <a:srgbClr val="007E80"/>
          </a:solidFill>
        </p:spPr>
      </p:sp>
      <p:pic>
        <p:nvPicPr>
          <p:cNvPr id="6" name="Image 0">
            <a:extLst xmlns:a="http://schemas.openxmlformats.org/drawingml/2006/main">
              <a:ext uri="{FF2B5EF4-FFF2-40B4-BE49-F238E27FC236}">
                <a16:creationId xmlns:a16="http://schemas.microsoft.com/office/drawing/2014/main" id="{E04A4BF9-C29F-4AF7-91E3-62043BDD3622}"/>
              </a:ext>
            </a:extLst>
          </p:cNvPr>
          <p:cNvPicPr>
            <a:picLocks xmlns:a="http://schemas.openxmlformats.org/drawingml/2006/main" noChangeAspect="1"/>
          </p:cNvPicPr>
          <p:nvPr/>
        </p:nvPicPr>
        <p:blipFill>
          <a:blip xmlns:r="http://schemas.openxmlformats.org/officeDocument/2006/relationships" xmlns:a="http://schemas.openxmlformats.org/drawingml/2006/main" r:embed="R9791f88aca8d4afe"/>
          <a:stretch xmlns:a="http://schemas.openxmlformats.org/drawingml/2006/main">
            <a:fillRect l="0" t="0" r="0" b="0"/>
          </a:stretch>
        </p:blipFill>
        <p:spPr>
          <a:xfrm xmlns:a="http://schemas.openxmlformats.org/drawingml/2006/main">
            <a:off x="867583" y="1983151"/>
            <a:ext cx="294803" cy="29480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2432D25-0D6E-4045-B0C1-076D50DBC219}"/>
              </a:ext>
            </a:extLst>
          </p:cNvPr>
          <p:cNvSpPr>
            <a:spLocks xmlns:a="http://schemas.openxmlformats.org/drawingml/2006/main" noGrp="1"/>
          </p:cNvSpPr>
          <p:nvPr/>
        </p:nvSpPr>
        <p:spPr>
          <a:xfrm xmlns:a="http://schemas.openxmlformats.org/drawingml/2006/main">
            <a:off x="1463040" y="20116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rPr>
              <a:t>01</a:t>
            </a:r>
            <a:endParaRPr sz="1400"/>
          </a:p>
        </p:txBody>
      </p:sp>
      <p:sp>
        <p:nvSpPr>
          <p:cNvPr id="8" name="Text 5">
            <a:extLst xmlns:a="http://schemas.openxmlformats.org/drawingml/2006/main">
              <a:ext uri="{FF2B5EF4-FFF2-40B4-BE49-F238E27FC236}">
                <a16:creationId xmlns:a16="http://schemas.microsoft.com/office/drawing/2014/main" id="{48E0EE53-7CF9-4A8A-AAF7-A1D9560D6B2C}"/>
              </a:ext>
            </a:extLst>
          </p:cNvPr>
          <p:cNvSpPr>
            <a:spLocks xmlns:a="http://schemas.openxmlformats.org/drawingml/2006/main" noGrp="1"/>
          </p:cNvSpPr>
          <p:nvPr/>
        </p:nvSpPr>
        <p:spPr>
          <a:xfrm xmlns:a="http://schemas.openxmlformats.org/drawingml/2006/main">
            <a:off x="731520" y="26060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tx1"/>
                </a:solidFill>
              </a:rPr>
              <a:t>Snap</a:t>
            </a:r>
            <a:endParaRPr sz="2000"/>
          </a:p>
        </p:txBody>
      </p:sp>
      <p:sp>
        <p:nvSpPr>
          <p:cNvPr id="9" name="Text 6">
            <a:extLst xmlns:a="http://schemas.openxmlformats.org/drawingml/2006/main">
              <a:ext uri="{FF2B5EF4-FFF2-40B4-BE49-F238E27FC236}">
                <a16:creationId xmlns:a16="http://schemas.microsoft.com/office/drawing/2014/main" id="{7FD92088-E232-4C6A-AD3C-A29386111694}"/>
              </a:ext>
            </a:extLst>
          </p:cNvPr>
          <p:cNvSpPr>
            <a:spLocks xmlns:a="http://schemas.openxmlformats.org/drawingml/2006/main" noGrp="1"/>
          </p:cNvSpPr>
          <p:nvPr/>
        </p:nvSpPr>
        <p:spPr>
          <a:xfrm xmlns:a="http://schemas.openxmlformats.org/drawingml/2006/main">
            <a:off x="731520" y="3063240"/>
            <a:ext cx="1737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Photograph the bill. AI extracts supplier, item, billed quantity, unit and price.</a:t>
            </a:r>
            <a:endParaRPr sz="1400"/>
          </a:p>
        </p:txBody>
      </p:sp>
      <p:sp>
        <p:nvSpPr>
          <p:cNvPr id="10" name="Step card 2">
            <a:extLst xmlns:a="http://schemas.openxmlformats.org/drawingml/2006/main">
              <a:ext uri="{FF2B5EF4-FFF2-40B4-BE49-F238E27FC236}">
                <a16:creationId xmlns:a16="http://schemas.microsoft.com/office/drawing/2014/main" id="{5AE53D15-2D06-45E7-BC84-F85AFA2A0112}"/>
              </a:ext>
            </a:extLst>
          </p:cNvPr>
          <p:cNvSpPr>
            <a:spLocks xmlns:a="http://schemas.openxmlformats.org/drawingml/2006/main" noGrp="1"/>
          </p:cNvSpPr>
          <p:nvPr/>
        </p:nvSpPr>
        <p:spPr>
          <a:xfrm xmlns:a="http://schemas.openxmlformats.org/drawingml/2006/main">
            <a:off x="2807208" y="1645920"/>
            <a:ext cx="2057400" cy="2971800"/>
          </a:xfrm>
          <a:prstGeom xmlns:a="http://schemas.openxmlformats.org/drawingml/2006/main" prst="roundRect">
            <a:avLst>
              <a:gd name="adj" fmla="val 5333"/>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1" name="Confirm circle">
            <a:extLst xmlns:a="http://schemas.openxmlformats.org/drawingml/2006/main">
              <a:ext uri="{FF2B5EF4-FFF2-40B4-BE49-F238E27FC236}">
                <a16:creationId xmlns:a16="http://schemas.microsoft.com/office/drawing/2014/main" id="{F28CDB1C-229E-44F0-89D1-448F94DB9AAF}"/>
              </a:ext>
            </a:extLst>
          </p:cNvPr>
          <p:cNvSpPr>
            <a:spLocks xmlns:a="http://schemas.openxmlformats.org/drawingml/2006/main" noGrp="1"/>
          </p:cNvSpPr>
          <p:nvPr/>
        </p:nvSpPr>
        <p:spPr>
          <a:xfrm xmlns:a="http://schemas.openxmlformats.org/drawingml/2006/main">
            <a:off x="2990088" y="1847088"/>
            <a:ext cx="566928" cy="566928"/>
          </a:xfrm>
          <a:prstGeom xmlns:a="http://schemas.openxmlformats.org/drawingml/2006/main" prst="ellipse">
            <a:avLst/>
          </a:prstGeom>
          <a:solidFill xmlns:a="http://schemas.openxmlformats.org/drawingml/2006/main">
            <a:srgbClr val="007E80"/>
          </a:solidFill>
        </p:spPr>
      </p:sp>
      <p:pic>
        <p:nvPicPr>
          <p:cNvPr id="12" name="Image 1">
            <a:extLst xmlns:a="http://schemas.openxmlformats.org/drawingml/2006/main">
              <a:ext uri="{FF2B5EF4-FFF2-40B4-BE49-F238E27FC236}">
                <a16:creationId xmlns:a16="http://schemas.microsoft.com/office/drawing/2014/main" id="{AA473645-95C1-4E5C-A556-5E1D960D7DE3}"/>
              </a:ext>
            </a:extLst>
          </p:cNvPr>
          <p:cNvPicPr>
            <a:picLocks xmlns:a="http://schemas.openxmlformats.org/drawingml/2006/main" noChangeAspect="1"/>
          </p:cNvPicPr>
          <p:nvPr/>
        </p:nvPicPr>
        <p:blipFill>
          <a:blip xmlns:r="http://schemas.openxmlformats.org/officeDocument/2006/relationships" xmlns:a="http://schemas.openxmlformats.org/drawingml/2006/main" r:embed="R1258e8fa92d84132"/>
          <a:stretch xmlns:a="http://schemas.openxmlformats.org/drawingml/2006/main">
            <a:fillRect l="0" t="0" r="0" b="0"/>
          </a:stretch>
        </p:blipFill>
        <p:spPr>
          <a:xfrm xmlns:a="http://schemas.openxmlformats.org/drawingml/2006/main">
            <a:off x="3126151" y="1983151"/>
            <a:ext cx="294803" cy="294803"/>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1A5BDF56-68AF-4437-8121-AAE7E8E8436D}"/>
              </a:ext>
            </a:extLst>
          </p:cNvPr>
          <p:cNvSpPr>
            <a:spLocks xmlns:a="http://schemas.openxmlformats.org/drawingml/2006/main" noGrp="1"/>
          </p:cNvSpPr>
          <p:nvPr/>
        </p:nvSpPr>
        <p:spPr>
          <a:xfrm xmlns:a="http://schemas.openxmlformats.org/drawingml/2006/main">
            <a:off x="3721608" y="20116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rPr>
              <a:t>02</a:t>
            </a:r>
            <a:endParaRPr sz="1400"/>
          </a:p>
        </p:txBody>
      </p:sp>
      <p:sp>
        <p:nvSpPr>
          <p:cNvPr id="14" name="Text 10">
            <a:extLst xmlns:a="http://schemas.openxmlformats.org/drawingml/2006/main">
              <a:ext uri="{FF2B5EF4-FFF2-40B4-BE49-F238E27FC236}">
                <a16:creationId xmlns:a16="http://schemas.microsoft.com/office/drawing/2014/main" id="{7A740296-2268-49E6-8638-927696DD5202}"/>
              </a:ext>
            </a:extLst>
          </p:cNvPr>
          <p:cNvSpPr>
            <a:spLocks xmlns:a="http://schemas.openxmlformats.org/drawingml/2006/main" noGrp="1"/>
          </p:cNvSpPr>
          <p:nvPr/>
        </p:nvSpPr>
        <p:spPr>
          <a:xfrm xmlns:a="http://schemas.openxmlformats.org/drawingml/2006/main">
            <a:off x="2990088" y="26060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tx1"/>
                </a:solidFill>
              </a:rPr>
              <a:t>Confirm</a:t>
            </a:r>
            <a:endParaRPr sz="2000"/>
          </a:p>
        </p:txBody>
      </p:sp>
      <p:sp>
        <p:nvSpPr>
          <p:cNvPr id="15" name="Text 11">
            <a:extLst xmlns:a="http://schemas.openxmlformats.org/drawingml/2006/main">
              <a:ext uri="{FF2B5EF4-FFF2-40B4-BE49-F238E27FC236}">
                <a16:creationId xmlns:a16="http://schemas.microsoft.com/office/drawing/2014/main" id="{801139F4-740F-4548-B7FD-E4E4CD327499}"/>
              </a:ext>
            </a:extLst>
          </p:cNvPr>
          <p:cNvSpPr>
            <a:spLocks xmlns:a="http://schemas.openxmlformats.org/drawingml/2006/main" noGrp="1"/>
          </p:cNvSpPr>
          <p:nvPr/>
        </p:nvSpPr>
        <p:spPr>
          <a:xfrm xmlns:a="http://schemas.openxmlformats.org/drawingml/2006/main">
            <a:off x="2990088" y="3063240"/>
            <a:ext cx="1737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AI asks: “Packs or cartons?” Confirm packs, 10 received and delivery complete.</a:t>
            </a:r>
            <a:endParaRPr sz="1400"/>
          </a:p>
        </p:txBody>
      </p:sp>
      <p:sp>
        <p:nvSpPr>
          <p:cNvPr id="16" name="Step card 3">
            <a:extLst xmlns:a="http://schemas.openxmlformats.org/drawingml/2006/main">
              <a:ext uri="{FF2B5EF4-FFF2-40B4-BE49-F238E27FC236}">
                <a16:creationId xmlns:a16="http://schemas.microsoft.com/office/drawing/2014/main" id="{07050B14-894C-4AF7-95D5-E35F610FA290}"/>
              </a:ext>
            </a:extLst>
          </p:cNvPr>
          <p:cNvSpPr>
            <a:spLocks xmlns:a="http://schemas.openxmlformats.org/drawingml/2006/main" noGrp="1"/>
          </p:cNvSpPr>
          <p:nvPr/>
        </p:nvSpPr>
        <p:spPr>
          <a:xfrm xmlns:a="http://schemas.openxmlformats.org/drawingml/2006/main">
            <a:off x="5065776" y="1645920"/>
            <a:ext cx="2057400" cy="2971800"/>
          </a:xfrm>
          <a:prstGeom xmlns:a="http://schemas.openxmlformats.org/drawingml/2006/main" prst="roundRect">
            <a:avLst>
              <a:gd name="adj" fmla="val 5333"/>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7" name="Calculate circle">
            <a:extLst xmlns:a="http://schemas.openxmlformats.org/drawingml/2006/main">
              <a:ext uri="{FF2B5EF4-FFF2-40B4-BE49-F238E27FC236}">
                <a16:creationId xmlns:a16="http://schemas.microsoft.com/office/drawing/2014/main" id="{307D7C6C-BF39-44D9-9DE3-A59E9B920B4C}"/>
              </a:ext>
            </a:extLst>
          </p:cNvPr>
          <p:cNvSpPr>
            <a:spLocks xmlns:a="http://schemas.openxmlformats.org/drawingml/2006/main" noGrp="1"/>
          </p:cNvSpPr>
          <p:nvPr/>
        </p:nvSpPr>
        <p:spPr>
          <a:xfrm xmlns:a="http://schemas.openxmlformats.org/drawingml/2006/main">
            <a:off x="5248656" y="1847088"/>
            <a:ext cx="566928" cy="566928"/>
          </a:xfrm>
          <a:prstGeom xmlns:a="http://schemas.openxmlformats.org/drawingml/2006/main" prst="ellipse">
            <a:avLst/>
          </a:prstGeom>
          <a:solidFill xmlns:a="http://schemas.openxmlformats.org/drawingml/2006/main">
            <a:srgbClr val="132D36"/>
          </a:solidFill>
        </p:spPr>
      </p:sp>
      <p:pic>
        <p:nvPicPr>
          <p:cNvPr id="18" name="Image 2">
            <a:extLst xmlns:a="http://schemas.openxmlformats.org/drawingml/2006/main">
              <a:ext uri="{FF2B5EF4-FFF2-40B4-BE49-F238E27FC236}">
                <a16:creationId xmlns:a16="http://schemas.microsoft.com/office/drawing/2014/main" id="{9621F9A3-6DB7-450D-B01B-ADDE70C3F4EE}"/>
              </a:ext>
            </a:extLst>
          </p:cNvPr>
          <p:cNvPicPr>
            <a:picLocks xmlns:a="http://schemas.openxmlformats.org/drawingml/2006/main" noChangeAspect="1"/>
          </p:cNvPicPr>
          <p:nvPr/>
        </p:nvPicPr>
        <p:blipFill>
          <a:blip xmlns:r="http://schemas.openxmlformats.org/officeDocument/2006/relationships" xmlns:a="http://schemas.openxmlformats.org/drawingml/2006/main" r:embed="Ra2ae30fd8a584f91"/>
          <a:stretch xmlns:a="http://schemas.openxmlformats.org/drawingml/2006/main">
            <a:fillRect l="0" t="0" r="0" b="0"/>
          </a:stretch>
        </p:blipFill>
        <p:spPr>
          <a:xfrm xmlns:a="http://schemas.openxmlformats.org/drawingml/2006/main">
            <a:off x="5384719" y="1983151"/>
            <a:ext cx="294803" cy="294803"/>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797D132F-5AD8-41AB-B946-F23148CE5868}"/>
              </a:ext>
            </a:extLst>
          </p:cNvPr>
          <p:cNvSpPr>
            <a:spLocks xmlns:a="http://schemas.openxmlformats.org/drawingml/2006/main" noGrp="1"/>
          </p:cNvSpPr>
          <p:nvPr/>
        </p:nvSpPr>
        <p:spPr>
          <a:xfrm xmlns:a="http://schemas.openxmlformats.org/drawingml/2006/main">
            <a:off x="5980176" y="20116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rPr>
              <a:t>03</a:t>
            </a:r>
            <a:endParaRPr sz="1400"/>
          </a:p>
        </p:txBody>
      </p:sp>
      <p:sp>
        <p:nvSpPr>
          <p:cNvPr id="20" name="Text 15">
            <a:extLst xmlns:a="http://schemas.openxmlformats.org/drawingml/2006/main">
              <a:ext uri="{FF2B5EF4-FFF2-40B4-BE49-F238E27FC236}">
                <a16:creationId xmlns:a16="http://schemas.microsoft.com/office/drawing/2014/main" id="{46A4FCD1-CDA8-4729-952C-AD6E2E8A97D8}"/>
              </a:ext>
            </a:extLst>
          </p:cNvPr>
          <p:cNvSpPr>
            <a:spLocks xmlns:a="http://schemas.openxmlformats.org/drawingml/2006/main" noGrp="1"/>
          </p:cNvSpPr>
          <p:nvPr/>
        </p:nvSpPr>
        <p:spPr>
          <a:xfrm xmlns:a="http://schemas.openxmlformats.org/drawingml/2006/main">
            <a:off x="5248656" y="26060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tx1"/>
                </a:solidFill>
              </a:rPr>
              <a:t>Calculate</a:t>
            </a:r>
            <a:endParaRPr sz="2000"/>
          </a:p>
        </p:txBody>
      </p:sp>
      <p:sp>
        <p:nvSpPr>
          <p:cNvPr id="21" name="Text 16">
            <a:extLst xmlns:a="http://schemas.openxmlformats.org/drawingml/2006/main">
              <a:ext uri="{FF2B5EF4-FFF2-40B4-BE49-F238E27FC236}">
                <a16:creationId xmlns:a16="http://schemas.microsoft.com/office/drawing/2014/main" id="{559CD7E1-8763-44D7-85AF-B6835963DEA5}"/>
              </a:ext>
            </a:extLst>
          </p:cNvPr>
          <p:cNvSpPr>
            <a:spLocks xmlns:a="http://schemas.openxmlformats.org/drawingml/2006/main" noGrp="1"/>
          </p:cNvSpPr>
          <p:nvPr/>
        </p:nvSpPr>
        <p:spPr>
          <a:xfrm xmlns:a="http://schemas.openxmlformats.org/drawingml/2006/main">
            <a:off x="5248656" y="3063240"/>
            <a:ext cx="1737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Rules validate units and calculate 2 × ₹40 = ₹80. Unclear inputs stay in review.</a:t>
            </a:r>
            <a:endParaRPr sz="1400"/>
          </a:p>
        </p:txBody>
      </p:sp>
      <p:sp>
        <p:nvSpPr>
          <p:cNvPr id="22" name="Step card 4">
            <a:extLst xmlns:a="http://schemas.openxmlformats.org/drawingml/2006/main">
              <a:ext uri="{FF2B5EF4-FFF2-40B4-BE49-F238E27FC236}">
                <a16:creationId xmlns:a16="http://schemas.microsoft.com/office/drawing/2014/main" id="{4EEFC7F7-8B2D-4EC8-9A10-3DE6134F3259}"/>
              </a:ext>
            </a:extLst>
          </p:cNvPr>
          <p:cNvSpPr>
            <a:spLocks xmlns:a="http://schemas.openxmlformats.org/drawingml/2006/main" noGrp="1"/>
          </p:cNvSpPr>
          <p:nvPr/>
        </p:nvSpPr>
        <p:spPr>
          <a:xfrm xmlns:a="http://schemas.openxmlformats.org/drawingml/2006/main">
            <a:off x="7324344" y="1645920"/>
            <a:ext cx="2057400" cy="2971800"/>
          </a:xfrm>
          <a:prstGeom xmlns:a="http://schemas.openxmlformats.org/drawingml/2006/main" prst="roundRect">
            <a:avLst>
              <a:gd name="adj" fmla="val 5333"/>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3" name="Send circle">
            <a:extLst xmlns:a="http://schemas.openxmlformats.org/drawingml/2006/main">
              <a:ext uri="{FF2B5EF4-FFF2-40B4-BE49-F238E27FC236}">
                <a16:creationId xmlns:a16="http://schemas.microsoft.com/office/drawing/2014/main" id="{E93ACC3E-BA34-400B-A2F7-1AE1992EA06E}"/>
              </a:ext>
            </a:extLst>
          </p:cNvPr>
          <p:cNvSpPr>
            <a:spLocks xmlns:a="http://schemas.openxmlformats.org/drawingml/2006/main" noGrp="1"/>
          </p:cNvSpPr>
          <p:nvPr/>
        </p:nvSpPr>
        <p:spPr>
          <a:xfrm xmlns:a="http://schemas.openxmlformats.org/drawingml/2006/main">
            <a:off x="7507224" y="1847088"/>
            <a:ext cx="566928" cy="566928"/>
          </a:xfrm>
          <a:prstGeom xmlns:a="http://schemas.openxmlformats.org/drawingml/2006/main" prst="ellipse">
            <a:avLst/>
          </a:prstGeom>
          <a:solidFill xmlns:a="http://schemas.openxmlformats.org/drawingml/2006/main">
            <a:srgbClr val="007E80"/>
          </a:solidFill>
        </p:spPr>
      </p:sp>
      <p:pic>
        <p:nvPicPr>
          <p:cNvPr id="24" name="Image 3">
            <a:extLst xmlns:a="http://schemas.openxmlformats.org/drawingml/2006/main">
              <a:ext uri="{FF2B5EF4-FFF2-40B4-BE49-F238E27FC236}">
                <a16:creationId xmlns:a16="http://schemas.microsoft.com/office/drawing/2014/main" id="{155FE48B-9203-48FB-81B9-B1337D0E59D6}"/>
              </a:ext>
            </a:extLst>
          </p:cNvPr>
          <p:cNvPicPr>
            <a:picLocks xmlns:a="http://schemas.openxmlformats.org/drawingml/2006/main" noChangeAspect="1"/>
          </p:cNvPicPr>
          <p:nvPr/>
        </p:nvPicPr>
        <p:blipFill>
          <a:blip xmlns:r="http://schemas.openxmlformats.org/officeDocument/2006/relationships" xmlns:a="http://schemas.openxmlformats.org/drawingml/2006/main" r:embed="Rb0ed2db0d66a4a98"/>
          <a:stretch xmlns:a="http://schemas.openxmlformats.org/drawingml/2006/main">
            <a:fillRect l="0" t="0" r="0" b="0"/>
          </a:stretch>
        </p:blipFill>
        <p:spPr>
          <a:xfrm xmlns:a="http://schemas.openxmlformats.org/drawingml/2006/main">
            <a:off x="7643287" y="1983151"/>
            <a:ext cx="294803" cy="294803"/>
          </a:xfrm>
          <a:prstGeom xmlns:a="http://schemas.openxmlformats.org/drawingml/2006/main" prst="rect">
            <a:avLst/>
          </a:prstGeom>
        </p:spPr>
      </p:pic>
      <p:sp>
        <p:nvSpPr>
          <p:cNvPr id="25" name="Text 19">
            <a:extLst xmlns:a="http://schemas.openxmlformats.org/drawingml/2006/main">
              <a:ext uri="{FF2B5EF4-FFF2-40B4-BE49-F238E27FC236}">
                <a16:creationId xmlns:a16="http://schemas.microsoft.com/office/drawing/2014/main" id="{DE04BAE0-2219-4BC6-8B64-469B8AE2C9F3}"/>
              </a:ext>
            </a:extLst>
          </p:cNvPr>
          <p:cNvSpPr>
            <a:spLocks xmlns:a="http://schemas.openxmlformats.org/drawingml/2006/main" noGrp="1"/>
          </p:cNvSpPr>
          <p:nvPr/>
        </p:nvSpPr>
        <p:spPr>
          <a:xfrm xmlns:a="http://schemas.openxmlformats.org/drawingml/2006/main">
            <a:off x="8238744" y="20116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rPr>
              <a:t>04</a:t>
            </a:r>
            <a:endParaRPr sz="1400"/>
          </a:p>
        </p:txBody>
      </p:sp>
      <p:sp>
        <p:nvSpPr>
          <p:cNvPr id="26" name="Text 20">
            <a:extLst xmlns:a="http://schemas.openxmlformats.org/drawingml/2006/main">
              <a:ext uri="{FF2B5EF4-FFF2-40B4-BE49-F238E27FC236}">
                <a16:creationId xmlns:a16="http://schemas.microsoft.com/office/drawing/2014/main" id="{6B862616-D661-444F-9EDD-B73BCFC97E76}"/>
              </a:ext>
            </a:extLst>
          </p:cNvPr>
          <p:cNvSpPr>
            <a:spLocks xmlns:a="http://schemas.openxmlformats.org/drawingml/2006/main" noGrp="1"/>
          </p:cNvSpPr>
          <p:nvPr/>
        </p:nvSpPr>
        <p:spPr>
          <a:xfrm xmlns:a="http://schemas.openxmlformats.org/drawingml/2006/main">
            <a:off x="7507224" y="26060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132D36"/>
                </a:solidFill>
                <a:latin typeface="Arial"/>
                <a:ea typeface="Arial"/>
                <a:cs typeface="Arial"/>
              </a:defRPr>
            </a:defPPr>
            <a:lvl1pPr algn="l">
              <a:buNone/>
              <a:defRPr sz="2000" b="1" i="0">
                <a:solidFill>
                  <a:srgbClr val="132D36"/>
                </a:solidFill>
                <a:latin typeface="Arial"/>
                <a:ea typeface="Arial"/>
                <a:cs typeface="Arial"/>
              </a:defRPr>
            </a:lvl1pPr>
            <a:lvl2pPr algn="l">
              <a:buNone/>
              <a:defRPr sz="2000" b="1" i="0">
                <a:solidFill>
                  <a:srgbClr val="132D36"/>
                </a:solidFill>
                <a:latin typeface="Arial"/>
                <a:ea typeface="Arial"/>
                <a:cs typeface="Arial"/>
              </a:defRPr>
            </a:lvl2pPr>
            <a:lvl3pPr algn="l">
              <a:buNone/>
              <a:defRPr sz="2000" b="1" i="0">
                <a:solidFill>
                  <a:srgbClr val="132D36"/>
                </a:solidFill>
                <a:latin typeface="Arial"/>
                <a:ea typeface="Arial"/>
                <a:cs typeface="Arial"/>
              </a:defRPr>
            </a:lvl3pPr>
            <a:lvl4pPr algn="l">
              <a:buNone/>
              <a:defRPr sz="2000" b="1" i="0">
                <a:solidFill>
                  <a:srgbClr val="132D36"/>
                </a:solidFill>
                <a:latin typeface="Arial"/>
                <a:ea typeface="Arial"/>
                <a:cs typeface="Arial"/>
              </a:defRPr>
            </a:lvl4pPr>
            <a:lvl5pPr algn="l">
              <a:buNone/>
              <a:defRPr sz="2000" b="1" i="0">
                <a:solidFill>
                  <a:srgbClr val="132D36"/>
                </a:solidFill>
                <a:latin typeface="Arial"/>
                <a:ea typeface="Arial"/>
                <a:cs typeface="Arial"/>
              </a:defRPr>
            </a:lvl5pPr>
            <a:lvl6pPr algn="l">
              <a:buNone/>
              <a:defRPr sz="2000" b="1" i="0">
                <a:solidFill>
                  <a:srgbClr val="132D36"/>
                </a:solidFill>
                <a:latin typeface="Arial"/>
                <a:ea typeface="Arial"/>
                <a:cs typeface="Arial"/>
              </a:defRPr>
            </a:lvl6pPr>
            <a:lvl7pPr algn="l">
              <a:buNone/>
              <a:defRPr sz="2000" b="1" i="0">
                <a:solidFill>
                  <a:srgbClr val="132D36"/>
                </a:solidFill>
                <a:latin typeface="Arial"/>
                <a:ea typeface="Arial"/>
                <a:cs typeface="Arial"/>
              </a:defRPr>
            </a:lvl7pPr>
            <a:lvl8pPr algn="l">
              <a:buNone/>
              <a:defRPr sz="2000" b="1" i="0">
                <a:solidFill>
                  <a:srgbClr val="132D36"/>
                </a:solidFill>
                <a:latin typeface="Arial"/>
                <a:ea typeface="Arial"/>
                <a:cs typeface="Arial"/>
              </a:defRPr>
            </a:lvl8pPr>
            <a:lvl9pPr algn="l">
              <a:buNone/>
              <a:defRPr sz="2000" b="1" i="0">
                <a:solidFill>
                  <a:srgbClr val="132D36"/>
                </a:solidFill>
                <a:latin typeface="Arial"/>
                <a:ea typeface="Arial"/>
                <a:cs typeface="Arial"/>
              </a:defRPr>
            </a:lvl9pPr>
          </a:lstStyle>
          <a:p xmlns:a="http://schemas.openxmlformats.org/drawingml/2006/main">
            <a:pPr marL="0" indent="0" algn="l">
              <a:buNone/>
              <a:defRPr sz="2000" b="1" i="0">
                <a:solidFill>
                  <a:srgbClr val="132D36"/>
                </a:solidFill>
                <a:latin typeface="Arial"/>
                <a:ea typeface="Arial"/>
                <a:cs typeface="Arial"/>
              </a:defRPr>
            </a:pPr>
            <a:r>
              <a:rPr sz="2000" b="1" i="0">
                <a:solidFill>
                  <a:srgbClr val="132D36"/>
                </a:solidFill>
                <a:latin typeface="Arial"/>
                <a:ea typeface="Arial"/>
                <a:cs typeface="Arial"/>
              </a:rPr>
              <a:t>Share</a:t>
            </a:r>
            <a:endParaRPr sz="2000"/>
          </a:p>
        </p:txBody>
      </p:sp>
      <p:sp>
        <p:nvSpPr>
          <p:cNvPr id="27" name="Text 21">
            <a:extLst xmlns:a="http://schemas.openxmlformats.org/drawingml/2006/main">
              <a:ext uri="{FF2B5EF4-FFF2-40B4-BE49-F238E27FC236}">
                <a16:creationId xmlns:a16="http://schemas.microsoft.com/office/drawing/2014/main" id="{55127FBE-86A9-4914-A632-A984898E7002}"/>
              </a:ext>
            </a:extLst>
          </p:cNvPr>
          <p:cNvSpPr>
            <a:spLocks xmlns:a="http://schemas.openxmlformats.org/drawingml/2006/main" noGrp="1"/>
          </p:cNvSpPr>
          <p:nvPr/>
        </p:nvSpPr>
        <p:spPr>
          <a:xfrm xmlns:a="http://schemas.openxmlformats.org/drawingml/2006/main">
            <a:off x="7507224" y="3063240"/>
            <a:ext cx="1737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Approve the evidence and message. Open WhatsApp, attach the card and send.</a:t>
            </a:r>
            <a:endParaRPr sz="1400"/>
          </a:p>
        </p:txBody>
      </p:sp>
      <p:sp>
        <p:nvSpPr>
          <p:cNvPr id="28" name="Step card 5">
            <a:extLst xmlns:a="http://schemas.openxmlformats.org/drawingml/2006/main">
              <a:ext uri="{FF2B5EF4-FFF2-40B4-BE49-F238E27FC236}">
                <a16:creationId xmlns:a16="http://schemas.microsoft.com/office/drawing/2014/main" id="{5727D749-637D-4876-9BF9-998591F89E0A}"/>
              </a:ext>
            </a:extLst>
          </p:cNvPr>
          <p:cNvSpPr>
            <a:spLocks xmlns:a="http://schemas.openxmlformats.org/drawingml/2006/main" noGrp="1"/>
          </p:cNvSpPr>
          <p:nvPr/>
        </p:nvSpPr>
        <p:spPr>
          <a:xfrm xmlns:a="http://schemas.openxmlformats.org/drawingml/2006/main">
            <a:off x="9582912" y="1645920"/>
            <a:ext cx="2057400" cy="2971800"/>
          </a:xfrm>
          <a:prstGeom xmlns:a="http://schemas.openxmlformats.org/drawingml/2006/main" prst="roundRect">
            <a:avLst>
              <a:gd name="adj" fmla="val 5333"/>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9" name="Track circle">
            <a:extLst xmlns:a="http://schemas.openxmlformats.org/drawingml/2006/main">
              <a:ext uri="{FF2B5EF4-FFF2-40B4-BE49-F238E27FC236}">
                <a16:creationId xmlns:a16="http://schemas.microsoft.com/office/drawing/2014/main" id="{19EC8C8C-BB2F-4F57-9D9C-8918F7201784}"/>
              </a:ext>
            </a:extLst>
          </p:cNvPr>
          <p:cNvSpPr>
            <a:spLocks xmlns:a="http://schemas.openxmlformats.org/drawingml/2006/main" noGrp="1"/>
          </p:cNvSpPr>
          <p:nvPr/>
        </p:nvSpPr>
        <p:spPr>
          <a:xfrm xmlns:a="http://schemas.openxmlformats.org/drawingml/2006/main">
            <a:off x="9765792" y="1847088"/>
            <a:ext cx="566928" cy="566928"/>
          </a:xfrm>
          <a:prstGeom xmlns:a="http://schemas.openxmlformats.org/drawingml/2006/main" prst="ellipse">
            <a:avLst/>
          </a:prstGeom>
          <a:solidFill xmlns:a="http://schemas.openxmlformats.org/drawingml/2006/main">
            <a:srgbClr val="007E80"/>
          </a:solidFill>
        </p:spPr>
      </p:sp>
      <p:pic>
        <p:nvPicPr>
          <p:cNvPr id="30" name="Image 4">
            <a:extLst xmlns:a="http://schemas.openxmlformats.org/drawingml/2006/main">
              <a:ext uri="{FF2B5EF4-FFF2-40B4-BE49-F238E27FC236}">
                <a16:creationId xmlns:a16="http://schemas.microsoft.com/office/drawing/2014/main" id="{CBC05592-F79D-4D41-994C-7ABC8761E50D}"/>
              </a:ext>
            </a:extLst>
          </p:cNvPr>
          <p:cNvPicPr>
            <a:picLocks xmlns:a="http://schemas.openxmlformats.org/drawingml/2006/main" noChangeAspect="1"/>
          </p:cNvPicPr>
          <p:nvPr/>
        </p:nvPicPr>
        <p:blipFill>
          <a:blip xmlns:r="http://schemas.openxmlformats.org/officeDocument/2006/relationships" xmlns:a="http://schemas.openxmlformats.org/drawingml/2006/main" r:embed="Ref72defd0e1d45d3"/>
          <a:stretch xmlns:a="http://schemas.openxmlformats.org/drawingml/2006/main">
            <a:fillRect l="0" t="0" r="0" b="0"/>
          </a:stretch>
        </p:blipFill>
        <p:spPr>
          <a:xfrm xmlns:a="http://schemas.openxmlformats.org/drawingml/2006/main">
            <a:off x="9901855" y="1983151"/>
            <a:ext cx="294803" cy="294803"/>
          </a:xfrm>
          <a:prstGeom xmlns:a="http://schemas.openxmlformats.org/drawingml/2006/main" prst="rect">
            <a:avLst/>
          </a:prstGeom>
        </p:spPr>
      </p:pic>
      <p:sp>
        <p:nvSpPr>
          <p:cNvPr id="31" name="Text 24">
            <a:extLst xmlns:a="http://schemas.openxmlformats.org/drawingml/2006/main">
              <a:ext uri="{FF2B5EF4-FFF2-40B4-BE49-F238E27FC236}">
                <a16:creationId xmlns:a16="http://schemas.microsoft.com/office/drawing/2014/main" id="{D81D31E9-A397-4148-B1A4-1D305ABDB2F2}"/>
              </a:ext>
            </a:extLst>
          </p:cNvPr>
          <p:cNvSpPr>
            <a:spLocks xmlns:a="http://schemas.openxmlformats.org/drawingml/2006/main" noGrp="1"/>
          </p:cNvSpPr>
          <p:nvPr/>
        </p:nvSpPr>
        <p:spPr>
          <a:xfrm xmlns:a="http://schemas.openxmlformats.org/drawingml/2006/main">
            <a:off x="10497312" y="20116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rPr>
              <a:t>05</a:t>
            </a:r>
            <a:endParaRPr sz="1400"/>
          </a:p>
        </p:txBody>
      </p:sp>
      <p:sp>
        <p:nvSpPr>
          <p:cNvPr id="32" name="Text 25">
            <a:extLst xmlns:a="http://schemas.openxmlformats.org/drawingml/2006/main">
              <a:ext uri="{FF2B5EF4-FFF2-40B4-BE49-F238E27FC236}">
                <a16:creationId xmlns:a16="http://schemas.microsoft.com/office/drawing/2014/main" id="{79011ED8-8E89-4646-B300-45DF3C94E519}"/>
              </a:ext>
            </a:extLst>
          </p:cNvPr>
          <p:cNvSpPr>
            <a:spLocks xmlns:a="http://schemas.openxmlformats.org/drawingml/2006/main" noGrp="1"/>
          </p:cNvSpPr>
          <p:nvPr/>
        </p:nvSpPr>
        <p:spPr>
          <a:xfrm xmlns:a="http://schemas.openxmlformats.org/drawingml/2006/main">
            <a:off x="9765792" y="2606040"/>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132D36"/>
                </a:solidFill>
                <a:latin typeface="Arial"/>
                <a:ea typeface="Arial"/>
                <a:cs typeface="Arial"/>
              </a:defRPr>
            </a:defPPr>
            <a:lvl1pPr algn="l">
              <a:buNone/>
              <a:defRPr sz="2000" b="1" i="0">
                <a:solidFill>
                  <a:srgbClr val="132D36"/>
                </a:solidFill>
                <a:latin typeface="Arial"/>
                <a:ea typeface="Arial"/>
                <a:cs typeface="Arial"/>
              </a:defRPr>
            </a:lvl1pPr>
            <a:lvl2pPr algn="l">
              <a:buNone/>
              <a:defRPr sz="2000" b="1" i="0">
                <a:solidFill>
                  <a:srgbClr val="132D36"/>
                </a:solidFill>
                <a:latin typeface="Arial"/>
                <a:ea typeface="Arial"/>
                <a:cs typeface="Arial"/>
              </a:defRPr>
            </a:lvl2pPr>
            <a:lvl3pPr algn="l">
              <a:buNone/>
              <a:defRPr sz="2000" b="1" i="0">
                <a:solidFill>
                  <a:srgbClr val="132D36"/>
                </a:solidFill>
                <a:latin typeface="Arial"/>
                <a:ea typeface="Arial"/>
                <a:cs typeface="Arial"/>
              </a:defRPr>
            </a:lvl3pPr>
            <a:lvl4pPr algn="l">
              <a:buNone/>
              <a:defRPr sz="2000" b="1" i="0">
                <a:solidFill>
                  <a:srgbClr val="132D36"/>
                </a:solidFill>
                <a:latin typeface="Arial"/>
                <a:ea typeface="Arial"/>
                <a:cs typeface="Arial"/>
              </a:defRPr>
            </a:lvl4pPr>
            <a:lvl5pPr algn="l">
              <a:buNone/>
              <a:defRPr sz="2000" b="1" i="0">
                <a:solidFill>
                  <a:srgbClr val="132D36"/>
                </a:solidFill>
                <a:latin typeface="Arial"/>
                <a:ea typeface="Arial"/>
                <a:cs typeface="Arial"/>
              </a:defRPr>
            </a:lvl5pPr>
            <a:lvl6pPr algn="l">
              <a:buNone/>
              <a:defRPr sz="2000" b="1" i="0">
                <a:solidFill>
                  <a:srgbClr val="132D36"/>
                </a:solidFill>
                <a:latin typeface="Arial"/>
                <a:ea typeface="Arial"/>
                <a:cs typeface="Arial"/>
              </a:defRPr>
            </a:lvl6pPr>
            <a:lvl7pPr algn="l">
              <a:buNone/>
              <a:defRPr sz="2000" b="1" i="0">
                <a:solidFill>
                  <a:srgbClr val="132D36"/>
                </a:solidFill>
                <a:latin typeface="Arial"/>
                <a:ea typeface="Arial"/>
                <a:cs typeface="Arial"/>
              </a:defRPr>
            </a:lvl7pPr>
            <a:lvl8pPr algn="l">
              <a:buNone/>
              <a:defRPr sz="2000" b="1" i="0">
                <a:solidFill>
                  <a:srgbClr val="132D36"/>
                </a:solidFill>
                <a:latin typeface="Arial"/>
                <a:ea typeface="Arial"/>
                <a:cs typeface="Arial"/>
              </a:defRPr>
            </a:lvl8pPr>
            <a:lvl9pPr algn="l">
              <a:buNone/>
              <a:defRPr sz="2000" b="1" i="0">
                <a:solidFill>
                  <a:srgbClr val="132D36"/>
                </a:solidFill>
                <a:latin typeface="Arial"/>
                <a:ea typeface="Arial"/>
                <a:cs typeface="Arial"/>
              </a:defRPr>
            </a:lvl9pPr>
          </a:lstStyle>
          <a:p xmlns:a="http://schemas.openxmlformats.org/drawingml/2006/main">
            <a:pPr marL="0" indent="0" algn="l">
              <a:buNone/>
              <a:defRPr sz="2000" b="1" i="0">
                <a:solidFill>
                  <a:srgbClr val="132D36"/>
                </a:solidFill>
                <a:latin typeface="Arial"/>
                <a:ea typeface="Arial"/>
                <a:cs typeface="Arial"/>
              </a:defRPr>
            </a:pPr>
            <a:r>
              <a:rPr sz="2000" b="1" i="0">
                <a:solidFill>
                  <a:srgbClr val="132D36"/>
                </a:solidFill>
                <a:latin typeface="Arial"/>
                <a:ea typeface="Arial"/>
                <a:cs typeface="Arial"/>
              </a:rPr>
              <a:t>Verify</a:t>
            </a:r>
            <a:endParaRPr sz="2000"/>
          </a:p>
        </p:txBody>
      </p:sp>
      <p:sp>
        <p:nvSpPr>
          <p:cNvPr id="33" name="Text 26">
            <a:extLst xmlns:a="http://schemas.openxmlformats.org/drawingml/2006/main">
              <a:ext uri="{FF2B5EF4-FFF2-40B4-BE49-F238E27FC236}">
                <a16:creationId xmlns:a16="http://schemas.microsoft.com/office/drawing/2014/main" id="{43F28EC7-9EFF-43A2-B9A2-D387D8E398AB}"/>
              </a:ext>
            </a:extLst>
          </p:cNvPr>
          <p:cNvSpPr>
            <a:spLocks xmlns:a="http://schemas.openxmlformats.org/drawingml/2006/main" noGrp="1"/>
          </p:cNvSpPr>
          <p:nvPr/>
        </p:nvSpPr>
        <p:spPr>
          <a:xfrm xmlns:a="http://schemas.openxmlformats.org/drawingml/2006/main">
            <a:off x="9765792" y="3063240"/>
            <a:ext cx="1737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Record “adjust next bill.” Set a date. Verify the credit or documented refund.</a:t>
            </a:r>
            <a:endParaRPr sz="1400"/>
          </a:p>
        </p:txBody>
      </p:sp>
      <p:sp>
        <p:nvSpPr>
          <p:cNvPr id="34" name="Principle bar">
            <a:extLst xmlns:a="http://schemas.openxmlformats.org/drawingml/2006/main">
              <a:ext uri="{FF2B5EF4-FFF2-40B4-BE49-F238E27FC236}">
                <a16:creationId xmlns:a16="http://schemas.microsoft.com/office/drawing/2014/main" id="{F3D006DF-5101-48AE-9D4B-140451FA9C2E}"/>
              </a:ext>
            </a:extLst>
          </p:cNvPr>
          <p:cNvSpPr>
            <a:spLocks xmlns:a="http://schemas.openxmlformats.org/drawingml/2006/main" noGrp="1"/>
          </p:cNvSpPr>
          <p:nvPr/>
        </p:nvSpPr>
        <p:spPr>
          <a:xfrm xmlns:a="http://schemas.openxmlformats.org/drawingml/2006/main">
            <a:off x="548640" y="4846320"/>
            <a:ext cx="11091672" cy="960120"/>
          </a:xfrm>
          <a:prstGeom xmlns:a="http://schemas.openxmlformats.org/drawingml/2006/main" prst="roundRect">
            <a:avLst>
              <a:gd name="adj" fmla="val 11429"/>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35" name="Text 28">
            <a:extLst xmlns:a="http://schemas.openxmlformats.org/drawingml/2006/main">
              <a:ext uri="{FF2B5EF4-FFF2-40B4-BE49-F238E27FC236}">
                <a16:creationId xmlns:a16="http://schemas.microsoft.com/office/drawing/2014/main" id="{0C93494B-3633-444B-A934-4745E33A182B}"/>
              </a:ext>
            </a:extLst>
          </p:cNvPr>
          <p:cNvSpPr>
            <a:spLocks xmlns:a="http://schemas.openxmlformats.org/drawingml/2006/main" noGrp="1"/>
          </p:cNvSpPr>
          <p:nvPr/>
        </p:nvSpPr>
        <p:spPr>
          <a:xfrm xmlns:a="http://schemas.openxmlformats.org/drawingml/2006/main">
            <a:off x="868680" y="4846320"/>
            <a:ext cx="58521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chemeClr val="bg1"/>
                </a:solidFill>
              </a:rPr>
              <a:t>AI reads. Rules calculate. You approve.</a:t>
            </a:r>
            <a:endParaRPr sz="2400"/>
          </a:p>
        </p:txBody>
      </p:sp>
      <p:sp>
        <p:nvSpPr>
          <p:cNvPr id="36" name="Text 29">
            <a:extLst xmlns:a="http://schemas.openxmlformats.org/drawingml/2006/main">
              <a:ext uri="{FF2B5EF4-FFF2-40B4-BE49-F238E27FC236}">
                <a16:creationId xmlns:a16="http://schemas.microsoft.com/office/drawing/2014/main" id="{A62EF5FE-0F71-4EA8-B5C5-8684EF5DCA37}"/>
              </a:ext>
            </a:extLst>
          </p:cNvPr>
          <p:cNvSpPr>
            <a:spLocks xmlns:a="http://schemas.openxmlformats.org/drawingml/2006/main" noGrp="1"/>
          </p:cNvSpPr>
          <p:nvPr/>
        </p:nvSpPr>
        <p:spPr>
          <a:xfrm xmlns:a="http://schemas.openxmlformats.org/drawingml/2006/main">
            <a:off x="6858000" y="4846320"/>
            <a:ext cx="45720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0" i="0">
                <a:solidFill>
                  <a:srgbClr val="A9BDCD"/>
                </a:solidFill>
                <a:latin typeface="Arial"/>
                <a:ea typeface="Arial"/>
                <a:cs typeface="Arial"/>
              </a:defRPr>
            </a:defPPr>
            <a:lvl1pPr algn="l">
              <a:buNone/>
              <a:defRPr sz="1400" b="0" i="0">
                <a:solidFill>
                  <a:srgbClr val="A9BDCD"/>
                </a:solidFill>
                <a:latin typeface="Arial"/>
                <a:ea typeface="Arial"/>
                <a:cs typeface="Arial"/>
              </a:defRPr>
            </a:lvl1pPr>
            <a:lvl2pPr algn="l">
              <a:buNone/>
              <a:defRPr sz="1400" b="0" i="0">
                <a:solidFill>
                  <a:srgbClr val="A9BDCD"/>
                </a:solidFill>
                <a:latin typeface="Arial"/>
                <a:ea typeface="Arial"/>
                <a:cs typeface="Arial"/>
              </a:defRPr>
            </a:lvl2pPr>
            <a:lvl3pPr algn="l">
              <a:buNone/>
              <a:defRPr sz="1400" b="0" i="0">
                <a:solidFill>
                  <a:srgbClr val="A9BDCD"/>
                </a:solidFill>
                <a:latin typeface="Arial"/>
                <a:ea typeface="Arial"/>
                <a:cs typeface="Arial"/>
              </a:defRPr>
            </a:lvl3pPr>
            <a:lvl4pPr algn="l">
              <a:buNone/>
              <a:defRPr sz="1400" b="0" i="0">
                <a:solidFill>
                  <a:srgbClr val="A9BDCD"/>
                </a:solidFill>
                <a:latin typeface="Arial"/>
                <a:ea typeface="Arial"/>
                <a:cs typeface="Arial"/>
              </a:defRPr>
            </a:lvl4pPr>
            <a:lvl5pPr algn="l">
              <a:buNone/>
              <a:defRPr sz="1400" b="0" i="0">
                <a:solidFill>
                  <a:srgbClr val="A9BDCD"/>
                </a:solidFill>
                <a:latin typeface="Arial"/>
                <a:ea typeface="Arial"/>
                <a:cs typeface="Arial"/>
              </a:defRPr>
            </a:lvl5pPr>
            <a:lvl6pPr algn="l">
              <a:buNone/>
              <a:defRPr sz="1400" b="0" i="0">
                <a:solidFill>
                  <a:srgbClr val="A9BDCD"/>
                </a:solidFill>
                <a:latin typeface="Arial"/>
                <a:ea typeface="Arial"/>
                <a:cs typeface="Arial"/>
              </a:defRPr>
            </a:lvl6pPr>
            <a:lvl7pPr algn="l">
              <a:buNone/>
              <a:defRPr sz="1400" b="0" i="0">
                <a:solidFill>
                  <a:srgbClr val="A9BDCD"/>
                </a:solidFill>
                <a:latin typeface="Arial"/>
                <a:ea typeface="Arial"/>
                <a:cs typeface="Arial"/>
              </a:defRPr>
            </a:lvl7pPr>
            <a:lvl8pPr algn="l">
              <a:buNone/>
              <a:defRPr sz="1400" b="0" i="0">
                <a:solidFill>
                  <a:srgbClr val="A9BDCD"/>
                </a:solidFill>
                <a:latin typeface="Arial"/>
                <a:ea typeface="Arial"/>
                <a:cs typeface="Arial"/>
              </a:defRPr>
            </a:lvl8pPr>
            <a:lvl9pPr algn="l">
              <a:buNone/>
              <a:defRPr sz="1400" b="0" i="0">
                <a:solidFill>
                  <a:srgbClr val="A9BDCD"/>
                </a:solidFill>
                <a:latin typeface="Arial"/>
                <a:ea typeface="Arial"/>
                <a:cs typeface="Arial"/>
              </a:defRPr>
            </a:lvl9pPr>
          </a:lstStyle>
          <a:p xmlns:a="http://schemas.openxmlformats.org/drawingml/2006/main">
            <a:pPr marL="0" indent="0" algn="l">
              <a:buNone/>
              <a:defRPr sz="1400" b="0" i="0">
                <a:solidFill>
                  <a:srgbClr val="A9BDCD"/>
                </a:solidFill>
                <a:latin typeface="Arial"/>
                <a:ea typeface="Arial"/>
                <a:cs typeface="Arial"/>
              </a:defRPr>
            </a:pPr>
            <a:r>
              <a:rPr sz="1400" b="0" i="0">
                <a:solidFill>
                  <a:srgbClr val="A9BDCD"/>
                </a:solidFill>
                <a:latin typeface="Arial"/>
                <a:ea typeface="Arial"/>
                <a:cs typeface="Arial"/>
              </a:rPr>
              <a:t>The merchant approves and sends. Record “sent” only after the merchant confirms sharing.</a:t>
            </a:r>
            <a:endParaRPr sz="1400"/>
          </a:p>
        </p:txBody>
      </p:sp>
      <p:sp>
        <p:nvSpPr>
          <p:cNvPr id="37" name="Text 30">
            <a:extLst xmlns:a="http://schemas.openxmlformats.org/drawingml/2006/main">
              <a:ext uri="{FF2B5EF4-FFF2-40B4-BE49-F238E27FC236}">
                <a16:creationId xmlns:a16="http://schemas.microsoft.com/office/drawing/2014/main" id="{D0B657E7-6ADB-42E9-8D97-A434DA8C91E6}"/>
              </a:ext>
            </a:extLst>
          </p:cNvPr>
          <p:cNvSpPr>
            <a:spLocks xmlns:a="http://schemas.openxmlformats.org/drawingml/2006/main" noGrp="1"/>
          </p:cNvSpPr>
          <p:nvPr/>
        </p:nvSpPr>
        <p:spPr>
          <a:xfrm xmlns:a="http://schemas.openxmlformats.org/drawingml/2006/main">
            <a:off x="548640" y="598932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0" i="0">
                <a:solidFill>
                  <a:srgbClr val="53676C"/>
                </a:solidFill>
                <a:latin typeface="Arial"/>
                <a:ea typeface="Arial"/>
                <a:cs typeface="Arial"/>
              </a:defRPr>
            </a:defPPr>
            <a:lvl1pPr algn="l">
              <a:buNone/>
              <a:defRPr sz="1200" b="0" i="0">
                <a:solidFill>
                  <a:srgbClr val="53676C"/>
                </a:solidFill>
                <a:latin typeface="Arial"/>
                <a:ea typeface="Arial"/>
                <a:cs typeface="Arial"/>
              </a:defRPr>
            </a:lvl1pPr>
            <a:lvl2pPr algn="l">
              <a:buNone/>
              <a:defRPr sz="1200" b="0" i="0">
                <a:solidFill>
                  <a:srgbClr val="53676C"/>
                </a:solidFill>
                <a:latin typeface="Arial"/>
                <a:ea typeface="Arial"/>
                <a:cs typeface="Arial"/>
              </a:defRPr>
            </a:lvl2pPr>
            <a:lvl3pPr algn="l">
              <a:buNone/>
              <a:defRPr sz="1200" b="0" i="0">
                <a:solidFill>
                  <a:srgbClr val="53676C"/>
                </a:solidFill>
                <a:latin typeface="Arial"/>
                <a:ea typeface="Arial"/>
                <a:cs typeface="Arial"/>
              </a:defRPr>
            </a:lvl3pPr>
            <a:lvl4pPr algn="l">
              <a:buNone/>
              <a:defRPr sz="1200" b="0" i="0">
                <a:solidFill>
                  <a:srgbClr val="53676C"/>
                </a:solidFill>
                <a:latin typeface="Arial"/>
                <a:ea typeface="Arial"/>
                <a:cs typeface="Arial"/>
              </a:defRPr>
            </a:lvl4pPr>
            <a:lvl5pPr algn="l">
              <a:buNone/>
              <a:defRPr sz="1200" b="0" i="0">
                <a:solidFill>
                  <a:srgbClr val="53676C"/>
                </a:solidFill>
                <a:latin typeface="Arial"/>
                <a:ea typeface="Arial"/>
                <a:cs typeface="Arial"/>
              </a:defRPr>
            </a:lvl5pPr>
            <a:lvl6pPr algn="l">
              <a:buNone/>
              <a:defRPr sz="1200" b="0" i="0">
                <a:solidFill>
                  <a:srgbClr val="53676C"/>
                </a:solidFill>
                <a:latin typeface="Arial"/>
                <a:ea typeface="Arial"/>
                <a:cs typeface="Arial"/>
              </a:defRPr>
            </a:lvl6pPr>
            <a:lvl7pPr algn="l">
              <a:buNone/>
              <a:defRPr sz="1200" b="0" i="0">
                <a:solidFill>
                  <a:srgbClr val="53676C"/>
                </a:solidFill>
                <a:latin typeface="Arial"/>
                <a:ea typeface="Arial"/>
                <a:cs typeface="Arial"/>
              </a:defRPr>
            </a:lvl7pPr>
            <a:lvl8pPr algn="l">
              <a:buNone/>
              <a:defRPr sz="1200" b="0" i="0">
                <a:solidFill>
                  <a:srgbClr val="53676C"/>
                </a:solidFill>
                <a:latin typeface="Arial"/>
                <a:ea typeface="Arial"/>
                <a:cs typeface="Arial"/>
              </a:defRPr>
            </a:lvl8pPr>
            <a:lvl9pPr algn="l">
              <a:buNone/>
              <a:defRPr sz="1200" b="0" i="0">
                <a:solidFill>
                  <a:srgbClr val="53676C"/>
                </a:solidFill>
                <a:latin typeface="Arial"/>
                <a:ea typeface="Arial"/>
                <a:cs typeface="Arial"/>
              </a:defRPr>
            </a:lvl9pPr>
          </a:lstStyle>
          <a:p xmlns:a="http://schemas.openxmlformats.org/drawingml/2006/main">
            <a:pPr marL="0" indent="0" algn="l">
              <a:buNone/>
              <a:defRPr sz="1200" b="0" i="0">
                <a:solidFill>
                  <a:srgbClr val="53676C"/>
                </a:solidFill>
                <a:latin typeface="Arial"/>
                <a:ea typeface="Arial"/>
                <a:cs typeface="Arial"/>
              </a:defRPr>
            </a:pPr>
            <a:r>
              <a:rPr sz="1200" b="0" i="0">
                <a:solidFill>
                  <a:srgbClr val="53676C"/>
                </a:solidFill>
                <a:latin typeface="Arial"/>
                <a:ea typeface="Arial"/>
                <a:cs typeface="Arial"/>
              </a:rPr>
              <a:t>Prototype plan: one invoice format, synthetic bills, English voice with text fallback.</a:t>
            </a:r>
            <a:endParaRPr sz="1200"/>
          </a:p>
        </p:txBody>
      </p:sp>
      <p:sp>
        <p:nvSpPr>
          <p:cNvPr id="38" name="Slide Number Placeholder 0">
            <a:extLst xmlns:a="http://schemas.openxmlformats.org/drawingml/2006/main">
              <a:ext uri="{FF2B5EF4-FFF2-40B4-BE49-F238E27FC236}">
                <a16:creationId xmlns:a16="http://schemas.microsoft.com/office/drawing/2014/main" id="{60B1EA39-F0B1-4660-B650-CAABE0B83176}"/>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8224424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8815CE-7A43-4AF3-ABE2-B13E8DAE0407}"/>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PROPOSED SOLUTION  ·  PREVIEW</a:t>
            </a:r>
            <a:endParaRPr sz="1400"/>
          </a:p>
        </p:txBody>
      </p:sp>
      <p:sp>
        <p:nvSpPr>
          <p:cNvPr id="3" name="Text 0">
            <a:extLst xmlns:a="http://schemas.openxmlformats.org/drawingml/2006/main">
              <a:ext uri="{FF2B5EF4-FFF2-40B4-BE49-F238E27FC236}">
                <a16:creationId xmlns:a16="http://schemas.microsoft.com/office/drawing/2014/main" id="{8D149E1A-68B8-4551-9EFB-A57681D08EF7}"/>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600" b="1">
                <a:solidFill>
                  <a:schemeClr val="tx1"/>
                </a:solidFill>
              </a:rPr>
              <a:t>What the merchant sees</a:t>
            </a:r>
            <a:endParaRPr sz="3600"/>
          </a:p>
        </p:txBody>
      </p:sp>
      <p:sp>
        <p:nvSpPr>
          <p:cNvPr id="4" name="Phone body">
            <a:extLst xmlns:a="http://schemas.openxmlformats.org/drawingml/2006/main">
              <a:ext uri="{FF2B5EF4-FFF2-40B4-BE49-F238E27FC236}">
                <a16:creationId xmlns:a16="http://schemas.microsoft.com/office/drawing/2014/main" id="{8590B851-E9F3-4F6C-8CF0-972A8B536601}"/>
              </a:ext>
            </a:extLst>
          </p:cNvPr>
          <p:cNvSpPr>
            <a:spLocks xmlns:a="http://schemas.openxmlformats.org/drawingml/2006/main" noGrp="1"/>
          </p:cNvSpPr>
          <p:nvPr/>
        </p:nvSpPr>
        <p:spPr>
          <a:xfrm xmlns:a="http://schemas.openxmlformats.org/drawingml/2006/main">
            <a:off x="822960" y="1508760"/>
            <a:ext cx="3017520" cy="3931920"/>
          </a:xfrm>
          <a:prstGeom xmlns:a="http://schemas.openxmlformats.org/drawingml/2006/main" prst="roundRect">
            <a:avLst>
              <a:gd name="adj" fmla="val 9697"/>
            </a:avLst>
          </a:prstGeom>
          <a:solidFill xmlns:a="http://schemas.openxmlformats.org/drawingml/2006/main">
            <a:srgbClr val="132D36"/>
          </a:solidFill>
          <a:effectLst xmlns:a="http://schemas.openxmlformats.org/drawingml/2006/main">
            <a:outerShdw blurRad="127000" dist="38100" dir="5400000" sx="100000" sy="100000" kx="0" ky="0" algn="bl" rotWithShape="0">
              <a:srgbClr val="000000">
                <a:alpha val="12000"/>
              </a:srgbClr>
            </a:outerShdw>
          </a:effectLst>
        </p:spPr>
      </p:sp>
      <p:sp>
        <p:nvSpPr>
          <p:cNvPr id="5" name="Phone screen">
            <a:extLst xmlns:a="http://schemas.openxmlformats.org/drawingml/2006/main">
              <a:ext uri="{FF2B5EF4-FFF2-40B4-BE49-F238E27FC236}">
                <a16:creationId xmlns:a16="http://schemas.microsoft.com/office/drawing/2014/main" id="{646918F6-20FA-4696-820F-49DE28DBCB43}"/>
              </a:ext>
            </a:extLst>
          </p:cNvPr>
          <p:cNvSpPr>
            <a:spLocks xmlns:a="http://schemas.openxmlformats.org/drawingml/2006/main" noGrp="1"/>
          </p:cNvSpPr>
          <p:nvPr/>
        </p:nvSpPr>
        <p:spPr>
          <a:xfrm xmlns:a="http://schemas.openxmlformats.org/drawingml/2006/main">
            <a:off x="932688" y="1618488"/>
            <a:ext cx="2798064" cy="3712464"/>
          </a:xfrm>
          <a:prstGeom xmlns:a="http://schemas.openxmlformats.org/drawingml/2006/main" prst="roundRect">
            <a:avLst>
              <a:gd name="adj" fmla="val 7190"/>
            </a:avLst>
          </a:prstGeom>
          <a:solidFill xmlns:a="http://schemas.openxmlformats.org/drawingml/2006/main">
            <a:schemeClr val="bg2"/>
          </a:solidFill>
        </p:spPr>
      </p:sp>
      <p:sp>
        <p:nvSpPr>
          <p:cNvPr id="6" name="Phone notch">
            <a:extLst xmlns:a="http://schemas.openxmlformats.org/drawingml/2006/main">
              <a:ext uri="{FF2B5EF4-FFF2-40B4-BE49-F238E27FC236}">
                <a16:creationId xmlns:a16="http://schemas.microsoft.com/office/drawing/2014/main" id="{4F9FCAC6-00C1-4A06-8F9D-F08285E9AB99}"/>
              </a:ext>
            </a:extLst>
          </p:cNvPr>
          <p:cNvSpPr>
            <a:spLocks xmlns:a="http://schemas.openxmlformats.org/drawingml/2006/main" noGrp="1"/>
          </p:cNvSpPr>
          <p:nvPr/>
        </p:nvSpPr>
        <p:spPr>
          <a:xfrm xmlns:a="http://schemas.openxmlformats.org/drawingml/2006/main">
            <a:off x="1965960" y="1673352"/>
            <a:ext cx="731520" cy="73152"/>
          </a:xfrm>
          <a:prstGeom xmlns:a="http://schemas.openxmlformats.org/drawingml/2006/main" prst="roundRect">
            <a:avLst>
              <a:gd name="adj" fmla="val 50000"/>
            </a:avLst>
          </a:prstGeom>
          <a:solidFill xmlns:a="http://schemas.openxmlformats.org/drawingml/2006/main">
            <a:srgbClr val="132D36"/>
          </a:solidFill>
        </p:spPr>
      </p:sp>
      <p:sp>
        <p:nvSpPr>
          <p:cNvPr id="7" name="Text 5">
            <a:extLst xmlns:a="http://schemas.openxmlformats.org/drawingml/2006/main">
              <a:ext uri="{FF2B5EF4-FFF2-40B4-BE49-F238E27FC236}">
                <a16:creationId xmlns:a16="http://schemas.microsoft.com/office/drawing/2014/main" id="{9D8342FC-8AA9-48F6-A290-96C2C52D425D}"/>
              </a:ext>
            </a:extLst>
          </p:cNvPr>
          <p:cNvSpPr>
            <a:spLocks xmlns:a="http://schemas.openxmlformats.org/drawingml/2006/main" noGrp="1"/>
          </p:cNvSpPr>
          <p:nvPr/>
        </p:nvSpPr>
        <p:spPr>
          <a:xfrm xmlns:a="http://schemas.openxmlformats.org/drawingml/2006/main">
            <a:off x="1115568" y="193852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A-104  ·  Count what arrived</a:t>
            </a:r>
            <a:endParaRPr sz="1200"/>
          </a:p>
        </p:txBody>
      </p:sp>
      <p:sp>
        <p:nvSpPr>
          <p:cNvPr id="8" name="Line 1">
            <a:extLst xmlns:a="http://schemas.openxmlformats.org/drawingml/2006/main">
              <a:ext uri="{FF2B5EF4-FFF2-40B4-BE49-F238E27FC236}">
                <a16:creationId xmlns:a16="http://schemas.microsoft.com/office/drawing/2014/main" id="{3B3D9555-6BEF-41CC-980A-4F2742F2EACE}"/>
              </a:ext>
            </a:extLst>
          </p:cNvPr>
          <p:cNvSpPr>
            <a:spLocks xmlns:a="http://schemas.openxmlformats.org/drawingml/2006/main" noGrp="1"/>
          </p:cNvSpPr>
          <p:nvPr/>
        </p:nvSpPr>
        <p:spPr>
          <a:xfrm xmlns:a="http://schemas.openxmlformats.org/drawingml/2006/main">
            <a:off x="1069848" y="2304288"/>
            <a:ext cx="2523744" cy="621792"/>
          </a:xfrm>
          <a:prstGeom xmlns:a="http://schemas.openxmlformats.org/drawingml/2006/main" prst="roundRect">
            <a:avLst>
              <a:gd name="adj" fmla="val 11765"/>
            </a:avLst>
          </a:prstGeom>
          <a:solidFill xmlns:a="http://schemas.openxmlformats.org/drawingml/2006/main">
            <a:schemeClr val="accent3">
              <a:alpha val="40000"/>
            </a:schemeClr>
          </a:solidFill>
        </p:spPr>
      </p:sp>
      <p:sp>
        <p:nvSpPr>
          <p:cNvPr id="9" name="Text 7">
            <a:extLst xmlns:a="http://schemas.openxmlformats.org/drawingml/2006/main">
              <a:ext uri="{FF2B5EF4-FFF2-40B4-BE49-F238E27FC236}">
                <a16:creationId xmlns:a16="http://schemas.microsoft.com/office/drawing/2014/main" id="{D61BEF2E-5D48-4095-8908-473CDC514752}"/>
              </a:ext>
            </a:extLst>
          </p:cNvPr>
          <p:cNvSpPr>
            <a:spLocks xmlns:a="http://schemas.openxmlformats.org/drawingml/2006/main" noGrp="1"/>
          </p:cNvSpPr>
          <p:nvPr/>
        </p:nvSpPr>
        <p:spPr>
          <a:xfrm xmlns:a="http://schemas.openxmlformats.org/drawingml/2006/main">
            <a:off x="1188720" y="2377440"/>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Biscuits (pack)</a:t>
            </a:r>
            <a:endParaRPr sz="1200"/>
          </a:p>
        </p:txBody>
      </p:sp>
      <p:sp>
        <p:nvSpPr>
          <p:cNvPr id="10" name="Text 8">
            <a:extLst xmlns:a="http://schemas.openxmlformats.org/drawingml/2006/main">
              <a:ext uri="{FF2B5EF4-FFF2-40B4-BE49-F238E27FC236}">
                <a16:creationId xmlns:a16="http://schemas.microsoft.com/office/drawing/2014/main" id="{E6718E2E-4D86-41E4-84CD-E6F3A8DDEEB8}"/>
              </a:ext>
            </a:extLst>
          </p:cNvPr>
          <p:cNvSpPr>
            <a:spLocks xmlns:a="http://schemas.openxmlformats.org/drawingml/2006/main" noGrp="1"/>
          </p:cNvSpPr>
          <p:nvPr/>
        </p:nvSpPr>
        <p:spPr>
          <a:xfrm xmlns:a="http://schemas.openxmlformats.org/drawingml/2006/main">
            <a:off x="1188720" y="2633472"/>
            <a:ext cx="1737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accent5"/>
                </a:solidFill>
              </a:rPr>
              <a:t>billed 12  ·  short by 2</a:t>
            </a:r>
            <a:endParaRPr sz="1100"/>
          </a:p>
        </p:txBody>
      </p:sp>
      <p:sp>
        <p:nvSpPr>
          <p:cNvPr id="11" name="Qty box">
            <a:extLst xmlns:a="http://schemas.openxmlformats.org/drawingml/2006/main">
              <a:ext uri="{FF2B5EF4-FFF2-40B4-BE49-F238E27FC236}">
                <a16:creationId xmlns:a16="http://schemas.microsoft.com/office/drawing/2014/main" id="{ABF9B1A1-70E4-480C-90E1-2EBE13D5EDA4}"/>
              </a:ext>
            </a:extLst>
          </p:cNvPr>
          <p:cNvSpPr>
            <a:spLocks xmlns:a="http://schemas.openxmlformats.org/drawingml/2006/main" noGrp="1"/>
          </p:cNvSpPr>
          <p:nvPr/>
        </p:nvSpPr>
        <p:spPr>
          <a:xfrm xmlns:a="http://schemas.openxmlformats.org/drawingml/2006/main">
            <a:off x="2862072" y="2414016"/>
            <a:ext cx="640080" cy="402336"/>
          </a:xfrm>
          <a:prstGeom xmlns:a="http://schemas.openxmlformats.org/drawingml/2006/main" prst="roundRect">
            <a:avLst>
              <a:gd name="adj" fmla="val 18182"/>
            </a:avLst>
          </a:prstGeom>
          <a:solidFill xmlns:a="http://schemas.openxmlformats.org/drawingml/2006/main">
            <a:schemeClr val="bg1"/>
          </a:solidFill>
        </p:spPr>
      </p:sp>
      <p:sp>
        <p:nvSpPr>
          <p:cNvPr id="12" name="Text 10">
            <a:extLst xmlns:a="http://schemas.openxmlformats.org/drawingml/2006/main">
              <a:ext uri="{FF2B5EF4-FFF2-40B4-BE49-F238E27FC236}">
                <a16:creationId xmlns:a16="http://schemas.microsoft.com/office/drawing/2014/main" id="{1D8F08FA-FFF5-4455-9642-EEA04D01D445}"/>
              </a:ext>
            </a:extLst>
          </p:cNvPr>
          <p:cNvSpPr>
            <a:spLocks xmlns:a="http://schemas.openxmlformats.org/drawingml/2006/main" noGrp="1"/>
          </p:cNvSpPr>
          <p:nvPr/>
        </p:nvSpPr>
        <p:spPr>
          <a:xfrm xmlns:a="http://schemas.openxmlformats.org/drawingml/2006/main">
            <a:off x="2862072" y="2414016"/>
            <a:ext cx="6400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tx1"/>
                </a:solidFill>
              </a:rPr>
              <a:t>10</a:t>
            </a:r>
            <a:endParaRPr sz="1600"/>
          </a:p>
        </p:txBody>
      </p:sp>
      <p:sp>
        <p:nvSpPr>
          <p:cNvPr id="13" name="Line 2">
            <a:extLst xmlns:a="http://schemas.openxmlformats.org/drawingml/2006/main">
              <a:ext uri="{FF2B5EF4-FFF2-40B4-BE49-F238E27FC236}">
                <a16:creationId xmlns:a16="http://schemas.microsoft.com/office/drawing/2014/main" id="{8C7A7CAF-FC73-4C12-AD06-81578058D599}"/>
              </a:ext>
            </a:extLst>
          </p:cNvPr>
          <p:cNvSpPr>
            <a:spLocks xmlns:a="http://schemas.openxmlformats.org/drawingml/2006/main" noGrp="1"/>
          </p:cNvSpPr>
          <p:nvPr/>
        </p:nvSpPr>
        <p:spPr>
          <a:xfrm xmlns:a="http://schemas.openxmlformats.org/drawingml/2006/main">
            <a:off x="1069848" y="3017520"/>
            <a:ext cx="2523744" cy="621792"/>
          </a:xfrm>
          <a:prstGeom xmlns:a="http://schemas.openxmlformats.org/drawingml/2006/main" prst="roundRect">
            <a:avLst>
              <a:gd name="adj" fmla="val 11765"/>
            </a:avLst>
          </a:prstGeom>
          <a:solidFill xmlns:a="http://schemas.openxmlformats.org/drawingml/2006/main">
            <a:schemeClr val="accent4">
              <a:alpha val="30000"/>
            </a:schemeClr>
          </a:solidFill>
        </p:spPr>
      </p:sp>
      <p:sp>
        <p:nvSpPr>
          <p:cNvPr id="14" name="Text 12">
            <a:extLst xmlns:a="http://schemas.openxmlformats.org/drawingml/2006/main">
              <a:ext uri="{FF2B5EF4-FFF2-40B4-BE49-F238E27FC236}">
                <a16:creationId xmlns:a16="http://schemas.microsoft.com/office/drawing/2014/main" id="{1BE5C1D6-E448-43B6-8EC9-0EF8FA490297}"/>
              </a:ext>
            </a:extLst>
          </p:cNvPr>
          <p:cNvSpPr>
            <a:spLocks xmlns:a="http://schemas.openxmlformats.org/drawingml/2006/main" noGrp="1"/>
          </p:cNvSpPr>
          <p:nvPr/>
        </p:nvSpPr>
        <p:spPr>
          <a:xfrm xmlns:a="http://schemas.openxmlformats.org/drawingml/2006/main">
            <a:off x="1188720" y="3090672"/>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Tea 250 g</a:t>
            </a:r>
            <a:endParaRPr sz="1200"/>
          </a:p>
        </p:txBody>
      </p:sp>
      <p:sp>
        <p:nvSpPr>
          <p:cNvPr id="15" name="Text 13">
            <a:extLst xmlns:a="http://schemas.openxmlformats.org/drawingml/2006/main">
              <a:ext uri="{FF2B5EF4-FFF2-40B4-BE49-F238E27FC236}">
                <a16:creationId xmlns:a16="http://schemas.microsoft.com/office/drawing/2014/main" id="{9F072926-C795-4578-A95A-8FBAD47FD865}"/>
              </a:ext>
            </a:extLst>
          </p:cNvPr>
          <p:cNvSpPr>
            <a:spLocks xmlns:a="http://schemas.openxmlformats.org/drawingml/2006/main" noGrp="1"/>
          </p:cNvSpPr>
          <p:nvPr/>
        </p:nvSpPr>
        <p:spPr>
          <a:xfrm xmlns:a="http://schemas.openxmlformats.org/drawingml/2006/main">
            <a:off x="1188720" y="3346704"/>
            <a:ext cx="1737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accent5"/>
                </a:solidFill>
              </a:rPr>
              <a:t>billed 6  ·  matches</a:t>
            </a:r>
            <a:endParaRPr sz="1100"/>
          </a:p>
        </p:txBody>
      </p:sp>
      <p:sp>
        <p:nvSpPr>
          <p:cNvPr id="16" name="Qty box">
            <a:extLst xmlns:a="http://schemas.openxmlformats.org/drawingml/2006/main">
              <a:ext uri="{FF2B5EF4-FFF2-40B4-BE49-F238E27FC236}">
                <a16:creationId xmlns:a16="http://schemas.microsoft.com/office/drawing/2014/main" id="{5CF2C546-6AC7-4770-946C-C2FD97F31DDA}"/>
              </a:ext>
            </a:extLst>
          </p:cNvPr>
          <p:cNvSpPr>
            <a:spLocks xmlns:a="http://schemas.openxmlformats.org/drawingml/2006/main" noGrp="1"/>
          </p:cNvSpPr>
          <p:nvPr/>
        </p:nvSpPr>
        <p:spPr>
          <a:xfrm xmlns:a="http://schemas.openxmlformats.org/drawingml/2006/main">
            <a:off x="2862072" y="3127248"/>
            <a:ext cx="640080" cy="402336"/>
          </a:xfrm>
          <a:prstGeom xmlns:a="http://schemas.openxmlformats.org/drawingml/2006/main" prst="roundRect">
            <a:avLst>
              <a:gd name="adj" fmla="val 18182"/>
            </a:avLst>
          </a:prstGeom>
          <a:solidFill xmlns:a="http://schemas.openxmlformats.org/drawingml/2006/main">
            <a:schemeClr val="bg1"/>
          </a:solidFill>
        </p:spPr>
      </p:sp>
      <p:sp>
        <p:nvSpPr>
          <p:cNvPr id="17" name="Text 15">
            <a:extLst xmlns:a="http://schemas.openxmlformats.org/drawingml/2006/main">
              <a:ext uri="{FF2B5EF4-FFF2-40B4-BE49-F238E27FC236}">
                <a16:creationId xmlns:a16="http://schemas.microsoft.com/office/drawing/2014/main" id="{8E04B475-7236-4091-B650-BEE957B6E34C}"/>
              </a:ext>
            </a:extLst>
          </p:cNvPr>
          <p:cNvSpPr>
            <a:spLocks xmlns:a="http://schemas.openxmlformats.org/drawingml/2006/main" noGrp="1"/>
          </p:cNvSpPr>
          <p:nvPr/>
        </p:nvSpPr>
        <p:spPr>
          <a:xfrm xmlns:a="http://schemas.openxmlformats.org/drawingml/2006/main">
            <a:off x="2862072" y="3127248"/>
            <a:ext cx="6400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tx1"/>
                </a:solidFill>
              </a:rPr>
              <a:t>6</a:t>
            </a:r>
            <a:endParaRPr sz="1600"/>
          </a:p>
        </p:txBody>
      </p:sp>
      <p:sp>
        <p:nvSpPr>
          <p:cNvPr id="18" name="Line 3">
            <a:extLst xmlns:a="http://schemas.openxmlformats.org/drawingml/2006/main">
              <a:ext uri="{FF2B5EF4-FFF2-40B4-BE49-F238E27FC236}">
                <a16:creationId xmlns:a16="http://schemas.microsoft.com/office/drawing/2014/main" id="{D21C954C-A649-4EAC-9553-69FA1F8100E9}"/>
              </a:ext>
            </a:extLst>
          </p:cNvPr>
          <p:cNvSpPr>
            <a:spLocks xmlns:a="http://schemas.openxmlformats.org/drawingml/2006/main" noGrp="1"/>
          </p:cNvSpPr>
          <p:nvPr/>
        </p:nvSpPr>
        <p:spPr>
          <a:xfrm xmlns:a="http://schemas.openxmlformats.org/drawingml/2006/main">
            <a:off x="1069848" y="3730752"/>
            <a:ext cx="2523744" cy="621792"/>
          </a:xfrm>
          <a:prstGeom xmlns:a="http://schemas.openxmlformats.org/drawingml/2006/main" prst="roundRect">
            <a:avLst>
              <a:gd name="adj" fmla="val 11765"/>
            </a:avLst>
          </a:prstGeom>
          <a:solidFill xmlns:a="http://schemas.openxmlformats.org/drawingml/2006/main">
            <a:schemeClr val="accent3">
              <a:alpha val="25000"/>
            </a:schemeClr>
          </a:solidFill>
        </p:spPr>
      </p:sp>
      <p:sp>
        <p:nvSpPr>
          <p:cNvPr id="19" name="Text 17">
            <a:extLst xmlns:a="http://schemas.openxmlformats.org/drawingml/2006/main">
              <a:ext uri="{FF2B5EF4-FFF2-40B4-BE49-F238E27FC236}">
                <a16:creationId xmlns:a16="http://schemas.microsoft.com/office/drawing/2014/main" id="{A22E4A81-132C-40FD-AAF7-AD197ACE34D1}"/>
              </a:ext>
            </a:extLst>
          </p:cNvPr>
          <p:cNvSpPr>
            <a:spLocks xmlns:a="http://schemas.openxmlformats.org/drawingml/2006/main" noGrp="1"/>
          </p:cNvSpPr>
          <p:nvPr/>
        </p:nvSpPr>
        <p:spPr>
          <a:xfrm xmlns:a="http://schemas.openxmlformats.org/drawingml/2006/main">
            <a:off x="1188720" y="3803904"/>
            <a:ext cx="1371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Soap</a:t>
            </a:r>
            <a:endParaRPr sz="1200"/>
          </a:p>
        </p:txBody>
      </p:sp>
      <p:sp>
        <p:nvSpPr>
          <p:cNvPr id="20" name="Text 18">
            <a:extLst xmlns:a="http://schemas.openxmlformats.org/drawingml/2006/main">
              <a:ext uri="{FF2B5EF4-FFF2-40B4-BE49-F238E27FC236}">
                <a16:creationId xmlns:a16="http://schemas.microsoft.com/office/drawing/2014/main" id="{9D185565-BA5A-490A-996E-1B3D472BAD7A}"/>
              </a:ext>
            </a:extLst>
          </p:cNvPr>
          <p:cNvSpPr>
            <a:spLocks xmlns:a="http://schemas.openxmlformats.org/drawingml/2006/main" noGrp="1"/>
          </p:cNvSpPr>
          <p:nvPr/>
        </p:nvSpPr>
        <p:spPr>
          <a:xfrm xmlns:a="http://schemas.openxmlformats.org/drawingml/2006/main">
            <a:off x="1188720" y="4059936"/>
            <a:ext cx="1737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accent5"/>
                </a:solidFill>
              </a:rPr>
              <a:t>billed 24  ·  unit unclear</a:t>
            </a:r>
            <a:endParaRPr sz="1100"/>
          </a:p>
        </p:txBody>
      </p:sp>
      <p:sp>
        <p:nvSpPr>
          <p:cNvPr id="21" name="Qty box">
            <a:extLst xmlns:a="http://schemas.openxmlformats.org/drawingml/2006/main">
              <a:ext uri="{FF2B5EF4-FFF2-40B4-BE49-F238E27FC236}">
                <a16:creationId xmlns:a16="http://schemas.microsoft.com/office/drawing/2014/main" id="{5E856DED-955F-404B-A174-8C9DAA15566D}"/>
              </a:ext>
            </a:extLst>
          </p:cNvPr>
          <p:cNvSpPr>
            <a:spLocks xmlns:a="http://schemas.openxmlformats.org/drawingml/2006/main" noGrp="1"/>
          </p:cNvSpPr>
          <p:nvPr/>
        </p:nvSpPr>
        <p:spPr>
          <a:xfrm xmlns:a="http://schemas.openxmlformats.org/drawingml/2006/main">
            <a:off x="2862072" y="3840480"/>
            <a:ext cx="640080" cy="402336"/>
          </a:xfrm>
          <a:prstGeom xmlns:a="http://schemas.openxmlformats.org/drawingml/2006/main" prst="roundRect">
            <a:avLst>
              <a:gd name="adj" fmla="val 18182"/>
            </a:avLst>
          </a:prstGeom>
          <a:solidFill xmlns:a="http://schemas.openxmlformats.org/drawingml/2006/main">
            <a:schemeClr val="bg1"/>
          </a:solidFill>
        </p:spPr>
      </p:sp>
      <p:sp>
        <p:nvSpPr>
          <p:cNvPr id="22" name="Text 20">
            <a:extLst xmlns:a="http://schemas.openxmlformats.org/drawingml/2006/main">
              <a:ext uri="{FF2B5EF4-FFF2-40B4-BE49-F238E27FC236}">
                <a16:creationId xmlns:a16="http://schemas.microsoft.com/office/drawing/2014/main" id="{E6D9E112-5443-4D4D-8CCF-C48CF4821BC7}"/>
              </a:ext>
            </a:extLst>
          </p:cNvPr>
          <p:cNvSpPr>
            <a:spLocks xmlns:a="http://schemas.openxmlformats.org/drawingml/2006/main" noGrp="1"/>
          </p:cNvSpPr>
          <p:nvPr/>
        </p:nvSpPr>
        <p:spPr>
          <a:xfrm xmlns:a="http://schemas.openxmlformats.org/drawingml/2006/main">
            <a:off x="2862072" y="3840480"/>
            <a:ext cx="6400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tx1"/>
                </a:solidFill>
              </a:rPr>
              <a:t>?</a:t>
            </a:r>
            <a:endParaRPr sz="1600"/>
          </a:p>
        </p:txBody>
      </p:sp>
      <p:sp>
        <p:nvSpPr>
          <p:cNvPr id="23" name="Mic circle">
            <a:extLst xmlns:a="http://schemas.openxmlformats.org/drawingml/2006/main">
              <a:ext uri="{FF2B5EF4-FFF2-40B4-BE49-F238E27FC236}">
                <a16:creationId xmlns:a16="http://schemas.microsoft.com/office/drawing/2014/main" id="{8B35EA25-10F3-4B6C-A988-CDAEAA04E852}"/>
              </a:ext>
            </a:extLst>
          </p:cNvPr>
          <p:cNvSpPr>
            <a:spLocks xmlns:a="http://schemas.openxmlformats.org/drawingml/2006/main" noGrp="1"/>
          </p:cNvSpPr>
          <p:nvPr/>
        </p:nvSpPr>
        <p:spPr>
          <a:xfrm xmlns:a="http://schemas.openxmlformats.org/drawingml/2006/main">
            <a:off x="1115568" y="4544568"/>
            <a:ext cx="502920" cy="502920"/>
          </a:xfrm>
          <a:prstGeom xmlns:a="http://schemas.openxmlformats.org/drawingml/2006/main" prst="ellipse">
            <a:avLst/>
          </a:prstGeom>
          <a:solidFill xmlns:a="http://schemas.openxmlformats.org/drawingml/2006/main">
            <a:schemeClr val="accent2"/>
          </a:solidFill>
        </p:spPr>
      </p:sp>
      <p:pic>
        <p:nvPicPr>
          <p:cNvPr id="24" name="Image 0">
            <a:extLst xmlns:a="http://schemas.openxmlformats.org/drawingml/2006/main">
              <a:ext uri="{FF2B5EF4-FFF2-40B4-BE49-F238E27FC236}">
                <a16:creationId xmlns:a16="http://schemas.microsoft.com/office/drawing/2014/main" id="{1A577320-DEA0-4F98-B223-957570150690}"/>
              </a:ext>
            </a:extLst>
          </p:cNvPr>
          <p:cNvPicPr>
            <a:picLocks xmlns:a="http://schemas.openxmlformats.org/drawingml/2006/main" noChangeAspect="1"/>
          </p:cNvPicPr>
          <p:nvPr/>
        </p:nvPicPr>
        <p:blipFill>
          <a:blip xmlns:r="http://schemas.openxmlformats.org/officeDocument/2006/relationships" xmlns:a="http://schemas.openxmlformats.org/drawingml/2006/main" r:embed="Re3e1c8f2e0124052"/>
          <a:stretch xmlns:a="http://schemas.openxmlformats.org/drawingml/2006/main">
            <a:fillRect l="0" t="0" r="0" b="0"/>
          </a:stretch>
        </p:blipFill>
        <p:spPr>
          <a:xfrm xmlns:a="http://schemas.openxmlformats.org/drawingml/2006/main">
            <a:off x="1234440" y="4663440"/>
            <a:ext cx="265176" cy="265176"/>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1D3D1080-416E-45E8-83B7-28DFA1B1BA4F}"/>
              </a:ext>
            </a:extLst>
          </p:cNvPr>
          <p:cNvSpPr>
            <a:spLocks xmlns:a="http://schemas.openxmlformats.org/drawingml/2006/main" noGrp="1"/>
          </p:cNvSpPr>
          <p:nvPr/>
        </p:nvSpPr>
        <p:spPr>
          <a:xfrm xmlns:a="http://schemas.openxmlformats.org/drawingml/2006/main">
            <a:off x="1755648" y="4562856"/>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1" i="0">
                <a:solidFill>
                  <a:srgbClr val="132D36"/>
                </a:solidFill>
                <a:latin typeface="Arial"/>
                <a:ea typeface="Arial"/>
                <a:cs typeface="Arial"/>
              </a:defRPr>
            </a:defPPr>
            <a:lvl1pPr algn="l">
              <a:buNone/>
              <a:defRPr sz="1400" b="1" i="0">
                <a:solidFill>
                  <a:srgbClr val="132D36"/>
                </a:solidFill>
                <a:latin typeface="Arial"/>
                <a:ea typeface="Arial"/>
                <a:cs typeface="Arial"/>
              </a:defRPr>
            </a:lvl1pPr>
            <a:lvl2pPr algn="l">
              <a:buNone/>
              <a:defRPr sz="1400" b="1" i="0">
                <a:solidFill>
                  <a:srgbClr val="132D36"/>
                </a:solidFill>
                <a:latin typeface="Arial"/>
                <a:ea typeface="Arial"/>
                <a:cs typeface="Arial"/>
              </a:defRPr>
            </a:lvl2pPr>
            <a:lvl3pPr algn="l">
              <a:buNone/>
              <a:defRPr sz="1400" b="1" i="0">
                <a:solidFill>
                  <a:srgbClr val="132D36"/>
                </a:solidFill>
                <a:latin typeface="Arial"/>
                <a:ea typeface="Arial"/>
                <a:cs typeface="Arial"/>
              </a:defRPr>
            </a:lvl3pPr>
            <a:lvl4pPr algn="l">
              <a:buNone/>
              <a:defRPr sz="1400" b="1" i="0">
                <a:solidFill>
                  <a:srgbClr val="132D36"/>
                </a:solidFill>
                <a:latin typeface="Arial"/>
                <a:ea typeface="Arial"/>
                <a:cs typeface="Arial"/>
              </a:defRPr>
            </a:lvl4pPr>
            <a:lvl5pPr algn="l">
              <a:buNone/>
              <a:defRPr sz="1400" b="1" i="0">
                <a:solidFill>
                  <a:srgbClr val="132D36"/>
                </a:solidFill>
                <a:latin typeface="Arial"/>
                <a:ea typeface="Arial"/>
                <a:cs typeface="Arial"/>
              </a:defRPr>
            </a:lvl5pPr>
            <a:lvl6pPr algn="l">
              <a:buNone/>
              <a:defRPr sz="1400" b="1" i="0">
                <a:solidFill>
                  <a:srgbClr val="132D36"/>
                </a:solidFill>
                <a:latin typeface="Arial"/>
                <a:ea typeface="Arial"/>
                <a:cs typeface="Arial"/>
              </a:defRPr>
            </a:lvl6pPr>
            <a:lvl7pPr algn="l">
              <a:buNone/>
              <a:defRPr sz="1400" b="1" i="0">
                <a:solidFill>
                  <a:srgbClr val="132D36"/>
                </a:solidFill>
                <a:latin typeface="Arial"/>
                <a:ea typeface="Arial"/>
                <a:cs typeface="Arial"/>
              </a:defRPr>
            </a:lvl7pPr>
            <a:lvl8pPr algn="l">
              <a:buNone/>
              <a:defRPr sz="1400" b="1" i="0">
                <a:solidFill>
                  <a:srgbClr val="132D36"/>
                </a:solidFill>
                <a:latin typeface="Arial"/>
                <a:ea typeface="Arial"/>
                <a:cs typeface="Arial"/>
              </a:defRPr>
            </a:lvl8pPr>
            <a:lvl9pPr algn="l">
              <a:buNone/>
              <a:defRPr sz="1400" b="1" i="0">
                <a:solidFill>
                  <a:srgbClr val="132D36"/>
                </a:solidFill>
                <a:latin typeface="Arial"/>
                <a:ea typeface="Arial"/>
                <a:cs typeface="Arial"/>
              </a:defRPr>
            </a:lvl9pPr>
          </a:lstStyle>
          <a:p xmlns:a="http://schemas.openxmlformats.org/drawingml/2006/main">
            <a:pPr marL="0" indent="0" algn="l">
              <a:buNone/>
              <a:defRPr sz="1400" b="1" i="0">
                <a:solidFill>
                  <a:srgbClr val="132D36"/>
                </a:solidFill>
                <a:latin typeface="Arial"/>
                <a:ea typeface="Arial"/>
                <a:cs typeface="Arial"/>
              </a:defRPr>
            </a:pPr>
            <a:r>
              <a:rPr sz="1400" b="1" i="0">
                <a:solidFill>
                  <a:srgbClr val="132D36"/>
                </a:solidFill>
                <a:latin typeface="Arial"/>
                <a:ea typeface="Arial"/>
                <a:cs typeface="Arial"/>
              </a:rPr>
              <a:t>“Ten packs arrived”</a:t>
            </a:r>
            <a:endParaRPr sz="1400"/>
          </a:p>
        </p:txBody>
      </p:sp>
      <p:sp>
        <p:nvSpPr>
          <p:cNvPr id="26" name="Text 23">
            <a:extLst xmlns:a="http://schemas.openxmlformats.org/drawingml/2006/main">
              <a:ext uri="{FF2B5EF4-FFF2-40B4-BE49-F238E27FC236}">
                <a16:creationId xmlns:a16="http://schemas.microsoft.com/office/drawing/2014/main" id="{299F7C21-7E00-4A50-A9C1-A57004C57026}"/>
              </a:ext>
            </a:extLst>
          </p:cNvPr>
          <p:cNvSpPr>
            <a:spLocks xmlns:a="http://schemas.openxmlformats.org/drawingml/2006/main" noGrp="1"/>
          </p:cNvSpPr>
          <p:nvPr/>
        </p:nvSpPr>
        <p:spPr>
          <a:xfrm xmlns:a="http://schemas.openxmlformats.org/drawingml/2006/main">
            <a:off x="1755648" y="4818888"/>
            <a:ext cx="1828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00" b="0" i="0">
                <a:solidFill>
                  <a:srgbClr val="53676C"/>
                </a:solidFill>
                <a:latin typeface="Arial"/>
                <a:ea typeface="Arial"/>
                <a:cs typeface="Arial"/>
              </a:defRPr>
            </a:defPPr>
            <a:lvl1pPr algn="l">
              <a:buNone/>
              <a:defRPr sz="1100" b="0" i="0">
                <a:solidFill>
                  <a:srgbClr val="53676C"/>
                </a:solidFill>
                <a:latin typeface="Arial"/>
                <a:ea typeface="Arial"/>
                <a:cs typeface="Arial"/>
              </a:defRPr>
            </a:lvl1pPr>
            <a:lvl2pPr algn="l">
              <a:buNone/>
              <a:defRPr sz="1100" b="0" i="0">
                <a:solidFill>
                  <a:srgbClr val="53676C"/>
                </a:solidFill>
                <a:latin typeface="Arial"/>
                <a:ea typeface="Arial"/>
                <a:cs typeface="Arial"/>
              </a:defRPr>
            </a:lvl2pPr>
            <a:lvl3pPr algn="l">
              <a:buNone/>
              <a:defRPr sz="1100" b="0" i="0">
                <a:solidFill>
                  <a:srgbClr val="53676C"/>
                </a:solidFill>
                <a:latin typeface="Arial"/>
                <a:ea typeface="Arial"/>
                <a:cs typeface="Arial"/>
              </a:defRPr>
            </a:lvl3pPr>
            <a:lvl4pPr algn="l">
              <a:buNone/>
              <a:defRPr sz="1100" b="0" i="0">
                <a:solidFill>
                  <a:srgbClr val="53676C"/>
                </a:solidFill>
                <a:latin typeface="Arial"/>
                <a:ea typeface="Arial"/>
                <a:cs typeface="Arial"/>
              </a:defRPr>
            </a:lvl4pPr>
            <a:lvl5pPr algn="l">
              <a:buNone/>
              <a:defRPr sz="1100" b="0" i="0">
                <a:solidFill>
                  <a:srgbClr val="53676C"/>
                </a:solidFill>
                <a:latin typeface="Arial"/>
                <a:ea typeface="Arial"/>
                <a:cs typeface="Arial"/>
              </a:defRPr>
            </a:lvl5pPr>
            <a:lvl6pPr algn="l">
              <a:buNone/>
              <a:defRPr sz="1100" b="0" i="0">
                <a:solidFill>
                  <a:srgbClr val="53676C"/>
                </a:solidFill>
                <a:latin typeface="Arial"/>
                <a:ea typeface="Arial"/>
                <a:cs typeface="Arial"/>
              </a:defRPr>
            </a:lvl6pPr>
            <a:lvl7pPr algn="l">
              <a:buNone/>
              <a:defRPr sz="1100" b="0" i="0">
                <a:solidFill>
                  <a:srgbClr val="53676C"/>
                </a:solidFill>
                <a:latin typeface="Arial"/>
                <a:ea typeface="Arial"/>
                <a:cs typeface="Arial"/>
              </a:defRPr>
            </a:lvl7pPr>
            <a:lvl8pPr algn="l">
              <a:buNone/>
              <a:defRPr sz="1100" b="0" i="0">
                <a:solidFill>
                  <a:srgbClr val="53676C"/>
                </a:solidFill>
                <a:latin typeface="Arial"/>
                <a:ea typeface="Arial"/>
                <a:cs typeface="Arial"/>
              </a:defRPr>
            </a:lvl8pPr>
            <a:lvl9pPr algn="l">
              <a:buNone/>
              <a:defRPr sz="1100" b="0" i="0">
                <a:solidFill>
                  <a:srgbClr val="53676C"/>
                </a:solidFill>
                <a:latin typeface="Arial"/>
                <a:ea typeface="Arial"/>
                <a:cs typeface="Arial"/>
              </a:defRPr>
            </a:lvl9pPr>
          </a:lstStyle>
          <a:p xmlns:a="http://schemas.openxmlformats.org/drawingml/2006/main">
            <a:pPr marL="0" indent="0" algn="l">
              <a:buNone/>
              <a:defRPr sz="1100" b="0" i="0">
                <a:solidFill>
                  <a:srgbClr val="53676C"/>
                </a:solidFill>
                <a:latin typeface="Arial"/>
                <a:ea typeface="Arial"/>
                <a:cs typeface="Arial"/>
              </a:defRPr>
            </a:pPr>
            <a:r>
              <a:rPr sz="1100" b="0" i="0">
                <a:solidFill>
                  <a:srgbClr val="53676C"/>
                </a:solidFill>
                <a:latin typeface="Arial"/>
                <a:ea typeface="Arial"/>
                <a:cs typeface="Arial"/>
              </a:rPr>
              <a:t>Confirm: 10 packs</a:t>
            </a:r>
            <a:endParaRPr sz="1100"/>
          </a:p>
        </p:txBody>
      </p:sp>
      <p:sp>
        <p:nvSpPr>
          <p:cNvPr id="27" name="Phone body">
            <a:extLst xmlns:a="http://schemas.openxmlformats.org/drawingml/2006/main">
              <a:ext uri="{FF2B5EF4-FFF2-40B4-BE49-F238E27FC236}">
                <a16:creationId xmlns:a16="http://schemas.microsoft.com/office/drawing/2014/main" id="{2A1397E9-1DD9-47DF-9A0F-D8FAC6D93110}"/>
              </a:ext>
            </a:extLst>
          </p:cNvPr>
          <p:cNvSpPr>
            <a:spLocks xmlns:a="http://schemas.openxmlformats.org/drawingml/2006/main" noGrp="1"/>
          </p:cNvSpPr>
          <p:nvPr/>
        </p:nvSpPr>
        <p:spPr>
          <a:xfrm xmlns:a="http://schemas.openxmlformats.org/drawingml/2006/main">
            <a:off x="4572000" y="1508760"/>
            <a:ext cx="3017520" cy="3931920"/>
          </a:xfrm>
          <a:prstGeom xmlns:a="http://schemas.openxmlformats.org/drawingml/2006/main" prst="roundRect">
            <a:avLst>
              <a:gd name="adj" fmla="val 9697"/>
            </a:avLst>
          </a:prstGeom>
          <a:solidFill xmlns:a="http://schemas.openxmlformats.org/drawingml/2006/main">
            <a:srgbClr val="132D36"/>
          </a:solidFill>
          <a:effectLst xmlns:a="http://schemas.openxmlformats.org/drawingml/2006/main">
            <a:outerShdw blurRad="127000" dist="38100" dir="5400000" sx="100000" sy="100000" kx="0" ky="0" algn="bl" rotWithShape="0">
              <a:srgbClr val="000000">
                <a:alpha val="12000"/>
              </a:srgbClr>
            </a:outerShdw>
          </a:effectLst>
        </p:spPr>
      </p:sp>
      <p:sp>
        <p:nvSpPr>
          <p:cNvPr id="28" name="Phone screen">
            <a:extLst xmlns:a="http://schemas.openxmlformats.org/drawingml/2006/main">
              <a:ext uri="{FF2B5EF4-FFF2-40B4-BE49-F238E27FC236}">
                <a16:creationId xmlns:a16="http://schemas.microsoft.com/office/drawing/2014/main" id="{11674D7D-094B-4B4A-81F6-FF2148C212DB}"/>
              </a:ext>
            </a:extLst>
          </p:cNvPr>
          <p:cNvSpPr>
            <a:spLocks xmlns:a="http://schemas.openxmlformats.org/drawingml/2006/main" noGrp="1"/>
          </p:cNvSpPr>
          <p:nvPr/>
        </p:nvSpPr>
        <p:spPr>
          <a:xfrm xmlns:a="http://schemas.openxmlformats.org/drawingml/2006/main">
            <a:off x="4681728" y="1618488"/>
            <a:ext cx="2798064" cy="3712464"/>
          </a:xfrm>
          <a:prstGeom xmlns:a="http://schemas.openxmlformats.org/drawingml/2006/main" prst="roundRect">
            <a:avLst>
              <a:gd name="adj" fmla="val 7190"/>
            </a:avLst>
          </a:prstGeom>
          <a:solidFill xmlns:a="http://schemas.openxmlformats.org/drawingml/2006/main">
            <a:schemeClr val="bg2"/>
          </a:solidFill>
        </p:spPr>
      </p:sp>
      <p:sp>
        <p:nvSpPr>
          <p:cNvPr id="29" name="Phone notch">
            <a:extLst xmlns:a="http://schemas.openxmlformats.org/drawingml/2006/main">
              <a:ext uri="{FF2B5EF4-FFF2-40B4-BE49-F238E27FC236}">
                <a16:creationId xmlns:a16="http://schemas.microsoft.com/office/drawing/2014/main" id="{E283959E-E550-46E9-A6AE-3EB3D0966623}"/>
              </a:ext>
            </a:extLst>
          </p:cNvPr>
          <p:cNvSpPr>
            <a:spLocks xmlns:a="http://schemas.openxmlformats.org/drawingml/2006/main" noGrp="1"/>
          </p:cNvSpPr>
          <p:nvPr/>
        </p:nvSpPr>
        <p:spPr>
          <a:xfrm xmlns:a="http://schemas.openxmlformats.org/drawingml/2006/main">
            <a:off x="5715000" y="1673352"/>
            <a:ext cx="731520" cy="73152"/>
          </a:xfrm>
          <a:prstGeom xmlns:a="http://schemas.openxmlformats.org/drawingml/2006/main" prst="roundRect">
            <a:avLst>
              <a:gd name="adj" fmla="val 50000"/>
            </a:avLst>
          </a:prstGeom>
          <a:solidFill xmlns:a="http://schemas.openxmlformats.org/drawingml/2006/main">
            <a:srgbClr val="132D36"/>
          </a:solidFill>
        </p:spPr>
      </p:sp>
      <p:sp>
        <p:nvSpPr>
          <p:cNvPr id="30" name="Text 27">
            <a:extLst xmlns:a="http://schemas.openxmlformats.org/drawingml/2006/main">
              <a:ext uri="{FF2B5EF4-FFF2-40B4-BE49-F238E27FC236}">
                <a16:creationId xmlns:a16="http://schemas.microsoft.com/office/drawing/2014/main" id="{6F7EC3ED-7E89-4974-8E9A-EF75F654F569}"/>
              </a:ext>
            </a:extLst>
          </p:cNvPr>
          <p:cNvSpPr>
            <a:spLocks xmlns:a="http://schemas.openxmlformats.org/drawingml/2006/main" noGrp="1"/>
          </p:cNvSpPr>
          <p:nvPr/>
        </p:nvSpPr>
        <p:spPr>
          <a:xfrm xmlns:a="http://schemas.openxmlformats.org/drawingml/2006/main">
            <a:off x="4864608" y="1938528"/>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rPr>
              <a:t>Evidence card</a:t>
            </a:r>
            <a:endParaRPr sz="1200"/>
          </a:p>
        </p:txBody>
      </p:sp>
      <p:sp>
        <p:nvSpPr>
          <p:cNvPr id="31" name="Text 28">
            <a:extLst xmlns:a="http://schemas.openxmlformats.org/drawingml/2006/main">
              <a:ext uri="{FF2B5EF4-FFF2-40B4-BE49-F238E27FC236}">
                <a16:creationId xmlns:a16="http://schemas.microsoft.com/office/drawing/2014/main" id="{22120243-A915-47A8-AA9E-A56A8A3B45CA}"/>
              </a:ext>
            </a:extLst>
          </p:cNvPr>
          <p:cNvSpPr>
            <a:spLocks xmlns:a="http://schemas.openxmlformats.org/drawingml/2006/main" noGrp="1"/>
          </p:cNvSpPr>
          <p:nvPr/>
        </p:nvSpPr>
        <p:spPr>
          <a:xfrm xmlns:a="http://schemas.openxmlformats.org/drawingml/2006/main">
            <a:off x="4864608" y="2185416"/>
            <a:ext cx="24688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tx1"/>
                </a:solidFill>
              </a:rPr>
              <a:t>₹80 to review</a:t>
            </a:r>
            <a:endParaRPr sz="2400"/>
          </a:p>
        </p:txBody>
      </p:sp>
      <p:sp>
        <p:nvSpPr>
          <p:cNvPr id="32" name="Text 29">
            <a:extLst xmlns:a="http://schemas.openxmlformats.org/drawingml/2006/main">
              <a:ext uri="{FF2B5EF4-FFF2-40B4-BE49-F238E27FC236}">
                <a16:creationId xmlns:a16="http://schemas.microsoft.com/office/drawing/2014/main" id="{F18D5411-FB71-42B7-9D45-6CD989ACF300}"/>
              </a:ext>
            </a:extLst>
          </p:cNvPr>
          <p:cNvSpPr>
            <a:spLocks xmlns:a="http://schemas.openxmlformats.org/drawingml/2006/main" noGrp="1"/>
          </p:cNvSpPr>
          <p:nvPr/>
        </p:nvSpPr>
        <p:spPr>
          <a:xfrm xmlns:a="http://schemas.openxmlformats.org/drawingml/2006/main">
            <a:off x="4864608" y="2734056"/>
            <a:ext cx="24688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rPr>
              <a:t>Invoice A-104 · Biscuits</a:t>
            </a:r>
            <a:endParaRPr sz="1200"/>
          </a:p>
        </p:txBody>
      </p:sp>
      <p:sp>
        <p:nvSpPr>
          <p:cNvPr id="33" name="Bill photo">
            <a:extLst xmlns:a="http://schemas.openxmlformats.org/drawingml/2006/main">
              <a:ext uri="{FF2B5EF4-FFF2-40B4-BE49-F238E27FC236}">
                <a16:creationId xmlns:a16="http://schemas.microsoft.com/office/drawing/2014/main" id="{56C3AAC7-2A4A-465B-A2B3-8E98F1A659CD}"/>
              </a:ext>
            </a:extLst>
          </p:cNvPr>
          <p:cNvSpPr>
            <a:spLocks xmlns:a="http://schemas.openxmlformats.org/drawingml/2006/main" noGrp="1"/>
          </p:cNvSpPr>
          <p:nvPr/>
        </p:nvSpPr>
        <p:spPr>
          <a:xfrm xmlns:a="http://schemas.openxmlformats.org/drawingml/2006/main">
            <a:off x="4864608" y="3063240"/>
            <a:ext cx="2432304" cy="777240"/>
          </a:xfrm>
          <a:prstGeom xmlns:a="http://schemas.openxmlformats.org/drawingml/2006/main" prst="roundRect">
            <a:avLst>
              <a:gd name="adj" fmla="val 9412"/>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34" name="Bill line">
            <a:extLst xmlns:a="http://schemas.openxmlformats.org/drawingml/2006/main">
              <a:ext uri="{FF2B5EF4-FFF2-40B4-BE49-F238E27FC236}">
                <a16:creationId xmlns:a16="http://schemas.microsoft.com/office/drawing/2014/main" id="{38691C5F-0177-47D7-9846-409B344D1D1F}"/>
              </a:ext>
            </a:extLst>
          </p:cNvPr>
          <p:cNvSpPr>
            <a:spLocks xmlns:a="http://schemas.openxmlformats.org/drawingml/2006/main" noGrp="1"/>
          </p:cNvSpPr>
          <p:nvPr/>
        </p:nvSpPr>
        <p:spPr>
          <a:xfrm xmlns:a="http://schemas.openxmlformats.org/drawingml/2006/main">
            <a:off x="5001768" y="3191256"/>
            <a:ext cx="2011680" cy="54864"/>
          </a:xfrm>
          <a:prstGeom xmlns:a="http://schemas.openxmlformats.org/drawingml/2006/main" prst="rect">
            <a:avLst/>
          </a:prstGeom>
          <a:solidFill xmlns:a="http://schemas.openxmlformats.org/drawingml/2006/main">
            <a:schemeClr val="accent6"/>
          </a:solidFill>
        </p:spPr>
      </p:sp>
      <p:sp>
        <p:nvSpPr>
          <p:cNvPr id="35" name="Bill line">
            <a:extLst xmlns:a="http://schemas.openxmlformats.org/drawingml/2006/main">
              <a:ext uri="{FF2B5EF4-FFF2-40B4-BE49-F238E27FC236}">
                <a16:creationId xmlns:a16="http://schemas.microsoft.com/office/drawing/2014/main" id="{8CE4B7FB-7B02-4AAF-9C15-189E065927CC}"/>
              </a:ext>
            </a:extLst>
          </p:cNvPr>
          <p:cNvSpPr>
            <a:spLocks xmlns:a="http://schemas.openxmlformats.org/drawingml/2006/main" noGrp="1"/>
          </p:cNvSpPr>
          <p:nvPr/>
        </p:nvSpPr>
        <p:spPr>
          <a:xfrm xmlns:a="http://schemas.openxmlformats.org/drawingml/2006/main">
            <a:off x="5001768" y="3337560"/>
            <a:ext cx="2011680" cy="54864"/>
          </a:xfrm>
          <a:prstGeom xmlns:a="http://schemas.openxmlformats.org/drawingml/2006/main" prst="rect">
            <a:avLst/>
          </a:prstGeom>
          <a:solidFill xmlns:a="http://schemas.openxmlformats.org/drawingml/2006/main">
            <a:schemeClr val="accent6"/>
          </a:solidFill>
        </p:spPr>
      </p:sp>
      <p:sp>
        <p:nvSpPr>
          <p:cNvPr id="36" name="Bill line">
            <a:extLst xmlns:a="http://schemas.openxmlformats.org/drawingml/2006/main">
              <a:ext uri="{FF2B5EF4-FFF2-40B4-BE49-F238E27FC236}">
                <a16:creationId xmlns:a16="http://schemas.microsoft.com/office/drawing/2014/main" id="{A3A3F404-18F5-4C2D-81B5-EBB11BF34A5D}"/>
              </a:ext>
            </a:extLst>
          </p:cNvPr>
          <p:cNvSpPr>
            <a:spLocks xmlns:a="http://schemas.openxmlformats.org/drawingml/2006/main" noGrp="1"/>
          </p:cNvSpPr>
          <p:nvPr/>
        </p:nvSpPr>
        <p:spPr>
          <a:xfrm xmlns:a="http://schemas.openxmlformats.org/drawingml/2006/main">
            <a:off x="5001768" y="3483864"/>
            <a:ext cx="1463040" cy="54864"/>
          </a:xfrm>
          <a:prstGeom xmlns:a="http://schemas.openxmlformats.org/drawingml/2006/main" prst="rect">
            <a:avLst/>
          </a:prstGeom>
          <a:solidFill xmlns:a="http://schemas.openxmlformats.org/drawingml/2006/main">
            <a:schemeClr val="accent6"/>
          </a:solidFill>
        </p:spPr>
      </p:sp>
      <p:sp>
        <p:nvSpPr>
          <p:cNvPr id="37" name="Bill line">
            <a:extLst xmlns:a="http://schemas.openxmlformats.org/drawingml/2006/main">
              <a:ext uri="{FF2B5EF4-FFF2-40B4-BE49-F238E27FC236}">
                <a16:creationId xmlns:a16="http://schemas.microsoft.com/office/drawing/2014/main" id="{EA255074-EBBA-44F0-A8E2-C85E259792E1}"/>
              </a:ext>
            </a:extLst>
          </p:cNvPr>
          <p:cNvSpPr>
            <a:spLocks xmlns:a="http://schemas.openxmlformats.org/drawingml/2006/main" noGrp="1"/>
          </p:cNvSpPr>
          <p:nvPr/>
        </p:nvSpPr>
        <p:spPr>
          <a:xfrm xmlns:a="http://schemas.openxmlformats.org/drawingml/2006/main">
            <a:off x="5001768" y="3630168"/>
            <a:ext cx="1097280" cy="54864"/>
          </a:xfrm>
          <a:prstGeom xmlns:a="http://schemas.openxmlformats.org/drawingml/2006/main" prst="rect">
            <a:avLst/>
          </a:prstGeom>
          <a:solidFill xmlns:a="http://schemas.openxmlformats.org/drawingml/2006/main">
            <a:schemeClr val="accent6"/>
          </a:solidFill>
        </p:spPr>
      </p:sp>
      <p:sp>
        <p:nvSpPr>
          <p:cNvPr id="38" name="Text 35">
            <a:extLst xmlns:a="http://schemas.openxmlformats.org/drawingml/2006/main">
              <a:ext uri="{FF2B5EF4-FFF2-40B4-BE49-F238E27FC236}">
                <a16:creationId xmlns:a16="http://schemas.microsoft.com/office/drawing/2014/main" id="{5EA7F30B-8F81-4FCF-BD5B-66D7A568A04F}"/>
              </a:ext>
            </a:extLst>
          </p:cNvPr>
          <p:cNvSpPr>
            <a:spLocks xmlns:a="http://schemas.openxmlformats.org/drawingml/2006/main" noGrp="1"/>
          </p:cNvSpPr>
          <p:nvPr/>
        </p:nvSpPr>
        <p:spPr>
          <a:xfrm xmlns:a="http://schemas.openxmlformats.org/drawingml/2006/main">
            <a:off x="6382512" y="3584448"/>
            <a:ext cx="8229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chemeClr val="accent5"/>
                </a:solidFill>
              </a:rPr>
              <a:t>bill photo</a:t>
            </a:r>
            <a:endParaRPr sz="1000"/>
          </a:p>
        </p:txBody>
      </p:sp>
      <p:sp>
        <p:nvSpPr>
          <p:cNvPr id="39" name="Calculation">
            <a:extLst xmlns:a="http://schemas.openxmlformats.org/drawingml/2006/main">
              <a:ext uri="{FF2B5EF4-FFF2-40B4-BE49-F238E27FC236}">
                <a16:creationId xmlns:a16="http://schemas.microsoft.com/office/drawing/2014/main" id="{F24DF6F7-8919-4853-85AA-B546F24D3EDB}"/>
              </a:ext>
            </a:extLst>
          </p:cNvPr>
          <p:cNvSpPr>
            <a:spLocks xmlns:a="http://schemas.openxmlformats.org/drawingml/2006/main" noGrp="1"/>
          </p:cNvSpPr>
          <p:nvPr/>
        </p:nvSpPr>
        <p:spPr>
          <a:xfrm xmlns:a="http://schemas.openxmlformats.org/drawingml/2006/main">
            <a:off x="4864608" y="4014216"/>
            <a:ext cx="2432304" cy="713232"/>
          </a:xfrm>
          <a:prstGeom xmlns:a="http://schemas.openxmlformats.org/drawingml/2006/main" prst="roundRect">
            <a:avLst>
              <a:gd name="adj" fmla="val 10256"/>
            </a:avLst>
          </a:prstGeom>
          <a:solidFill xmlns:a="http://schemas.openxmlformats.org/drawingml/2006/main">
            <a:schemeClr val="accent4">
              <a:alpha val="30000"/>
            </a:schemeClr>
          </a:solidFill>
        </p:spPr>
      </p:sp>
      <p:sp>
        <p:nvSpPr>
          <p:cNvPr id="40" name="Text 37">
            <a:extLst xmlns:a="http://schemas.openxmlformats.org/drawingml/2006/main">
              <a:ext uri="{FF2B5EF4-FFF2-40B4-BE49-F238E27FC236}">
                <a16:creationId xmlns:a16="http://schemas.microsoft.com/office/drawing/2014/main" id="{6C028377-CECF-4211-B356-CDFCE774575A}"/>
              </a:ext>
            </a:extLst>
          </p:cNvPr>
          <p:cNvSpPr>
            <a:spLocks xmlns:a="http://schemas.openxmlformats.org/drawingml/2006/main" noGrp="1"/>
          </p:cNvSpPr>
          <p:nvPr/>
        </p:nvSpPr>
        <p:spPr>
          <a:xfrm xmlns:a="http://schemas.openxmlformats.org/drawingml/2006/main">
            <a:off x="4974336" y="4078224"/>
            <a:ext cx="221284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12 billed − 10 received = 2</a:t>
            </a:r>
            <a:endParaRPr sz="1200"/>
          </a:p>
        </p:txBody>
      </p:sp>
      <p:sp>
        <p:nvSpPr>
          <p:cNvPr id="41" name="Text 38">
            <a:extLst xmlns:a="http://schemas.openxmlformats.org/drawingml/2006/main">
              <a:ext uri="{FF2B5EF4-FFF2-40B4-BE49-F238E27FC236}">
                <a16:creationId xmlns:a16="http://schemas.microsoft.com/office/drawing/2014/main" id="{DFD98678-660F-4B37-9B4B-A00CCCD5E4E6}"/>
              </a:ext>
            </a:extLst>
          </p:cNvPr>
          <p:cNvSpPr>
            <a:spLocks xmlns:a="http://schemas.openxmlformats.org/drawingml/2006/main" noGrp="1"/>
          </p:cNvSpPr>
          <p:nvPr/>
        </p:nvSpPr>
        <p:spPr>
          <a:xfrm xmlns:a="http://schemas.openxmlformats.org/drawingml/2006/main">
            <a:off x="4974336" y="4334256"/>
            <a:ext cx="22128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rPr>
              <a:t>2 × ₹40 = ₹80</a:t>
            </a:r>
            <a:endParaRPr sz="1500"/>
          </a:p>
        </p:txBody>
      </p:sp>
      <p:sp>
        <p:nvSpPr>
          <p:cNvPr id="42" name="Share button">
            <a:extLst xmlns:a="http://schemas.openxmlformats.org/drawingml/2006/main">
              <a:ext uri="{FF2B5EF4-FFF2-40B4-BE49-F238E27FC236}">
                <a16:creationId xmlns:a16="http://schemas.microsoft.com/office/drawing/2014/main" id="{BCCBD81F-C963-460F-8D90-00AC949389DB}"/>
              </a:ext>
            </a:extLst>
          </p:cNvPr>
          <p:cNvSpPr>
            <a:spLocks xmlns:a="http://schemas.openxmlformats.org/drawingml/2006/main" noGrp="1"/>
          </p:cNvSpPr>
          <p:nvPr/>
        </p:nvSpPr>
        <p:spPr>
          <a:xfrm xmlns:a="http://schemas.openxmlformats.org/drawingml/2006/main">
            <a:off x="4864608" y="4837176"/>
            <a:ext cx="2432304" cy="411480"/>
          </a:xfrm>
          <a:prstGeom xmlns:a="http://schemas.openxmlformats.org/drawingml/2006/main" prst="roundRect">
            <a:avLst>
              <a:gd name="adj" fmla="val 22222"/>
            </a:avLst>
          </a:prstGeom>
          <a:solidFill xmlns:a="http://schemas.openxmlformats.org/drawingml/2006/main">
            <a:schemeClr val="accent1"/>
          </a:solidFill>
        </p:spPr>
      </p:sp>
      <p:sp>
        <p:nvSpPr>
          <p:cNvPr id="43" name="Text 40">
            <a:extLst xmlns:a="http://schemas.openxmlformats.org/drawingml/2006/main">
              <a:ext uri="{FF2B5EF4-FFF2-40B4-BE49-F238E27FC236}">
                <a16:creationId xmlns:a16="http://schemas.microsoft.com/office/drawing/2014/main" id="{7568E02C-5098-44DA-91F3-4FD17BF79710}"/>
              </a:ext>
            </a:extLst>
          </p:cNvPr>
          <p:cNvSpPr>
            <a:spLocks xmlns:a="http://schemas.openxmlformats.org/drawingml/2006/main" noGrp="1"/>
          </p:cNvSpPr>
          <p:nvPr/>
        </p:nvSpPr>
        <p:spPr>
          <a:xfrm xmlns:a="http://schemas.openxmlformats.org/drawingml/2006/main">
            <a:off x="4864608" y="4837176"/>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1" i="0">
                <a:solidFill>
                  <a:srgbClr val="FFFFFF"/>
                </a:solidFill>
                <a:latin typeface="Arial"/>
                <a:ea typeface="Arial"/>
                <a:cs typeface="Arial"/>
              </a:defRPr>
            </a:defPPr>
            <a:lvl1pPr algn="ctr">
              <a:buNone/>
              <a:defRPr sz="1300" b="1" i="0">
                <a:solidFill>
                  <a:srgbClr val="FFFFFF"/>
                </a:solidFill>
                <a:latin typeface="Arial"/>
                <a:ea typeface="Arial"/>
                <a:cs typeface="Arial"/>
              </a:defRPr>
            </a:lvl1pPr>
            <a:lvl2pPr algn="ctr">
              <a:buNone/>
              <a:defRPr sz="1300" b="1" i="0">
                <a:solidFill>
                  <a:srgbClr val="FFFFFF"/>
                </a:solidFill>
                <a:latin typeface="Arial"/>
                <a:ea typeface="Arial"/>
                <a:cs typeface="Arial"/>
              </a:defRPr>
            </a:lvl2pPr>
            <a:lvl3pPr algn="ctr">
              <a:buNone/>
              <a:defRPr sz="1300" b="1" i="0">
                <a:solidFill>
                  <a:srgbClr val="FFFFFF"/>
                </a:solidFill>
                <a:latin typeface="Arial"/>
                <a:ea typeface="Arial"/>
                <a:cs typeface="Arial"/>
              </a:defRPr>
            </a:lvl3pPr>
            <a:lvl4pPr algn="ctr">
              <a:buNone/>
              <a:defRPr sz="1300" b="1" i="0">
                <a:solidFill>
                  <a:srgbClr val="FFFFFF"/>
                </a:solidFill>
                <a:latin typeface="Arial"/>
                <a:ea typeface="Arial"/>
                <a:cs typeface="Arial"/>
              </a:defRPr>
            </a:lvl4pPr>
            <a:lvl5pPr algn="ctr">
              <a:buNone/>
              <a:defRPr sz="1300" b="1" i="0">
                <a:solidFill>
                  <a:srgbClr val="FFFFFF"/>
                </a:solidFill>
                <a:latin typeface="Arial"/>
                <a:ea typeface="Arial"/>
                <a:cs typeface="Arial"/>
              </a:defRPr>
            </a:lvl5pPr>
            <a:lvl6pPr algn="ctr">
              <a:buNone/>
              <a:defRPr sz="1300" b="1" i="0">
                <a:solidFill>
                  <a:srgbClr val="FFFFFF"/>
                </a:solidFill>
                <a:latin typeface="Arial"/>
                <a:ea typeface="Arial"/>
                <a:cs typeface="Arial"/>
              </a:defRPr>
            </a:lvl6pPr>
            <a:lvl7pPr algn="ctr">
              <a:buNone/>
              <a:defRPr sz="1300" b="1" i="0">
                <a:solidFill>
                  <a:srgbClr val="FFFFFF"/>
                </a:solidFill>
                <a:latin typeface="Arial"/>
                <a:ea typeface="Arial"/>
                <a:cs typeface="Arial"/>
              </a:defRPr>
            </a:lvl7pPr>
            <a:lvl8pPr algn="ctr">
              <a:buNone/>
              <a:defRPr sz="1300" b="1" i="0">
                <a:solidFill>
                  <a:srgbClr val="FFFFFF"/>
                </a:solidFill>
                <a:latin typeface="Arial"/>
                <a:ea typeface="Arial"/>
                <a:cs typeface="Arial"/>
              </a:defRPr>
            </a:lvl8pPr>
            <a:lvl9pPr algn="ctr">
              <a:buNone/>
              <a:defRPr sz="1300" b="1" i="0">
                <a:solidFill>
                  <a:srgbClr val="FFFFFF"/>
                </a:solidFill>
                <a:latin typeface="Arial"/>
                <a:ea typeface="Arial"/>
                <a:cs typeface="Arial"/>
              </a:defRPr>
            </a:lvl9pPr>
          </a:lstStyle>
          <a:p xmlns:a="http://schemas.openxmlformats.org/drawingml/2006/main">
            <a:pPr marL="0" indent="0" algn="ctr">
              <a:buNone/>
              <a:defRPr sz="1300" b="1" i="0">
                <a:solidFill>
                  <a:srgbClr val="FFFFFF"/>
                </a:solidFill>
                <a:latin typeface="Arial"/>
                <a:ea typeface="Arial"/>
                <a:cs typeface="Arial"/>
              </a:defRPr>
            </a:pPr>
            <a:r>
              <a:rPr sz="1300" b="1" i="0">
                <a:solidFill>
                  <a:srgbClr val="FFFFFF"/>
                </a:solidFill>
                <a:latin typeface="Arial"/>
                <a:ea typeface="Arial"/>
                <a:cs typeface="Arial"/>
              </a:rPr>
              <a:t>Open WhatsApp</a:t>
            </a:r>
            <a:endParaRPr sz="1300"/>
          </a:p>
        </p:txBody>
      </p:sp>
      <p:sp>
        <p:nvSpPr>
          <p:cNvPr id="44" name="Phone body">
            <a:extLst xmlns:a="http://schemas.openxmlformats.org/drawingml/2006/main">
              <a:ext uri="{FF2B5EF4-FFF2-40B4-BE49-F238E27FC236}">
                <a16:creationId xmlns:a16="http://schemas.microsoft.com/office/drawing/2014/main" id="{DE6484BC-BE83-4A1C-A85E-F8E01D95B700}"/>
              </a:ext>
            </a:extLst>
          </p:cNvPr>
          <p:cNvSpPr>
            <a:spLocks xmlns:a="http://schemas.openxmlformats.org/drawingml/2006/main" noGrp="1"/>
          </p:cNvSpPr>
          <p:nvPr/>
        </p:nvSpPr>
        <p:spPr>
          <a:xfrm xmlns:a="http://schemas.openxmlformats.org/drawingml/2006/main">
            <a:off x="8321040" y="1508760"/>
            <a:ext cx="3017520" cy="3931920"/>
          </a:xfrm>
          <a:prstGeom xmlns:a="http://schemas.openxmlformats.org/drawingml/2006/main" prst="roundRect">
            <a:avLst>
              <a:gd name="adj" fmla="val 9697"/>
            </a:avLst>
          </a:prstGeom>
          <a:solidFill xmlns:a="http://schemas.openxmlformats.org/drawingml/2006/main">
            <a:srgbClr val="132D36"/>
          </a:solidFill>
          <a:effectLst xmlns:a="http://schemas.openxmlformats.org/drawingml/2006/main">
            <a:outerShdw blurRad="127000" dist="38100" dir="5400000" sx="100000" sy="100000" kx="0" ky="0" algn="bl" rotWithShape="0">
              <a:srgbClr val="000000">
                <a:alpha val="12000"/>
              </a:srgbClr>
            </a:outerShdw>
          </a:effectLst>
        </p:spPr>
      </p:sp>
      <p:sp>
        <p:nvSpPr>
          <p:cNvPr id="45" name="Phone screen">
            <a:extLst xmlns:a="http://schemas.openxmlformats.org/drawingml/2006/main">
              <a:ext uri="{FF2B5EF4-FFF2-40B4-BE49-F238E27FC236}">
                <a16:creationId xmlns:a16="http://schemas.microsoft.com/office/drawing/2014/main" id="{F2842662-3CBD-4B5D-99EF-74C7926C371B}"/>
              </a:ext>
            </a:extLst>
          </p:cNvPr>
          <p:cNvSpPr>
            <a:spLocks xmlns:a="http://schemas.openxmlformats.org/drawingml/2006/main" noGrp="1"/>
          </p:cNvSpPr>
          <p:nvPr/>
        </p:nvSpPr>
        <p:spPr>
          <a:xfrm xmlns:a="http://schemas.openxmlformats.org/drawingml/2006/main">
            <a:off x="8430768" y="1618488"/>
            <a:ext cx="2798064" cy="3712464"/>
          </a:xfrm>
          <a:prstGeom xmlns:a="http://schemas.openxmlformats.org/drawingml/2006/main" prst="roundRect">
            <a:avLst>
              <a:gd name="adj" fmla="val 7190"/>
            </a:avLst>
          </a:prstGeom>
          <a:solidFill xmlns:a="http://schemas.openxmlformats.org/drawingml/2006/main">
            <a:schemeClr val="bg2"/>
          </a:solidFill>
        </p:spPr>
      </p:sp>
      <p:sp>
        <p:nvSpPr>
          <p:cNvPr id="46" name="Phone notch">
            <a:extLst xmlns:a="http://schemas.openxmlformats.org/drawingml/2006/main">
              <a:ext uri="{FF2B5EF4-FFF2-40B4-BE49-F238E27FC236}">
                <a16:creationId xmlns:a16="http://schemas.microsoft.com/office/drawing/2014/main" id="{89C71827-069A-4552-967F-BD3DB6B03779}"/>
              </a:ext>
            </a:extLst>
          </p:cNvPr>
          <p:cNvSpPr>
            <a:spLocks xmlns:a="http://schemas.openxmlformats.org/drawingml/2006/main" noGrp="1"/>
          </p:cNvSpPr>
          <p:nvPr/>
        </p:nvSpPr>
        <p:spPr>
          <a:xfrm xmlns:a="http://schemas.openxmlformats.org/drawingml/2006/main">
            <a:off x="9464040" y="1673352"/>
            <a:ext cx="731520" cy="73152"/>
          </a:xfrm>
          <a:prstGeom xmlns:a="http://schemas.openxmlformats.org/drawingml/2006/main" prst="roundRect">
            <a:avLst>
              <a:gd name="adj" fmla="val 50000"/>
            </a:avLst>
          </a:prstGeom>
          <a:solidFill xmlns:a="http://schemas.openxmlformats.org/drawingml/2006/main">
            <a:srgbClr val="132D36"/>
          </a:solidFill>
        </p:spPr>
      </p:sp>
      <p:sp>
        <p:nvSpPr>
          <p:cNvPr id="47" name="Text 44">
            <a:extLst xmlns:a="http://schemas.openxmlformats.org/drawingml/2006/main">
              <a:ext uri="{FF2B5EF4-FFF2-40B4-BE49-F238E27FC236}">
                <a16:creationId xmlns:a16="http://schemas.microsoft.com/office/drawing/2014/main" id="{6D6D3391-0CDA-45F7-B559-44939AA0F03C}"/>
              </a:ext>
            </a:extLst>
          </p:cNvPr>
          <p:cNvSpPr>
            <a:spLocks xmlns:a="http://schemas.openxmlformats.org/drawingml/2006/main" noGrp="1"/>
          </p:cNvSpPr>
          <p:nvPr/>
        </p:nvSpPr>
        <p:spPr>
          <a:xfrm xmlns:a="http://schemas.openxmlformats.org/drawingml/2006/main">
            <a:off x="8613648" y="193852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Case A-104  ·  ₹80</a:t>
            </a:r>
            <a:endParaRPr sz="1200"/>
          </a:p>
        </p:txBody>
      </p:sp>
      <p:sp>
        <p:nvSpPr>
          <p:cNvPr id="48" name="Timeline link">
            <a:extLst xmlns:a="http://schemas.openxmlformats.org/drawingml/2006/main">
              <a:ext uri="{FF2B5EF4-FFF2-40B4-BE49-F238E27FC236}">
                <a16:creationId xmlns:a16="http://schemas.microsoft.com/office/drawing/2014/main" id="{FEDB5C18-8D49-4994-A653-C1E50F954F7A}"/>
              </a:ext>
            </a:extLst>
          </p:cNvPr>
          <p:cNvSpPr>
            <a:spLocks xmlns:a="http://schemas.openxmlformats.org/drawingml/2006/main" noGrp="1"/>
          </p:cNvSpPr>
          <p:nvPr/>
        </p:nvSpPr>
        <p:spPr>
          <a:xfrm xmlns:a="http://schemas.openxmlformats.org/drawingml/2006/main">
            <a:off x="8769096" y="2633472"/>
            <a:ext cx="18288" cy="237744"/>
          </a:xfrm>
          <a:prstGeom xmlns:a="http://schemas.openxmlformats.org/drawingml/2006/main" prst="rect">
            <a:avLst/>
          </a:prstGeom>
          <a:solidFill xmlns:a="http://schemas.openxmlformats.org/drawingml/2006/main">
            <a:schemeClr val="accent6"/>
          </a:solidFill>
        </p:spPr>
      </p:sp>
      <p:sp>
        <p:nvSpPr>
          <p:cNvPr id="49" name="Timeline marker">
            <a:extLst xmlns:a="http://schemas.openxmlformats.org/drawingml/2006/main">
              <a:ext uri="{FF2B5EF4-FFF2-40B4-BE49-F238E27FC236}">
                <a16:creationId xmlns:a16="http://schemas.microsoft.com/office/drawing/2014/main" id="{9C98963D-6F71-44AB-9DB9-89E32AA24757}"/>
              </a:ext>
            </a:extLst>
          </p:cNvPr>
          <p:cNvSpPr>
            <a:spLocks xmlns:a="http://schemas.openxmlformats.org/drawingml/2006/main" noGrp="1"/>
          </p:cNvSpPr>
          <p:nvPr/>
        </p:nvSpPr>
        <p:spPr>
          <a:xfrm xmlns:a="http://schemas.openxmlformats.org/drawingml/2006/main">
            <a:off x="8668512" y="2395728"/>
            <a:ext cx="219456" cy="219456"/>
          </a:xfrm>
          <a:prstGeom xmlns:a="http://schemas.openxmlformats.org/drawingml/2006/main" prst="ellipse">
            <a:avLst/>
          </a:prstGeom>
          <a:solidFill xmlns:a="http://schemas.openxmlformats.org/drawingml/2006/main">
            <a:schemeClr val="accent1"/>
          </a:solidFill>
        </p:spPr>
      </p:sp>
      <p:sp>
        <p:nvSpPr>
          <p:cNvPr id="50" name="Text 47">
            <a:extLst xmlns:a="http://schemas.openxmlformats.org/drawingml/2006/main">
              <a:ext uri="{FF2B5EF4-FFF2-40B4-BE49-F238E27FC236}">
                <a16:creationId xmlns:a16="http://schemas.microsoft.com/office/drawing/2014/main" id="{A40139CA-DF16-4E3C-8F55-C5BB7F8BC9FD}"/>
              </a:ext>
            </a:extLst>
          </p:cNvPr>
          <p:cNvSpPr>
            <a:spLocks xmlns:a="http://schemas.openxmlformats.org/drawingml/2006/main" noGrp="1"/>
          </p:cNvSpPr>
          <p:nvPr/>
        </p:nvSpPr>
        <p:spPr>
          <a:xfrm xmlns:a="http://schemas.openxmlformats.org/drawingml/2006/main">
            <a:off x="9025128" y="2386584"/>
            <a:ext cx="2020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Draft ready</a:t>
            </a:r>
            <a:endParaRPr sz="1200"/>
          </a:p>
        </p:txBody>
      </p:sp>
      <p:sp>
        <p:nvSpPr>
          <p:cNvPr id="51" name="Timeline link">
            <a:extLst xmlns:a="http://schemas.openxmlformats.org/drawingml/2006/main">
              <a:ext uri="{FF2B5EF4-FFF2-40B4-BE49-F238E27FC236}">
                <a16:creationId xmlns:a16="http://schemas.microsoft.com/office/drawing/2014/main" id="{BE08F31E-A0F8-4139-8B34-61283BB30637}"/>
              </a:ext>
            </a:extLst>
          </p:cNvPr>
          <p:cNvSpPr>
            <a:spLocks xmlns:a="http://schemas.openxmlformats.org/drawingml/2006/main" noGrp="1"/>
          </p:cNvSpPr>
          <p:nvPr/>
        </p:nvSpPr>
        <p:spPr>
          <a:xfrm xmlns:a="http://schemas.openxmlformats.org/drawingml/2006/main">
            <a:off x="8769096" y="3090672"/>
            <a:ext cx="18288" cy="237744"/>
          </a:xfrm>
          <a:prstGeom xmlns:a="http://schemas.openxmlformats.org/drawingml/2006/main" prst="rect">
            <a:avLst/>
          </a:prstGeom>
          <a:solidFill xmlns:a="http://schemas.openxmlformats.org/drawingml/2006/main">
            <a:schemeClr val="accent6"/>
          </a:solidFill>
        </p:spPr>
      </p:sp>
      <p:sp>
        <p:nvSpPr>
          <p:cNvPr id="52" name="Timeline marker">
            <a:extLst xmlns:a="http://schemas.openxmlformats.org/drawingml/2006/main">
              <a:ext uri="{FF2B5EF4-FFF2-40B4-BE49-F238E27FC236}">
                <a16:creationId xmlns:a16="http://schemas.microsoft.com/office/drawing/2014/main" id="{AE26CA9A-7E71-469B-8D7A-B87A20163E34}"/>
              </a:ext>
            </a:extLst>
          </p:cNvPr>
          <p:cNvSpPr>
            <a:spLocks xmlns:a="http://schemas.openxmlformats.org/drawingml/2006/main" noGrp="1"/>
          </p:cNvSpPr>
          <p:nvPr/>
        </p:nvSpPr>
        <p:spPr>
          <a:xfrm xmlns:a="http://schemas.openxmlformats.org/drawingml/2006/main">
            <a:off x="8668512" y="2852928"/>
            <a:ext cx="219456" cy="219456"/>
          </a:xfrm>
          <a:prstGeom xmlns:a="http://schemas.openxmlformats.org/drawingml/2006/main" prst="ellipse">
            <a:avLst/>
          </a:prstGeom>
          <a:solidFill xmlns:a="http://schemas.openxmlformats.org/drawingml/2006/main">
            <a:schemeClr val="accent1"/>
          </a:solidFill>
        </p:spPr>
      </p:sp>
      <p:sp>
        <p:nvSpPr>
          <p:cNvPr id="53" name="Text 50">
            <a:extLst xmlns:a="http://schemas.openxmlformats.org/drawingml/2006/main">
              <a:ext uri="{FF2B5EF4-FFF2-40B4-BE49-F238E27FC236}">
                <a16:creationId xmlns:a16="http://schemas.microsoft.com/office/drawing/2014/main" id="{ED98AFDF-7BAC-4EA9-A01D-56C791F7EA2B}"/>
              </a:ext>
            </a:extLst>
          </p:cNvPr>
          <p:cNvSpPr>
            <a:spLocks xmlns:a="http://schemas.openxmlformats.org/drawingml/2006/main" noGrp="1"/>
          </p:cNvSpPr>
          <p:nvPr/>
        </p:nvSpPr>
        <p:spPr>
          <a:xfrm xmlns:a="http://schemas.openxmlformats.org/drawingml/2006/main">
            <a:off x="9025128" y="2843784"/>
            <a:ext cx="2020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You approved</a:t>
            </a:r>
            <a:endParaRPr sz="1200"/>
          </a:p>
        </p:txBody>
      </p:sp>
      <p:sp>
        <p:nvSpPr>
          <p:cNvPr id="54" name="Timeline link">
            <a:extLst xmlns:a="http://schemas.openxmlformats.org/drawingml/2006/main">
              <a:ext uri="{FF2B5EF4-FFF2-40B4-BE49-F238E27FC236}">
                <a16:creationId xmlns:a16="http://schemas.microsoft.com/office/drawing/2014/main" id="{40C39815-2F1F-4A8C-8F23-E0BD1A6FB56F}"/>
              </a:ext>
            </a:extLst>
          </p:cNvPr>
          <p:cNvSpPr>
            <a:spLocks xmlns:a="http://schemas.openxmlformats.org/drawingml/2006/main" noGrp="1"/>
          </p:cNvSpPr>
          <p:nvPr/>
        </p:nvSpPr>
        <p:spPr>
          <a:xfrm xmlns:a="http://schemas.openxmlformats.org/drawingml/2006/main">
            <a:off x="8769096" y="3547872"/>
            <a:ext cx="18288" cy="237744"/>
          </a:xfrm>
          <a:prstGeom xmlns:a="http://schemas.openxmlformats.org/drawingml/2006/main" prst="rect">
            <a:avLst/>
          </a:prstGeom>
          <a:solidFill xmlns:a="http://schemas.openxmlformats.org/drawingml/2006/main">
            <a:schemeClr val="accent6"/>
          </a:solidFill>
        </p:spPr>
      </p:sp>
      <p:sp>
        <p:nvSpPr>
          <p:cNvPr id="55" name="Timeline marker">
            <a:extLst xmlns:a="http://schemas.openxmlformats.org/drawingml/2006/main">
              <a:ext uri="{FF2B5EF4-FFF2-40B4-BE49-F238E27FC236}">
                <a16:creationId xmlns:a16="http://schemas.microsoft.com/office/drawing/2014/main" id="{E6BC101E-C1E2-4C2C-AE34-37E00DA7135A}"/>
              </a:ext>
            </a:extLst>
          </p:cNvPr>
          <p:cNvSpPr>
            <a:spLocks xmlns:a="http://schemas.openxmlformats.org/drawingml/2006/main" noGrp="1"/>
          </p:cNvSpPr>
          <p:nvPr/>
        </p:nvSpPr>
        <p:spPr>
          <a:xfrm xmlns:a="http://schemas.openxmlformats.org/drawingml/2006/main">
            <a:off x="8668512" y="3310128"/>
            <a:ext cx="219456" cy="219456"/>
          </a:xfrm>
          <a:prstGeom xmlns:a="http://schemas.openxmlformats.org/drawingml/2006/main" prst="ellipse">
            <a:avLst/>
          </a:prstGeom>
          <a:solidFill xmlns:a="http://schemas.openxmlformats.org/drawingml/2006/main">
            <a:schemeClr val="accent1"/>
          </a:solidFill>
        </p:spPr>
      </p:sp>
      <p:sp>
        <p:nvSpPr>
          <p:cNvPr id="56" name="Text 53">
            <a:extLst xmlns:a="http://schemas.openxmlformats.org/drawingml/2006/main">
              <a:ext uri="{FF2B5EF4-FFF2-40B4-BE49-F238E27FC236}">
                <a16:creationId xmlns:a16="http://schemas.microsoft.com/office/drawing/2014/main" id="{5B113D7E-AB59-4F02-B1F7-D4C41AAF5DA3}"/>
              </a:ext>
            </a:extLst>
          </p:cNvPr>
          <p:cNvSpPr>
            <a:spLocks xmlns:a="http://schemas.openxmlformats.org/drawingml/2006/main" noGrp="1"/>
          </p:cNvSpPr>
          <p:nvPr/>
        </p:nvSpPr>
        <p:spPr>
          <a:xfrm xmlns:a="http://schemas.openxmlformats.org/drawingml/2006/main">
            <a:off x="9025128" y="3300984"/>
            <a:ext cx="2020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You sent it</a:t>
            </a:r>
            <a:endParaRPr sz="1200"/>
          </a:p>
        </p:txBody>
      </p:sp>
      <p:sp>
        <p:nvSpPr>
          <p:cNvPr id="57" name="Timeline link">
            <a:extLst xmlns:a="http://schemas.openxmlformats.org/drawingml/2006/main">
              <a:ext uri="{FF2B5EF4-FFF2-40B4-BE49-F238E27FC236}">
                <a16:creationId xmlns:a16="http://schemas.microsoft.com/office/drawing/2014/main" id="{776D6F3A-43BA-4ED3-9564-9457FF78DE4C}"/>
              </a:ext>
            </a:extLst>
          </p:cNvPr>
          <p:cNvSpPr>
            <a:spLocks xmlns:a="http://schemas.openxmlformats.org/drawingml/2006/main" noGrp="1"/>
          </p:cNvSpPr>
          <p:nvPr/>
        </p:nvSpPr>
        <p:spPr>
          <a:xfrm xmlns:a="http://schemas.openxmlformats.org/drawingml/2006/main">
            <a:off x="8769096" y="4005072"/>
            <a:ext cx="18288" cy="237744"/>
          </a:xfrm>
          <a:prstGeom xmlns:a="http://schemas.openxmlformats.org/drawingml/2006/main" prst="rect">
            <a:avLst/>
          </a:prstGeom>
          <a:solidFill xmlns:a="http://schemas.openxmlformats.org/drawingml/2006/main">
            <a:schemeClr val="accent6"/>
          </a:solidFill>
        </p:spPr>
      </p:sp>
      <p:sp>
        <p:nvSpPr>
          <p:cNvPr id="58" name="Timeline marker">
            <a:extLst xmlns:a="http://schemas.openxmlformats.org/drawingml/2006/main">
              <a:ext uri="{FF2B5EF4-FFF2-40B4-BE49-F238E27FC236}">
                <a16:creationId xmlns:a16="http://schemas.microsoft.com/office/drawing/2014/main" id="{441CB859-C58A-4495-B48C-3F651C0AFE61}"/>
              </a:ext>
            </a:extLst>
          </p:cNvPr>
          <p:cNvSpPr>
            <a:spLocks xmlns:a="http://schemas.openxmlformats.org/drawingml/2006/main" noGrp="1"/>
          </p:cNvSpPr>
          <p:nvPr/>
        </p:nvSpPr>
        <p:spPr>
          <a:xfrm xmlns:a="http://schemas.openxmlformats.org/drawingml/2006/main">
            <a:off x="8668512" y="3767328"/>
            <a:ext cx="219456" cy="219456"/>
          </a:xfrm>
          <a:prstGeom xmlns:a="http://schemas.openxmlformats.org/drawingml/2006/main" prst="ellipse">
            <a:avLst/>
          </a:prstGeom>
          <a:solidFill xmlns:a="http://schemas.openxmlformats.org/drawingml/2006/main">
            <a:schemeClr val="accent3"/>
          </a:solidFill>
        </p:spPr>
      </p:sp>
      <p:sp>
        <p:nvSpPr>
          <p:cNvPr id="59" name="Text 56">
            <a:extLst xmlns:a="http://schemas.openxmlformats.org/drawingml/2006/main">
              <a:ext uri="{FF2B5EF4-FFF2-40B4-BE49-F238E27FC236}">
                <a16:creationId xmlns:a16="http://schemas.microsoft.com/office/drawing/2014/main" id="{1630A893-B860-4BD1-ABD0-1FB29E50156F}"/>
              </a:ext>
            </a:extLst>
          </p:cNvPr>
          <p:cNvSpPr>
            <a:spLocks xmlns:a="http://schemas.openxmlformats.org/drawingml/2006/main" noGrp="1"/>
          </p:cNvSpPr>
          <p:nvPr/>
        </p:nvSpPr>
        <p:spPr>
          <a:xfrm xmlns:a="http://schemas.openxmlformats.org/drawingml/2006/main">
            <a:off x="9025128" y="3758184"/>
            <a:ext cx="2020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tx1"/>
                </a:solidFill>
              </a:rPr>
              <a:t>Promise: “adjust next bill”</a:t>
            </a:r>
            <a:endParaRPr sz="1200"/>
          </a:p>
        </p:txBody>
      </p:sp>
      <p:sp>
        <p:nvSpPr>
          <p:cNvPr id="60" name="Timeline marker">
            <a:extLst xmlns:a="http://schemas.openxmlformats.org/drawingml/2006/main">
              <a:ext uri="{FF2B5EF4-FFF2-40B4-BE49-F238E27FC236}">
                <a16:creationId xmlns:a16="http://schemas.microsoft.com/office/drawing/2014/main" id="{7793909C-D47F-4187-8CAF-8065F9602371}"/>
              </a:ext>
            </a:extLst>
          </p:cNvPr>
          <p:cNvSpPr>
            <a:spLocks xmlns:a="http://schemas.openxmlformats.org/drawingml/2006/main" noGrp="1"/>
          </p:cNvSpPr>
          <p:nvPr/>
        </p:nvSpPr>
        <p:spPr>
          <a:xfrm xmlns:a="http://schemas.openxmlformats.org/drawingml/2006/main">
            <a:off x="8668512" y="4224528"/>
            <a:ext cx="219456" cy="219456"/>
          </a:xfrm>
          <a:prstGeom xmlns:a="http://schemas.openxmlformats.org/drawingml/2006/main" prst="ellipse">
            <a:avLst/>
          </a:prstGeom>
          <a:solidFill xmlns:a="http://schemas.openxmlformats.org/drawingml/2006/main">
            <a:schemeClr val="bg1"/>
          </a:solidFill>
          <a:ln xmlns:a="http://schemas.openxmlformats.org/drawingml/2006/main" w="19050">
            <a:solidFill>
              <a:schemeClr val="accent6"/>
            </a:solidFill>
            <a:prstDash val="solid"/>
          </a:ln>
        </p:spPr>
      </p:sp>
      <p:sp>
        <p:nvSpPr>
          <p:cNvPr id="61" name="Text 58">
            <a:extLst xmlns:a="http://schemas.openxmlformats.org/drawingml/2006/main">
              <a:ext uri="{FF2B5EF4-FFF2-40B4-BE49-F238E27FC236}">
                <a16:creationId xmlns:a16="http://schemas.microsoft.com/office/drawing/2014/main" id="{7554C1C4-E271-496C-A793-033EB8C9DEC4}"/>
              </a:ext>
            </a:extLst>
          </p:cNvPr>
          <p:cNvSpPr>
            <a:spLocks xmlns:a="http://schemas.openxmlformats.org/drawingml/2006/main" noGrp="1"/>
          </p:cNvSpPr>
          <p:nvPr/>
        </p:nvSpPr>
        <p:spPr>
          <a:xfrm xmlns:a="http://schemas.openxmlformats.org/drawingml/2006/main">
            <a:off x="9025128" y="4215384"/>
            <a:ext cx="2020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i="0">
                <a:solidFill>
                  <a:srgbClr val="132D36"/>
                </a:solidFill>
                <a:latin typeface="Arial"/>
                <a:ea typeface="Arial"/>
                <a:cs typeface="Arial"/>
              </a:defRPr>
            </a:defPPr>
            <a:lvl1pPr algn="l">
              <a:buNone/>
              <a:defRPr sz="1200" b="0" i="0">
                <a:solidFill>
                  <a:srgbClr val="132D36"/>
                </a:solidFill>
                <a:latin typeface="Arial"/>
                <a:ea typeface="Arial"/>
                <a:cs typeface="Arial"/>
              </a:defRPr>
            </a:lvl1pPr>
            <a:lvl2pPr algn="l">
              <a:buNone/>
              <a:defRPr sz="1200" b="0" i="0">
                <a:solidFill>
                  <a:srgbClr val="132D36"/>
                </a:solidFill>
                <a:latin typeface="Arial"/>
                <a:ea typeface="Arial"/>
                <a:cs typeface="Arial"/>
              </a:defRPr>
            </a:lvl2pPr>
            <a:lvl3pPr algn="l">
              <a:buNone/>
              <a:defRPr sz="1200" b="0" i="0">
                <a:solidFill>
                  <a:srgbClr val="132D36"/>
                </a:solidFill>
                <a:latin typeface="Arial"/>
                <a:ea typeface="Arial"/>
                <a:cs typeface="Arial"/>
              </a:defRPr>
            </a:lvl3pPr>
            <a:lvl4pPr algn="l">
              <a:buNone/>
              <a:defRPr sz="1200" b="0" i="0">
                <a:solidFill>
                  <a:srgbClr val="132D36"/>
                </a:solidFill>
                <a:latin typeface="Arial"/>
                <a:ea typeface="Arial"/>
                <a:cs typeface="Arial"/>
              </a:defRPr>
            </a:lvl4pPr>
            <a:lvl5pPr algn="l">
              <a:buNone/>
              <a:defRPr sz="1200" b="0" i="0">
                <a:solidFill>
                  <a:srgbClr val="132D36"/>
                </a:solidFill>
                <a:latin typeface="Arial"/>
                <a:ea typeface="Arial"/>
                <a:cs typeface="Arial"/>
              </a:defRPr>
            </a:lvl5pPr>
            <a:lvl6pPr algn="l">
              <a:buNone/>
              <a:defRPr sz="1200" b="0" i="0">
                <a:solidFill>
                  <a:srgbClr val="132D36"/>
                </a:solidFill>
                <a:latin typeface="Arial"/>
                <a:ea typeface="Arial"/>
                <a:cs typeface="Arial"/>
              </a:defRPr>
            </a:lvl6pPr>
            <a:lvl7pPr algn="l">
              <a:buNone/>
              <a:defRPr sz="1200" b="0" i="0">
                <a:solidFill>
                  <a:srgbClr val="132D36"/>
                </a:solidFill>
                <a:latin typeface="Arial"/>
                <a:ea typeface="Arial"/>
                <a:cs typeface="Arial"/>
              </a:defRPr>
            </a:lvl7pPr>
            <a:lvl8pPr algn="l">
              <a:buNone/>
              <a:defRPr sz="1200" b="0" i="0">
                <a:solidFill>
                  <a:srgbClr val="132D36"/>
                </a:solidFill>
                <a:latin typeface="Arial"/>
                <a:ea typeface="Arial"/>
                <a:cs typeface="Arial"/>
              </a:defRPr>
            </a:lvl8pPr>
            <a:lvl9pPr algn="l">
              <a:buNone/>
              <a:defRPr sz="1200" b="0" i="0">
                <a:solidFill>
                  <a:srgbClr val="132D36"/>
                </a:solidFill>
                <a:latin typeface="Arial"/>
                <a:ea typeface="Arial"/>
                <a:cs typeface="Arial"/>
              </a:defRPr>
            </a:lvl9pPr>
          </a:lstStyle>
          <a:p xmlns:a="http://schemas.openxmlformats.org/drawingml/2006/main">
            <a:pPr marL="0" indent="0" algn="l">
              <a:buNone/>
              <a:defRPr sz="1200" b="0" i="0">
                <a:solidFill>
                  <a:srgbClr val="132D36"/>
                </a:solidFill>
                <a:latin typeface="Arial"/>
                <a:ea typeface="Arial"/>
                <a:cs typeface="Arial"/>
              </a:defRPr>
            </a:pPr>
            <a:r>
              <a:rPr sz="1200" b="0" i="0">
                <a:solidFill>
                  <a:srgbClr val="132D36"/>
                </a:solidFill>
                <a:latin typeface="Arial"/>
                <a:ea typeface="Arial"/>
                <a:cs typeface="Arial"/>
              </a:rPr>
              <a:t>Confirm applied / refunded</a:t>
            </a:r>
            <a:endParaRPr sz="1200"/>
          </a:p>
        </p:txBody>
      </p:sp>
      <p:sp>
        <p:nvSpPr>
          <p:cNvPr id="62" name="Follow-up pill">
            <a:extLst xmlns:a="http://schemas.openxmlformats.org/drawingml/2006/main">
              <a:ext uri="{FF2B5EF4-FFF2-40B4-BE49-F238E27FC236}">
                <a16:creationId xmlns:a16="http://schemas.microsoft.com/office/drawing/2014/main" id="{139BD6AB-E3F8-4A6C-9D0C-3A24A87D9EAA}"/>
              </a:ext>
            </a:extLst>
          </p:cNvPr>
          <p:cNvSpPr>
            <a:spLocks xmlns:a="http://schemas.openxmlformats.org/drawingml/2006/main" noGrp="1"/>
          </p:cNvSpPr>
          <p:nvPr/>
        </p:nvSpPr>
        <p:spPr>
          <a:xfrm xmlns:a="http://schemas.openxmlformats.org/drawingml/2006/main">
            <a:off x="8613648" y="4773168"/>
            <a:ext cx="2432304" cy="411480"/>
          </a:xfrm>
          <a:prstGeom xmlns:a="http://schemas.openxmlformats.org/drawingml/2006/main" prst="roundRect">
            <a:avLst>
              <a:gd name="adj" fmla="val 22222"/>
            </a:avLst>
          </a:prstGeom>
          <a:solidFill xmlns:a="http://schemas.openxmlformats.org/drawingml/2006/main">
            <a:schemeClr val="accent1">
              <a:alpha val="15000"/>
            </a:schemeClr>
          </a:solidFill>
        </p:spPr>
      </p:sp>
      <p:sp>
        <p:nvSpPr>
          <p:cNvPr id="63" name="Text 60">
            <a:extLst xmlns:a="http://schemas.openxmlformats.org/drawingml/2006/main">
              <a:ext uri="{FF2B5EF4-FFF2-40B4-BE49-F238E27FC236}">
                <a16:creationId xmlns:a16="http://schemas.microsoft.com/office/drawing/2014/main" id="{D98701A6-6458-4FF7-B230-AD2D3F67DDA7}"/>
              </a:ext>
            </a:extLst>
          </p:cNvPr>
          <p:cNvSpPr>
            <a:spLocks xmlns:a="http://schemas.openxmlformats.org/drawingml/2006/main" noGrp="1"/>
          </p:cNvSpPr>
          <p:nvPr/>
        </p:nvSpPr>
        <p:spPr>
          <a:xfrm xmlns:a="http://schemas.openxmlformats.org/drawingml/2006/main">
            <a:off x="8613648" y="4773168"/>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tx1"/>
                </a:solidFill>
              </a:rPr>
              <a:t>Follow-up: you choose the date</a:t>
            </a:r>
            <a:endParaRPr sz="1200"/>
          </a:p>
        </p:txBody>
      </p:sp>
      <p:sp>
        <p:nvSpPr>
          <p:cNvPr id="64" name="Text 61">
            <a:extLst xmlns:a="http://schemas.openxmlformats.org/drawingml/2006/main">
              <a:ext uri="{FF2B5EF4-FFF2-40B4-BE49-F238E27FC236}">
                <a16:creationId xmlns:a16="http://schemas.microsoft.com/office/drawing/2014/main" id="{CA6CA9BC-55EE-4B4C-B0AE-D4F258E57887}"/>
              </a:ext>
            </a:extLst>
          </p:cNvPr>
          <p:cNvSpPr>
            <a:spLocks xmlns:a="http://schemas.openxmlformats.org/drawingml/2006/main" noGrp="1"/>
          </p:cNvSpPr>
          <p:nvPr/>
        </p:nvSpPr>
        <p:spPr>
          <a:xfrm xmlns:a="http://schemas.openxmlformats.org/drawingml/2006/main">
            <a:off x="822960" y="5577840"/>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Count what arrived</a:t>
            </a:r>
            <a:endParaRPr sz="1600"/>
          </a:p>
        </p:txBody>
      </p:sp>
      <p:sp>
        <p:nvSpPr>
          <p:cNvPr id="65" name="Text 62">
            <a:extLst xmlns:a="http://schemas.openxmlformats.org/drawingml/2006/main">
              <a:ext uri="{FF2B5EF4-FFF2-40B4-BE49-F238E27FC236}">
                <a16:creationId xmlns:a16="http://schemas.microsoft.com/office/drawing/2014/main" id="{FD890998-CFD0-4494-A86E-C11D19131CB3}"/>
              </a:ext>
            </a:extLst>
          </p:cNvPr>
          <p:cNvSpPr>
            <a:spLocks xmlns:a="http://schemas.openxmlformats.org/drawingml/2006/main" noGrp="1"/>
          </p:cNvSpPr>
          <p:nvPr/>
        </p:nvSpPr>
        <p:spPr>
          <a:xfrm xmlns:a="http://schemas.openxmlformats.org/drawingml/2006/main">
            <a:off x="822960" y="5870448"/>
            <a:ext cx="30175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Line by line, by voice or tap</a:t>
            </a:r>
            <a:endParaRPr sz="1400"/>
          </a:p>
        </p:txBody>
      </p:sp>
      <p:sp>
        <p:nvSpPr>
          <p:cNvPr id="66" name="Text 63">
            <a:extLst xmlns:a="http://schemas.openxmlformats.org/drawingml/2006/main">
              <a:ext uri="{FF2B5EF4-FFF2-40B4-BE49-F238E27FC236}">
                <a16:creationId xmlns:a16="http://schemas.microsoft.com/office/drawing/2014/main" id="{F5FBA109-E12B-40AE-AED9-D627E4339503}"/>
              </a:ext>
            </a:extLst>
          </p:cNvPr>
          <p:cNvSpPr>
            <a:spLocks xmlns:a="http://schemas.openxmlformats.org/drawingml/2006/main" noGrp="1"/>
          </p:cNvSpPr>
          <p:nvPr/>
        </p:nvSpPr>
        <p:spPr>
          <a:xfrm xmlns:a="http://schemas.openxmlformats.org/drawingml/2006/main">
            <a:off x="4572000" y="5577840"/>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One evidence card</a:t>
            </a:r>
            <a:endParaRPr sz="1600"/>
          </a:p>
        </p:txBody>
      </p:sp>
      <p:sp>
        <p:nvSpPr>
          <p:cNvPr id="67" name="Text 64">
            <a:extLst xmlns:a="http://schemas.openxmlformats.org/drawingml/2006/main">
              <a:ext uri="{FF2B5EF4-FFF2-40B4-BE49-F238E27FC236}">
                <a16:creationId xmlns:a16="http://schemas.microsoft.com/office/drawing/2014/main" id="{B07ABE2D-B2C9-4620-BCB1-764CCCF5AC85}"/>
              </a:ext>
            </a:extLst>
          </p:cNvPr>
          <p:cNvSpPr>
            <a:spLocks xmlns:a="http://schemas.openxmlformats.org/drawingml/2006/main" noGrp="1"/>
          </p:cNvSpPr>
          <p:nvPr/>
        </p:nvSpPr>
        <p:spPr>
          <a:xfrm xmlns:a="http://schemas.openxmlformats.org/drawingml/2006/main">
            <a:off x="4572000" y="5870448"/>
            <a:ext cx="30175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Bill line, your count, the math</a:t>
            </a:r>
            <a:endParaRPr sz="1400"/>
          </a:p>
        </p:txBody>
      </p:sp>
      <p:sp>
        <p:nvSpPr>
          <p:cNvPr id="68" name="Text 65">
            <a:extLst xmlns:a="http://schemas.openxmlformats.org/drawingml/2006/main">
              <a:ext uri="{FF2B5EF4-FFF2-40B4-BE49-F238E27FC236}">
                <a16:creationId xmlns:a16="http://schemas.microsoft.com/office/drawing/2014/main" id="{0B3E83BC-98FB-4480-AE57-82AA2D11F268}"/>
              </a:ext>
            </a:extLst>
          </p:cNvPr>
          <p:cNvSpPr>
            <a:spLocks xmlns:a="http://schemas.openxmlformats.org/drawingml/2006/main" noGrp="1"/>
          </p:cNvSpPr>
          <p:nvPr/>
        </p:nvSpPr>
        <p:spPr>
          <a:xfrm xmlns:a="http://schemas.openxmlformats.org/drawingml/2006/main">
            <a:off x="8321040" y="5577840"/>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Track to resolution</a:t>
            </a:r>
            <a:endParaRPr sz="1600"/>
          </a:p>
        </p:txBody>
      </p:sp>
      <p:sp>
        <p:nvSpPr>
          <p:cNvPr id="69" name="Text 66">
            <a:extLst xmlns:a="http://schemas.openxmlformats.org/drawingml/2006/main">
              <a:ext uri="{FF2B5EF4-FFF2-40B4-BE49-F238E27FC236}">
                <a16:creationId xmlns:a16="http://schemas.microsoft.com/office/drawing/2014/main" id="{4BD07B10-E230-4BD4-998A-A94ECC50D130}"/>
              </a:ext>
            </a:extLst>
          </p:cNvPr>
          <p:cNvSpPr>
            <a:spLocks xmlns:a="http://schemas.openxmlformats.org/drawingml/2006/main" noGrp="1"/>
          </p:cNvSpPr>
          <p:nvPr/>
        </p:nvSpPr>
        <p:spPr>
          <a:xfrm xmlns:a="http://schemas.openxmlformats.org/drawingml/2006/main">
            <a:off x="8321040" y="5870448"/>
            <a:ext cx="30175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Attach proof before closing the case</a:t>
            </a:r>
            <a:endParaRPr sz="1400"/>
          </a:p>
        </p:txBody>
      </p:sp>
      <p:sp>
        <p:nvSpPr>
          <p:cNvPr id="70" name="Text 67">
            <a:extLst xmlns:a="http://schemas.openxmlformats.org/drawingml/2006/main">
              <a:ext uri="{FF2B5EF4-FFF2-40B4-BE49-F238E27FC236}">
                <a16:creationId xmlns:a16="http://schemas.microsoft.com/office/drawing/2014/main" id="{EED5F4F4-4F3B-4F99-9414-731037DA5F98}"/>
              </a:ext>
            </a:extLst>
          </p:cNvPr>
          <p:cNvSpPr>
            <a:spLocks xmlns:a="http://schemas.openxmlformats.org/drawingml/2006/main" noGrp="1"/>
          </p:cNvSpPr>
          <p:nvPr/>
        </p:nvSpPr>
        <p:spPr>
          <a:xfrm xmlns:a="http://schemas.openxmlformats.org/drawingml/2006/main">
            <a:off x="8321040" y="384048"/>
            <a:ext cx="33192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200">
                <a:solidFill>
                  <a:schemeClr val="accent5"/>
                </a:solidFill>
              </a:rPr>
              <a:t>Proposed interface · synthetic data</a:t>
            </a:r>
            <a:endParaRPr sz="1200"/>
          </a:p>
        </p:txBody>
      </p:sp>
      <p:sp>
        <p:nvSpPr>
          <p:cNvPr id="71" name="Slide Number Placeholder 0">
            <a:extLst xmlns:a="http://schemas.openxmlformats.org/drawingml/2006/main">
              <a:ext uri="{FF2B5EF4-FFF2-40B4-BE49-F238E27FC236}">
                <a16:creationId xmlns:a16="http://schemas.microsoft.com/office/drawing/2014/main" id="{49EB2BAE-3E96-4B7A-8B83-EB14042A7D0D}"/>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4</a:t>
            </a:fld>
            <a:endParaRPr/>
          </a:p>
        </p:txBody>
      </p:sp>
      <p:sp>
        <p:nvSpPr>
          <p:cNvPr id="72" name="manual-sharing-note">
            <a:extLst xmlns:a="http://schemas.openxmlformats.org/drawingml/2006/main">
              <a:ext uri="{FF2B5EF4-FFF2-40B4-BE49-F238E27FC236}">
                <a16:creationId xmlns:a16="http://schemas.microsoft.com/office/drawing/2014/main" id="{8EA8827C-45F0-4301-93CA-659BAEBEC918}"/>
              </a:ext>
            </a:extLst>
          </p:cNvPr>
          <p:cNvSpPr>
            <a:spLocks xmlns:a="http://schemas.openxmlformats.org/drawingml/2006/main" noGrp="1"/>
          </p:cNvSpPr>
          <p:nvPr/>
        </p:nvSpPr>
        <p:spPr>
          <a:xfrm xmlns:a="http://schemas.openxmlformats.org/drawingml/2006/main">
            <a:off x="4572000" y="61722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00" b="0">
                <a:solidFill>
                  <a:srgbClr val="53676C"/>
                </a:solidFill>
                <a:latin typeface="Arial"/>
                <a:ea typeface="Arial"/>
                <a:cs typeface="Arial"/>
              </a:defRPr>
            </a:defPPr>
            <a:lvl1pPr>
              <a:buNone/>
              <a:defRPr sz="1100" b="0">
                <a:solidFill>
                  <a:srgbClr val="53676C"/>
                </a:solidFill>
                <a:latin typeface="Arial"/>
                <a:ea typeface="Arial"/>
                <a:cs typeface="Arial"/>
              </a:defRPr>
            </a:lvl1pPr>
            <a:lvl2pPr>
              <a:buNone/>
              <a:defRPr sz="1100" b="0">
                <a:solidFill>
                  <a:srgbClr val="53676C"/>
                </a:solidFill>
                <a:latin typeface="Arial"/>
                <a:ea typeface="Arial"/>
                <a:cs typeface="Arial"/>
              </a:defRPr>
            </a:lvl2pPr>
            <a:lvl3pPr>
              <a:buNone/>
              <a:defRPr sz="1100" b="0">
                <a:solidFill>
                  <a:srgbClr val="53676C"/>
                </a:solidFill>
                <a:latin typeface="Arial"/>
                <a:ea typeface="Arial"/>
                <a:cs typeface="Arial"/>
              </a:defRPr>
            </a:lvl3pPr>
            <a:lvl4pPr>
              <a:buNone/>
              <a:defRPr sz="1100" b="0">
                <a:solidFill>
                  <a:srgbClr val="53676C"/>
                </a:solidFill>
                <a:latin typeface="Arial"/>
                <a:ea typeface="Arial"/>
                <a:cs typeface="Arial"/>
              </a:defRPr>
            </a:lvl4pPr>
            <a:lvl5pPr>
              <a:buNone/>
              <a:defRPr sz="1100" b="0">
                <a:solidFill>
                  <a:srgbClr val="53676C"/>
                </a:solidFill>
                <a:latin typeface="Arial"/>
                <a:ea typeface="Arial"/>
                <a:cs typeface="Arial"/>
              </a:defRPr>
            </a:lvl5pPr>
            <a:lvl6pPr>
              <a:buNone/>
              <a:defRPr sz="1100" b="0">
                <a:solidFill>
                  <a:srgbClr val="53676C"/>
                </a:solidFill>
                <a:latin typeface="Arial"/>
                <a:ea typeface="Arial"/>
                <a:cs typeface="Arial"/>
              </a:defRPr>
            </a:lvl6pPr>
            <a:lvl7pPr>
              <a:buNone/>
              <a:defRPr sz="1100" b="0">
                <a:solidFill>
                  <a:srgbClr val="53676C"/>
                </a:solidFill>
                <a:latin typeface="Arial"/>
                <a:ea typeface="Arial"/>
                <a:cs typeface="Arial"/>
              </a:defRPr>
            </a:lvl7pPr>
            <a:lvl8pPr>
              <a:buNone/>
              <a:defRPr sz="1100" b="0">
                <a:solidFill>
                  <a:srgbClr val="53676C"/>
                </a:solidFill>
                <a:latin typeface="Arial"/>
                <a:ea typeface="Arial"/>
                <a:cs typeface="Arial"/>
              </a:defRPr>
            </a:lvl8pPr>
            <a:lvl9pPr>
              <a:buNone/>
              <a:defRPr sz="1100" b="0">
                <a:solidFill>
                  <a:srgbClr val="53676C"/>
                </a:solidFill>
                <a:latin typeface="Arial"/>
                <a:ea typeface="Arial"/>
                <a:cs typeface="Arial"/>
              </a:defRPr>
            </a:lvl9pPr>
          </a:lstStyle>
          <a:p xmlns:a="http://schemas.openxmlformats.org/drawingml/2006/main">
            <a:pPr>
              <a:buNone/>
              <a:defRPr sz="1100" b="0">
                <a:solidFill>
                  <a:srgbClr val="53676C"/>
                </a:solidFill>
                <a:latin typeface="Arial"/>
                <a:ea typeface="Arial"/>
                <a:cs typeface="Arial"/>
              </a:defRPr>
            </a:pPr>
            <a:r>
              <a:rPr sz="1100" b="0">
                <a:solidFill>
                  <a:srgbClr val="53676C"/>
                </a:solidFill>
                <a:latin typeface="Arial"/>
                <a:ea typeface="Arial"/>
                <a:cs typeface="Arial"/>
              </a:rPr>
              <a:t>Merchant attaches the evidence card and confirms sharing.</a:t>
            </a:r>
          </a:p>
        </p:txBody>
      </p:sp>
    </p:spTree>
    <p:extLst>
      <p:ext uri="{BB962C8B-B14F-4D97-AF65-F5344CB8AC3E}">
        <p14:creationId xmlns:p14="http://schemas.microsoft.com/office/powerpoint/2010/main" val="9673218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4F92F4-13FE-4A82-AEE0-EDBE05F02D0A}"/>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TECHNOLOGY / TECH STACK USED</a:t>
            </a:r>
            <a:endParaRPr sz="1400"/>
          </a:p>
        </p:txBody>
      </p:sp>
      <p:sp>
        <p:nvSpPr>
          <p:cNvPr id="3" name="Text 0">
            <a:extLst xmlns:a="http://schemas.openxmlformats.org/drawingml/2006/main">
              <a:ext uri="{FF2B5EF4-FFF2-40B4-BE49-F238E27FC236}">
                <a16:creationId xmlns:a16="http://schemas.microsoft.com/office/drawing/2014/main" id="{B415E9F3-80B8-462D-A3CE-FAE6F5B40D42}"/>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600" b="1">
                <a:solidFill>
                  <a:schemeClr val="tx1"/>
                </a:solidFill>
              </a:rPr>
              <a:t>AI reads the bill. Rules do the math</a:t>
            </a:r>
            <a:endParaRPr sz="3600"/>
          </a:p>
        </p:txBody>
      </p:sp>
      <p:sp>
        <p:nvSpPr>
          <p:cNvPr id="4" name="Flow 1">
            <a:extLst xmlns:a="http://schemas.openxmlformats.org/drawingml/2006/main">
              <a:ext uri="{FF2B5EF4-FFF2-40B4-BE49-F238E27FC236}">
                <a16:creationId xmlns:a16="http://schemas.microsoft.com/office/drawing/2014/main" id="{D363EE05-D90D-49A3-A7E3-FF281FCB63EF}"/>
              </a:ext>
            </a:extLst>
          </p:cNvPr>
          <p:cNvSpPr>
            <a:spLocks xmlns:a="http://schemas.openxmlformats.org/drawingml/2006/main" noGrp="1"/>
          </p:cNvSpPr>
          <p:nvPr/>
        </p:nvSpPr>
        <p:spPr>
          <a:xfrm xmlns:a="http://schemas.openxmlformats.org/drawingml/2006/main">
            <a:off x="548640" y="1645920"/>
            <a:ext cx="1920240" cy="1828800"/>
          </a:xfrm>
          <a:prstGeom xmlns:a="http://schemas.openxmlformats.org/drawingml/2006/main" prst="roundRect">
            <a:avLst>
              <a:gd name="adj" fmla="val 60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C3AAAAE1-9B04-4A8A-8D23-934FE894D2EA}"/>
              </a:ext>
            </a:extLst>
          </p:cNvPr>
          <p:cNvSpPr>
            <a:spLocks xmlns:a="http://schemas.openxmlformats.org/drawingml/2006/main" noGrp="1"/>
          </p:cNvSpPr>
          <p:nvPr/>
        </p:nvSpPr>
        <p:spPr>
          <a:xfrm xmlns:a="http://schemas.openxmlformats.org/drawingml/2006/main">
            <a:off x="713232" y="1783080"/>
            <a:ext cx="1600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chemeClr val="tx1"/>
                </a:solidFill>
              </a:rPr>
              <a:t>Bill photo</a:t>
            </a:r>
            <a:endParaRPr sz="1700"/>
          </a:p>
        </p:txBody>
      </p:sp>
      <p:sp>
        <p:nvSpPr>
          <p:cNvPr id="6" name="Text 4">
            <a:extLst xmlns:a="http://schemas.openxmlformats.org/drawingml/2006/main">
              <a:ext uri="{FF2B5EF4-FFF2-40B4-BE49-F238E27FC236}">
                <a16:creationId xmlns:a16="http://schemas.microsoft.com/office/drawing/2014/main" id="{699C5243-8B3E-47E6-91D2-1E5140D71300}"/>
              </a:ext>
            </a:extLst>
          </p:cNvPr>
          <p:cNvSpPr>
            <a:spLocks xmlns:a="http://schemas.openxmlformats.org/drawingml/2006/main" noGrp="1"/>
          </p:cNvSpPr>
          <p:nvPr/>
        </p:nvSpPr>
        <p:spPr>
          <a:xfrm xmlns:a="http://schemas.openxmlformats.org/drawingml/2006/main">
            <a:off x="713232" y="2194560"/>
            <a:ext cx="162763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Merchant uploads a supplier invoice.</a:t>
            </a:r>
            <a:endParaRPr sz="1400"/>
          </a:p>
        </p:txBody>
      </p:sp>
      <p:sp>
        <p:nvSpPr>
          <p:cNvPr id="7" name="Flow arrow">
            <a:extLst xmlns:a="http://schemas.openxmlformats.org/drawingml/2006/main">
              <a:ext uri="{FF2B5EF4-FFF2-40B4-BE49-F238E27FC236}">
                <a16:creationId xmlns:a16="http://schemas.microsoft.com/office/drawing/2014/main" id="{BA12C368-7E9D-401E-AFF7-B0F63DB6B099}"/>
              </a:ext>
            </a:extLst>
          </p:cNvPr>
          <p:cNvSpPr>
            <a:spLocks xmlns:a="http://schemas.openxmlformats.org/drawingml/2006/main" noGrp="1"/>
          </p:cNvSpPr>
          <p:nvPr/>
        </p:nvSpPr>
        <p:spPr>
          <a:xfrm xmlns:a="http://schemas.openxmlformats.org/drawingml/2006/main">
            <a:off x="2514600" y="2423160"/>
            <a:ext cx="274320" cy="292608"/>
          </a:xfrm>
          <a:prstGeom xmlns:a="http://schemas.openxmlformats.org/drawingml/2006/main" prst="rightArrow">
            <a:avLst/>
          </a:prstGeom>
          <a:solidFill xmlns:a="http://schemas.openxmlformats.org/drawingml/2006/main">
            <a:schemeClr val="accent5"/>
          </a:solidFill>
        </p:spPr>
      </p:sp>
      <p:sp>
        <p:nvSpPr>
          <p:cNvPr id="8" name="Flow 2">
            <a:extLst xmlns:a="http://schemas.openxmlformats.org/drawingml/2006/main">
              <a:ext uri="{FF2B5EF4-FFF2-40B4-BE49-F238E27FC236}">
                <a16:creationId xmlns:a16="http://schemas.microsoft.com/office/drawing/2014/main" id="{50C7DB1D-6D20-461D-B3A6-051FF160F65A}"/>
              </a:ext>
            </a:extLst>
          </p:cNvPr>
          <p:cNvSpPr>
            <a:spLocks xmlns:a="http://schemas.openxmlformats.org/drawingml/2006/main" noGrp="1"/>
          </p:cNvSpPr>
          <p:nvPr/>
        </p:nvSpPr>
        <p:spPr>
          <a:xfrm xmlns:a="http://schemas.openxmlformats.org/drawingml/2006/main">
            <a:off x="2834640" y="1645920"/>
            <a:ext cx="1920240" cy="1828800"/>
          </a:xfrm>
          <a:prstGeom xmlns:a="http://schemas.openxmlformats.org/drawingml/2006/main" prst="roundRect">
            <a:avLst>
              <a:gd name="adj" fmla="val 6000"/>
            </a:avLst>
          </a:prstGeom>
          <a:solidFill xmlns:a="http://schemas.openxmlformats.org/drawingml/2006/main">
            <a:schemeClr val="accent1"/>
          </a:solidFill>
          <a:effectLst xmlns:a="http://schemas.openxmlformats.org/drawingml/2006/main">
            <a:outerShdw blurRad="127000" dist="38100" dir="54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6171BC18-FC3B-4EF0-B094-9C6718BAAEED}"/>
              </a:ext>
            </a:extLst>
          </p:cNvPr>
          <p:cNvSpPr>
            <a:spLocks xmlns:a="http://schemas.openxmlformats.org/drawingml/2006/main" noGrp="1"/>
          </p:cNvSpPr>
          <p:nvPr/>
        </p:nvSpPr>
        <p:spPr>
          <a:xfrm xmlns:a="http://schemas.openxmlformats.org/drawingml/2006/main">
            <a:off x="2999232" y="1783080"/>
            <a:ext cx="1600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chemeClr val="bg1"/>
                </a:solidFill>
              </a:rPr>
              <a:t>AI extraction</a:t>
            </a:r>
            <a:endParaRPr sz="1700"/>
          </a:p>
        </p:txBody>
      </p:sp>
      <p:sp>
        <p:nvSpPr>
          <p:cNvPr id="10" name="Text 8">
            <a:extLst xmlns:a="http://schemas.openxmlformats.org/drawingml/2006/main">
              <a:ext uri="{FF2B5EF4-FFF2-40B4-BE49-F238E27FC236}">
                <a16:creationId xmlns:a16="http://schemas.microsoft.com/office/drawing/2014/main" id="{D546B4FB-C432-4B3F-9241-F3D58AF70DCC}"/>
              </a:ext>
            </a:extLst>
          </p:cNvPr>
          <p:cNvSpPr>
            <a:spLocks xmlns:a="http://schemas.openxmlformats.org/drawingml/2006/main" noGrp="1"/>
          </p:cNvSpPr>
          <p:nvPr/>
        </p:nvSpPr>
        <p:spPr>
          <a:xfrm xmlns:a="http://schemas.openxmlformats.org/drawingml/2006/main">
            <a:off x="2999232" y="2194560"/>
            <a:ext cx="162763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FFFFFF"/>
                </a:solidFill>
                <a:latin typeface="Arial"/>
                <a:ea typeface="Arial"/>
                <a:cs typeface="Arial"/>
              </a:defRPr>
            </a:defPPr>
            <a:lvl1pPr algn="l">
              <a:buNone/>
              <a:defRPr sz="1400" b="0" i="0">
                <a:solidFill>
                  <a:srgbClr val="FFFFFF"/>
                </a:solidFill>
                <a:latin typeface="Arial"/>
                <a:ea typeface="Arial"/>
                <a:cs typeface="Arial"/>
              </a:defRPr>
            </a:lvl1pPr>
            <a:lvl2pPr algn="l">
              <a:buNone/>
              <a:defRPr sz="1400" b="0" i="0">
                <a:solidFill>
                  <a:srgbClr val="FFFFFF"/>
                </a:solidFill>
                <a:latin typeface="Arial"/>
                <a:ea typeface="Arial"/>
                <a:cs typeface="Arial"/>
              </a:defRPr>
            </a:lvl2pPr>
            <a:lvl3pPr algn="l">
              <a:buNone/>
              <a:defRPr sz="1400" b="0" i="0">
                <a:solidFill>
                  <a:srgbClr val="FFFFFF"/>
                </a:solidFill>
                <a:latin typeface="Arial"/>
                <a:ea typeface="Arial"/>
                <a:cs typeface="Arial"/>
              </a:defRPr>
            </a:lvl3pPr>
            <a:lvl4pPr algn="l">
              <a:buNone/>
              <a:defRPr sz="1400" b="0" i="0">
                <a:solidFill>
                  <a:srgbClr val="FFFFFF"/>
                </a:solidFill>
                <a:latin typeface="Arial"/>
                <a:ea typeface="Arial"/>
                <a:cs typeface="Arial"/>
              </a:defRPr>
            </a:lvl4pPr>
            <a:lvl5pPr algn="l">
              <a:buNone/>
              <a:defRPr sz="1400" b="0" i="0">
                <a:solidFill>
                  <a:srgbClr val="FFFFFF"/>
                </a:solidFill>
                <a:latin typeface="Arial"/>
                <a:ea typeface="Arial"/>
                <a:cs typeface="Arial"/>
              </a:defRPr>
            </a:lvl5pPr>
            <a:lvl6pPr algn="l">
              <a:buNone/>
              <a:defRPr sz="1400" b="0" i="0">
                <a:solidFill>
                  <a:srgbClr val="FFFFFF"/>
                </a:solidFill>
                <a:latin typeface="Arial"/>
                <a:ea typeface="Arial"/>
                <a:cs typeface="Arial"/>
              </a:defRPr>
            </a:lvl6pPr>
            <a:lvl7pPr algn="l">
              <a:buNone/>
              <a:defRPr sz="1400" b="0" i="0">
                <a:solidFill>
                  <a:srgbClr val="FFFFFF"/>
                </a:solidFill>
                <a:latin typeface="Arial"/>
                <a:ea typeface="Arial"/>
                <a:cs typeface="Arial"/>
              </a:defRPr>
            </a:lvl7pPr>
            <a:lvl8pPr algn="l">
              <a:buNone/>
              <a:defRPr sz="1400" b="0" i="0">
                <a:solidFill>
                  <a:srgbClr val="FFFFFF"/>
                </a:solidFill>
                <a:latin typeface="Arial"/>
                <a:ea typeface="Arial"/>
                <a:cs typeface="Arial"/>
              </a:defRPr>
            </a:lvl8pPr>
            <a:lvl9pPr algn="l">
              <a:buNone/>
              <a:defRPr sz="1400" b="0" i="0">
                <a:solidFill>
                  <a:srgbClr val="FFFFFF"/>
                </a:solidFill>
                <a:latin typeface="Arial"/>
                <a:ea typeface="Arial"/>
                <a:cs typeface="Arial"/>
              </a:defRPr>
            </a:lvl9pPr>
          </a:lstStyle>
          <a:p xmlns:a="http://schemas.openxmlformats.org/drawingml/2006/main">
            <a:pPr marL="0" indent="0" algn="l">
              <a:buNone/>
              <a:defRPr sz="1400" b="0" i="0">
                <a:solidFill>
                  <a:srgbClr val="FFFFFF"/>
                </a:solidFill>
                <a:latin typeface="Arial"/>
                <a:ea typeface="Arial"/>
                <a:cs typeface="Arial"/>
              </a:defRPr>
            </a:pPr>
            <a:r>
              <a:rPr sz="1400" b="0" i="0">
                <a:solidFill>
                  <a:srgbClr val="FFFFFF"/>
                </a:solidFill>
                <a:latin typeface="Arial"/>
                <a:ea typeface="Arial"/>
                <a:cs typeface="Arial"/>
              </a:rPr>
              <a:t>Extracts bill fields; flags “pack or carton?” for review.</a:t>
            </a:r>
            <a:endParaRPr sz="1400"/>
          </a:p>
        </p:txBody>
      </p:sp>
      <p:sp>
        <p:nvSpPr>
          <p:cNvPr id="11" name="Flow arrow">
            <a:extLst xmlns:a="http://schemas.openxmlformats.org/drawingml/2006/main">
              <a:ext uri="{FF2B5EF4-FFF2-40B4-BE49-F238E27FC236}">
                <a16:creationId xmlns:a16="http://schemas.microsoft.com/office/drawing/2014/main" id="{26CBE058-F71E-4982-9E74-FD1BF5256A55}"/>
              </a:ext>
            </a:extLst>
          </p:cNvPr>
          <p:cNvSpPr>
            <a:spLocks xmlns:a="http://schemas.openxmlformats.org/drawingml/2006/main" noGrp="1"/>
          </p:cNvSpPr>
          <p:nvPr/>
        </p:nvSpPr>
        <p:spPr>
          <a:xfrm xmlns:a="http://schemas.openxmlformats.org/drawingml/2006/main">
            <a:off x="4800600" y="2423160"/>
            <a:ext cx="274320" cy="292608"/>
          </a:xfrm>
          <a:prstGeom xmlns:a="http://schemas.openxmlformats.org/drawingml/2006/main" prst="rightArrow">
            <a:avLst/>
          </a:prstGeom>
          <a:solidFill xmlns:a="http://schemas.openxmlformats.org/drawingml/2006/main">
            <a:schemeClr val="accent5"/>
          </a:solidFill>
        </p:spPr>
      </p:sp>
      <p:sp>
        <p:nvSpPr>
          <p:cNvPr id="12" name="Flow 3">
            <a:extLst xmlns:a="http://schemas.openxmlformats.org/drawingml/2006/main">
              <a:ext uri="{FF2B5EF4-FFF2-40B4-BE49-F238E27FC236}">
                <a16:creationId xmlns:a16="http://schemas.microsoft.com/office/drawing/2014/main" id="{FE70F56C-B445-4FCD-AC1B-7DE6EAB71D85}"/>
              </a:ext>
            </a:extLst>
          </p:cNvPr>
          <p:cNvSpPr>
            <a:spLocks xmlns:a="http://schemas.openxmlformats.org/drawingml/2006/main" noGrp="1"/>
          </p:cNvSpPr>
          <p:nvPr/>
        </p:nvSpPr>
        <p:spPr>
          <a:xfrm xmlns:a="http://schemas.openxmlformats.org/drawingml/2006/main">
            <a:off x="5120640" y="1645920"/>
            <a:ext cx="1920240" cy="1828800"/>
          </a:xfrm>
          <a:prstGeom xmlns:a="http://schemas.openxmlformats.org/drawingml/2006/main" prst="roundRect">
            <a:avLst>
              <a:gd name="adj" fmla="val 6000"/>
            </a:avLst>
          </a:prstGeom>
          <a:solidFill xmlns:a="http://schemas.openxmlformats.org/drawingml/2006/main">
            <a:schemeClr val="accent3">
              <a:alpha val="45000"/>
            </a:schemeClr>
          </a:solidFill>
        </p:spPr>
      </p:sp>
      <p:sp>
        <p:nvSpPr>
          <p:cNvPr id="13" name="Text 11">
            <a:extLst xmlns:a="http://schemas.openxmlformats.org/drawingml/2006/main">
              <a:ext uri="{FF2B5EF4-FFF2-40B4-BE49-F238E27FC236}">
                <a16:creationId xmlns:a16="http://schemas.microsoft.com/office/drawing/2014/main" id="{D6534273-FDA6-40B0-AB44-DD8848110240}"/>
              </a:ext>
            </a:extLst>
          </p:cNvPr>
          <p:cNvSpPr>
            <a:spLocks xmlns:a="http://schemas.openxmlformats.org/drawingml/2006/main" noGrp="1"/>
          </p:cNvSpPr>
          <p:nvPr/>
        </p:nvSpPr>
        <p:spPr>
          <a:xfrm xmlns:a="http://schemas.openxmlformats.org/drawingml/2006/main">
            <a:off x="5285232" y="1783080"/>
            <a:ext cx="1600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chemeClr val="tx1"/>
                </a:solidFill>
              </a:rPr>
              <a:t>You confirm</a:t>
            </a:r>
            <a:endParaRPr sz="1700"/>
          </a:p>
        </p:txBody>
      </p:sp>
      <p:sp>
        <p:nvSpPr>
          <p:cNvPr id="14" name="Text 12">
            <a:extLst xmlns:a="http://schemas.openxmlformats.org/drawingml/2006/main">
              <a:ext uri="{FF2B5EF4-FFF2-40B4-BE49-F238E27FC236}">
                <a16:creationId xmlns:a16="http://schemas.microsoft.com/office/drawing/2014/main" id="{4F9FD5AC-E320-48C2-A940-59B74A498969}"/>
              </a:ext>
            </a:extLst>
          </p:cNvPr>
          <p:cNvSpPr>
            <a:spLocks xmlns:a="http://schemas.openxmlformats.org/drawingml/2006/main" noGrp="1"/>
          </p:cNvSpPr>
          <p:nvPr/>
        </p:nvSpPr>
        <p:spPr>
          <a:xfrm xmlns:a="http://schemas.openxmlformats.org/drawingml/2006/main">
            <a:off x="5285232" y="2194560"/>
            <a:ext cx="162763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132D36"/>
                </a:solidFill>
                <a:latin typeface="Arial"/>
                <a:ea typeface="Arial"/>
                <a:cs typeface="Arial"/>
              </a:defRPr>
            </a:defPPr>
            <a:lvl1pPr algn="l">
              <a:buNone/>
              <a:defRPr sz="1400" b="0" i="0">
                <a:solidFill>
                  <a:srgbClr val="132D36"/>
                </a:solidFill>
                <a:latin typeface="Arial"/>
                <a:ea typeface="Arial"/>
                <a:cs typeface="Arial"/>
              </a:defRPr>
            </a:lvl1pPr>
            <a:lvl2pPr algn="l">
              <a:buNone/>
              <a:defRPr sz="1400" b="0" i="0">
                <a:solidFill>
                  <a:srgbClr val="132D36"/>
                </a:solidFill>
                <a:latin typeface="Arial"/>
                <a:ea typeface="Arial"/>
                <a:cs typeface="Arial"/>
              </a:defRPr>
            </a:lvl2pPr>
            <a:lvl3pPr algn="l">
              <a:buNone/>
              <a:defRPr sz="1400" b="0" i="0">
                <a:solidFill>
                  <a:srgbClr val="132D36"/>
                </a:solidFill>
                <a:latin typeface="Arial"/>
                <a:ea typeface="Arial"/>
                <a:cs typeface="Arial"/>
              </a:defRPr>
            </a:lvl3pPr>
            <a:lvl4pPr algn="l">
              <a:buNone/>
              <a:defRPr sz="1400" b="0" i="0">
                <a:solidFill>
                  <a:srgbClr val="132D36"/>
                </a:solidFill>
                <a:latin typeface="Arial"/>
                <a:ea typeface="Arial"/>
                <a:cs typeface="Arial"/>
              </a:defRPr>
            </a:lvl4pPr>
            <a:lvl5pPr algn="l">
              <a:buNone/>
              <a:defRPr sz="1400" b="0" i="0">
                <a:solidFill>
                  <a:srgbClr val="132D36"/>
                </a:solidFill>
                <a:latin typeface="Arial"/>
                <a:ea typeface="Arial"/>
                <a:cs typeface="Arial"/>
              </a:defRPr>
            </a:lvl5pPr>
            <a:lvl6pPr algn="l">
              <a:buNone/>
              <a:defRPr sz="1400" b="0" i="0">
                <a:solidFill>
                  <a:srgbClr val="132D36"/>
                </a:solidFill>
                <a:latin typeface="Arial"/>
                <a:ea typeface="Arial"/>
                <a:cs typeface="Arial"/>
              </a:defRPr>
            </a:lvl6pPr>
            <a:lvl7pPr algn="l">
              <a:buNone/>
              <a:defRPr sz="1400" b="0" i="0">
                <a:solidFill>
                  <a:srgbClr val="132D36"/>
                </a:solidFill>
                <a:latin typeface="Arial"/>
                <a:ea typeface="Arial"/>
                <a:cs typeface="Arial"/>
              </a:defRPr>
            </a:lvl7pPr>
            <a:lvl8pPr algn="l">
              <a:buNone/>
              <a:defRPr sz="1400" b="0" i="0">
                <a:solidFill>
                  <a:srgbClr val="132D36"/>
                </a:solidFill>
                <a:latin typeface="Arial"/>
                <a:ea typeface="Arial"/>
                <a:cs typeface="Arial"/>
              </a:defRPr>
            </a:lvl8pPr>
            <a:lvl9pPr algn="l">
              <a:buNone/>
              <a:defRPr sz="1400" b="0" i="0">
                <a:solidFill>
                  <a:srgbClr val="132D36"/>
                </a:solidFill>
                <a:latin typeface="Arial"/>
                <a:ea typeface="Arial"/>
                <a:cs typeface="Arial"/>
              </a:defRPr>
            </a:lvl9pPr>
          </a:lstStyle>
          <a:p xmlns:a="http://schemas.openxmlformats.org/drawingml/2006/main">
            <a:pPr marL="0" indent="0" algn="l">
              <a:buNone/>
              <a:defRPr sz="1400" b="0" i="0">
                <a:solidFill>
                  <a:srgbClr val="132D36"/>
                </a:solidFill>
                <a:latin typeface="Arial"/>
                <a:ea typeface="Arial"/>
                <a:cs typeface="Arial"/>
              </a:defRPr>
            </a:pPr>
            <a:r>
              <a:rPr sz="1400" b="0" i="0">
                <a:solidFill>
                  <a:srgbClr val="132D36"/>
                </a:solidFill>
                <a:latin typeface="Arial"/>
                <a:ea typeface="Arial"/>
                <a:cs typeface="Arial"/>
              </a:rPr>
              <a:t>Confirm packs, 10 received and delivery complete.</a:t>
            </a:r>
            <a:endParaRPr sz="1400"/>
          </a:p>
        </p:txBody>
      </p:sp>
      <p:sp>
        <p:nvSpPr>
          <p:cNvPr id="15" name="Flow arrow">
            <a:extLst xmlns:a="http://schemas.openxmlformats.org/drawingml/2006/main">
              <a:ext uri="{FF2B5EF4-FFF2-40B4-BE49-F238E27FC236}">
                <a16:creationId xmlns:a16="http://schemas.microsoft.com/office/drawing/2014/main" id="{BD1386DA-1620-43FD-B077-912C99B0B3A7}"/>
              </a:ext>
            </a:extLst>
          </p:cNvPr>
          <p:cNvSpPr>
            <a:spLocks xmlns:a="http://schemas.openxmlformats.org/drawingml/2006/main" noGrp="1"/>
          </p:cNvSpPr>
          <p:nvPr/>
        </p:nvSpPr>
        <p:spPr>
          <a:xfrm xmlns:a="http://schemas.openxmlformats.org/drawingml/2006/main">
            <a:off x="7086600" y="2423160"/>
            <a:ext cx="274320" cy="292608"/>
          </a:xfrm>
          <a:prstGeom xmlns:a="http://schemas.openxmlformats.org/drawingml/2006/main" prst="rightArrow">
            <a:avLst/>
          </a:prstGeom>
          <a:solidFill xmlns:a="http://schemas.openxmlformats.org/drawingml/2006/main">
            <a:schemeClr val="accent5"/>
          </a:solidFill>
        </p:spPr>
      </p:sp>
      <p:sp>
        <p:nvSpPr>
          <p:cNvPr id="16" name="Flow 4">
            <a:extLst xmlns:a="http://schemas.openxmlformats.org/drawingml/2006/main">
              <a:ext uri="{FF2B5EF4-FFF2-40B4-BE49-F238E27FC236}">
                <a16:creationId xmlns:a16="http://schemas.microsoft.com/office/drawing/2014/main" id="{1FEDF021-2087-4190-B325-AED8391256BA}"/>
              </a:ext>
            </a:extLst>
          </p:cNvPr>
          <p:cNvSpPr>
            <a:spLocks xmlns:a="http://schemas.openxmlformats.org/drawingml/2006/main" noGrp="1"/>
          </p:cNvSpPr>
          <p:nvPr/>
        </p:nvSpPr>
        <p:spPr>
          <a:xfrm xmlns:a="http://schemas.openxmlformats.org/drawingml/2006/main">
            <a:off x="7406640" y="1645920"/>
            <a:ext cx="1920240" cy="1828800"/>
          </a:xfrm>
          <a:prstGeom xmlns:a="http://schemas.openxmlformats.org/drawingml/2006/main" prst="roundRect">
            <a:avLst>
              <a:gd name="adj" fmla="val 6000"/>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17" name="Text 15">
            <a:extLst xmlns:a="http://schemas.openxmlformats.org/drawingml/2006/main">
              <a:ext uri="{FF2B5EF4-FFF2-40B4-BE49-F238E27FC236}">
                <a16:creationId xmlns:a16="http://schemas.microsoft.com/office/drawing/2014/main" id="{6969A6B6-5E70-4CF4-B80B-4427D66C85EC}"/>
              </a:ext>
            </a:extLst>
          </p:cNvPr>
          <p:cNvSpPr>
            <a:spLocks xmlns:a="http://schemas.openxmlformats.org/drawingml/2006/main" noGrp="1"/>
          </p:cNvSpPr>
          <p:nvPr/>
        </p:nvSpPr>
        <p:spPr>
          <a:xfrm xmlns:a="http://schemas.openxmlformats.org/drawingml/2006/main">
            <a:off x="7571232" y="1783080"/>
            <a:ext cx="1600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chemeClr val="bg1"/>
                </a:solidFill>
              </a:rPr>
              <a:t>Rules engine</a:t>
            </a:r>
            <a:endParaRPr sz="1700"/>
          </a:p>
        </p:txBody>
      </p:sp>
      <p:sp>
        <p:nvSpPr>
          <p:cNvPr id="18" name="Text 16">
            <a:extLst xmlns:a="http://schemas.openxmlformats.org/drawingml/2006/main">
              <a:ext uri="{FF2B5EF4-FFF2-40B4-BE49-F238E27FC236}">
                <a16:creationId xmlns:a16="http://schemas.microsoft.com/office/drawing/2014/main" id="{728AD39C-CA33-4829-BCDF-F4DE3801BD1B}"/>
              </a:ext>
            </a:extLst>
          </p:cNvPr>
          <p:cNvSpPr>
            <a:spLocks xmlns:a="http://schemas.openxmlformats.org/drawingml/2006/main" noGrp="1"/>
          </p:cNvSpPr>
          <p:nvPr/>
        </p:nvSpPr>
        <p:spPr>
          <a:xfrm xmlns:a="http://schemas.openxmlformats.org/drawingml/2006/main">
            <a:off x="7571232" y="2194560"/>
            <a:ext cx="162763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6"/>
                </a:solidFill>
              </a:rPr>
              <a:t>Same units confirmed: (12 − 10) × ₹40 = ₹80.</a:t>
            </a:r>
            <a:endParaRPr sz="1400"/>
          </a:p>
        </p:txBody>
      </p:sp>
      <p:sp>
        <p:nvSpPr>
          <p:cNvPr id="19" name="Flow arrow">
            <a:extLst xmlns:a="http://schemas.openxmlformats.org/drawingml/2006/main">
              <a:ext uri="{FF2B5EF4-FFF2-40B4-BE49-F238E27FC236}">
                <a16:creationId xmlns:a16="http://schemas.microsoft.com/office/drawing/2014/main" id="{958B9639-93E8-4F4F-8B44-03606476B31F}"/>
              </a:ext>
            </a:extLst>
          </p:cNvPr>
          <p:cNvSpPr>
            <a:spLocks xmlns:a="http://schemas.openxmlformats.org/drawingml/2006/main" noGrp="1"/>
          </p:cNvSpPr>
          <p:nvPr/>
        </p:nvSpPr>
        <p:spPr>
          <a:xfrm xmlns:a="http://schemas.openxmlformats.org/drawingml/2006/main">
            <a:off x="9372600" y="2423160"/>
            <a:ext cx="274320" cy="292608"/>
          </a:xfrm>
          <a:prstGeom xmlns:a="http://schemas.openxmlformats.org/drawingml/2006/main" prst="rightArrow">
            <a:avLst/>
          </a:prstGeom>
          <a:solidFill xmlns:a="http://schemas.openxmlformats.org/drawingml/2006/main">
            <a:schemeClr val="accent5"/>
          </a:solidFill>
        </p:spPr>
      </p:sp>
      <p:sp>
        <p:nvSpPr>
          <p:cNvPr id="20" name="Flow 5">
            <a:extLst xmlns:a="http://schemas.openxmlformats.org/drawingml/2006/main">
              <a:ext uri="{FF2B5EF4-FFF2-40B4-BE49-F238E27FC236}">
                <a16:creationId xmlns:a16="http://schemas.microsoft.com/office/drawing/2014/main" id="{2D69CD94-E128-487A-A5FB-6823D13ECF1D}"/>
              </a:ext>
            </a:extLst>
          </p:cNvPr>
          <p:cNvSpPr>
            <a:spLocks xmlns:a="http://schemas.openxmlformats.org/drawingml/2006/main" noGrp="1"/>
          </p:cNvSpPr>
          <p:nvPr/>
        </p:nvSpPr>
        <p:spPr>
          <a:xfrm xmlns:a="http://schemas.openxmlformats.org/drawingml/2006/main">
            <a:off x="9692640" y="1645920"/>
            <a:ext cx="1920240" cy="1828800"/>
          </a:xfrm>
          <a:prstGeom xmlns:a="http://schemas.openxmlformats.org/drawingml/2006/main" prst="roundRect">
            <a:avLst>
              <a:gd name="adj" fmla="val 60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1" name="Text 19">
            <a:extLst xmlns:a="http://schemas.openxmlformats.org/drawingml/2006/main">
              <a:ext uri="{FF2B5EF4-FFF2-40B4-BE49-F238E27FC236}">
                <a16:creationId xmlns:a16="http://schemas.microsoft.com/office/drawing/2014/main" id="{20C8535D-CDD2-4EF0-9EE2-3DF36E886B4D}"/>
              </a:ext>
            </a:extLst>
          </p:cNvPr>
          <p:cNvSpPr>
            <a:spLocks xmlns:a="http://schemas.openxmlformats.org/drawingml/2006/main" noGrp="1"/>
          </p:cNvSpPr>
          <p:nvPr/>
        </p:nvSpPr>
        <p:spPr>
          <a:xfrm xmlns:a="http://schemas.openxmlformats.org/drawingml/2006/main">
            <a:off x="9857232" y="1783080"/>
            <a:ext cx="1600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chemeClr val="tx1"/>
                </a:solidFill>
              </a:rPr>
              <a:t>Case record</a:t>
            </a:r>
            <a:endParaRPr sz="1700"/>
          </a:p>
        </p:txBody>
      </p:sp>
      <p:sp>
        <p:nvSpPr>
          <p:cNvPr id="22" name="Text 20">
            <a:extLst xmlns:a="http://schemas.openxmlformats.org/drawingml/2006/main">
              <a:ext uri="{FF2B5EF4-FFF2-40B4-BE49-F238E27FC236}">
                <a16:creationId xmlns:a16="http://schemas.microsoft.com/office/drawing/2014/main" id="{4693E920-91AA-4338-9049-5B54AC8598E1}"/>
              </a:ext>
            </a:extLst>
          </p:cNvPr>
          <p:cNvSpPr>
            <a:spLocks xmlns:a="http://schemas.openxmlformats.org/drawingml/2006/main" noGrp="1"/>
          </p:cNvSpPr>
          <p:nvPr/>
        </p:nvSpPr>
        <p:spPr>
          <a:xfrm xmlns:a="http://schemas.openxmlformats.org/drawingml/2006/main">
            <a:off x="9857232" y="2194560"/>
            <a:ext cx="162763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Evidence, approved inputs and resolution history.</a:t>
            </a:r>
            <a:endParaRPr sz="1400"/>
          </a:p>
        </p:txBody>
      </p:sp>
      <p:sp>
        <p:nvSpPr>
          <p:cNvPr id="23" name="Legend swatch">
            <a:extLst xmlns:a="http://schemas.openxmlformats.org/drawingml/2006/main">
              <a:ext uri="{FF2B5EF4-FFF2-40B4-BE49-F238E27FC236}">
                <a16:creationId xmlns:a16="http://schemas.microsoft.com/office/drawing/2014/main" id="{2404147E-3C62-4BBB-85CD-75FCD5795B72}"/>
              </a:ext>
            </a:extLst>
          </p:cNvPr>
          <p:cNvSpPr>
            <a:spLocks xmlns:a="http://schemas.openxmlformats.org/drawingml/2006/main" noGrp="1"/>
          </p:cNvSpPr>
          <p:nvPr/>
        </p:nvSpPr>
        <p:spPr>
          <a:xfrm xmlns:a="http://schemas.openxmlformats.org/drawingml/2006/main">
            <a:off x="548640" y="3685032"/>
            <a:ext cx="182880" cy="182880"/>
          </a:xfrm>
          <a:prstGeom xmlns:a="http://schemas.openxmlformats.org/drawingml/2006/main" prst="rect">
            <a:avLst/>
          </a:prstGeom>
          <a:solidFill xmlns:a="http://schemas.openxmlformats.org/drawingml/2006/main">
            <a:schemeClr val="accent1"/>
          </a:solidFill>
        </p:spPr>
      </p:sp>
      <p:sp>
        <p:nvSpPr>
          <p:cNvPr id="24" name="Text 22">
            <a:extLst xmlns:a="http://schemas.openxmlformats.org/drawingml/2006/main">
              <a:ext uri="{FF2B5EF4-FFF2-40B4-BE49-F238E27FC236}">
                <a16:creationId xmlns:a16="http://schemas.microsoft.com/office/drawing/2014/main" id="{E1662177-B686-455F-9350-9AD6BB8E53BC}"/>
              </a:ext>
            </a:extLst>
          </p:cNvPr>
          <p:cNvSpPr>
            <a:spLocks xmlns:a="http://schemas.openxmlformats.org/drawingml/2006/main" noGrp="1"/>
          </p:cNvSpPr>
          <p:nvPr/>
        </p:nvSpPr>
        <p:spPr>
          <a:xfrm xmlns:a="http://schemas.openxmlformats.org/drawingml/2006/main">
            <a:off x="822960" y="36393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accent5"/>
                </a:solidFill>
              </a:rPr>
              <a:t>AI</a:t>
            </a:r>
            <a:endParaRPr sz="1200"/>
          </a:p>
        </p:txBody>
      </p:sp>
      <p:sp>
        <p:nvSpPr>
          <p:cNvPr id="25" name="Legend swatch">
            <a:extLst xmlns:a="http://schemas.openxmlformats.org/drawingml/2006/main">
              <a:ext uri="{FF2B5EF4-FFF2-40B4-BE49-F238E27FC236}">
                <a16:creationId xmlns:a16="http://schemas.microsoft.com/office/drawing/2014/main" id="{8D671BEA-17EF-41CD-B74D-9A7CC619C778}"/>
              </a:ext>
            </a:extLst>
          </p:cNvPr>
          <p:cNvSpPr>
            <a:spLocks xmlns:a="http://schemas.openxmlformats.org/drawingml/2006/main" noGrp="1"/>
          </p:cNvSpPr>
          <p:nvPr/>
        </p:nvSpPr>
        <p:spPr>
          <a:xfrm xmlns:a="http://schemas.openxmlformats.org/drawingml/2006/main">
            <a:off x="1737360" y="3685032"/>
            <a:ext cx="182880" cy="182880"/>
          </a:xfrm>
          <a:prstGeom xmlns:a="http://schemas.openxmlformats.org/drawingml/2006/main" prst="rect">
            <a:avLst/>
          </a:prstGeom>
          <a:solidFill xmlns:a="http://schemas.openxmlformats.org/drawingml/2006/main">
            <a:schemeClr val="accent3"/>
          </a:solidFill>
        </p:spPr>
      </p:sp>
      <p:sp>
        <p:nvSpPr>
          <p:cNvPr id="26" name="Text 24">
            <a:extLst xmlns:a="http://schemas.openxmlformats.org/drawingml/2006/main">
              <a:ext uri="{FF2B5EF4-FFF2-40B4-BE49-F238E27FC236}">
                <a16:creationId xmlns:a16="http://schemas.microsoft.com/office/drawing/2014/main" id="{7C00D7FA-14A6-47F7-AF18-0AC390F5A923}"/>
              </a:ext>
            </a:extLst>
          </p:cNvPr>
          <p:cNvSpPr>
            <a:spLocks xmlns:a="http://schemas.openxmlformats.org/drawingml/2006/main" noGrp="1"/>
          </p:cNvSpPr>
          <p:nvPr/>
        </p:nvSpPr>
        <p:spPr>
          <a:xfrm xmlns:a="http://schemas.openxmlformats.org/drawingml/2006/main">
            <a:off x="2011680" y="36393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accent5"/>
                </a:solidFill>
              </a:rPr>
              <a:t>You</a:t>
            </a:r>
            <a:endParaRPr sz="1200"/>
          </a:p>
        </p:txBody>
      </p:sp>
      <p:sp>
        <p:nvSpPr>
          <p:cNvPr id="27" name="Legend swatch">
            <a:extLst xmlns:a="http://schemas.openxmlformats.org/drawingml/2006/main">
              <a:ext uri="{FF2B5EF4-FFF2-40B4-BE49-F238E27FC236}">
                <a16:creationId xmlns:a16="http://schemas.microsoft.com/office/drawing/2014/main" id="{672E9DFA-38FD-438F-A779-09EECA4C3287}"/>
              </a:ext>
            </a:extLst>
          </p:cNvPr>
          <p:cNvSpPr>
            <a:spLocks xmlns:a="http://schemas.openxmlformats.org/drawingml/2006/main" noGrp="1"/>
          </p:cNvSpPr>
          <p:nvPr/>
        </p:nvSpPr>
        <p:spPr>
          <a:xfrm xmlns:a="http://schemas.openxmlformats.org/drawingml/2006/main">
            <a:off x="2926080" y="3685032"/>
            <a:ext cx="182880" cy="182880"/>
          </a:xfrm>
          <a:prstGeom xmlns:a="http://schemas.openxmlformats.org/drawingml/2006/main" prst="rect">
            <a:avLst/>
          </a:prstGeom>
          <a:solidFill xmlns:a="http://schemas.openxmlformats.org/drawingml/2006/main">
            <a:schemeClr val="tx1"/>
          </a:solidFill>
        </p:spPr>
      </p:sp>
      <p:sp>
        <p:nvSpPr>
          <p:cNvPr id="28" name="Text 26">
            <a:extLst xmlns:a="http://schemas.openxmlformats.org/drawingml/2006/main">
              <a:ext uri="{FF2B5EF4-FFF2-40B4-BE49-F238E27FC236}">
                <a16:creationId xmlns:a16="http://schemas.microsoft.com/office/drawing/2014/main" id="{46BC1842-0DA1-4875-8228-1A6D4031DB4D}"/>
              </a:ext>
            </a:extLst>
          </p:cNvPr>
          <p:cNvSpPr>
            <a:spLocks xmlns:a="http://schemas.openxmlformats.org/drawingml/2006/main" noGrp="1"/>
          </p:cNvSpPr>
          <p:nvPr/>
        </p:nvSpPr>
        <p:spPr>
          <a:xfrm xmlns:a="http://schemas.openxmlformats.org/drawingml/2006/main">
            <a:off x="3200400" y="36393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accent5"/>
                </a:solidFill>
              </a:rPr>
              <a:t>Deterministic code</a:t>
            </a:r>
            <a:endParaRPr sz="1200"/>
          </a:p>
        </p:txBody>
      </p:sp>
      <p:sp>
        <p:nvSpPr>
          <p:cNvPr id="29" name="Guardrail 1">
            <a:extLst xmlns:a="http://schemas.openxmlformats.org/drawingml/2006/main">
              <a:ext uri="{FF2B5EF4-FFF2-40B4-BE49-F238E27FC236}">
                <a16:creationId xmlns:a16="http://schemas.microsoft.com/office/drawing/2014/main" id="{B5026818-9940-4057-947A-82ACB99DF703}"/>
              </a:ext>
            </a:extLst>
          </p:cNvPr>
          <p:cNvSpPr>
            <a:spLocks xmlns:a="http://schemas.openxmlformats.org/drawingml/2006/main" noGrp="1"/>
          </p:cNvSpPr>
          <p:nvPr/>
        </p:nvSpPr>
        <p:spPr>
          <a:xfrm xmlns:a="http://schemas.openxmlformats.org/drawingml/2006/main">
            <a:off x="548640" y="4069080"/>
            <a:ext cx="3566160" cy="1600200"/>
          </a:xfrm>
          <a:prstGeom xmlns:a="http://schemas.openxmlformats.org/drawingml/2006/main" prst="roundRect">
            <a:avLst>
              <a:gd name="adj" fmla="val 6857"/>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30" name="You confirm what arrived circle">
            <a:extLst xmlns:a="http://schemas.openxmlformats.org/drawingml/2006/main">
              <a:ext uri="{FF2B5EF4-FFF2-40B4-BE49-F238E27FC236}">
                <a16:creationId xmlns:a16="http://schemas.microsoft.com/office/drawing/2014/main" id="{9E5CF5BC-FC0D-44E5-B807-494C280BCABD}"/>
              </a:ext>
            </a:extLst>
          </p:cNvPr>
          <p:cNvSpPr>
            <a:spLocks xmlns:a="http://schemas.openxmlformats.org/drawingml/2006/main" noGrp="1"/>
          </p:cNvSpPr>
          <p:nvPr/>
        </p:nvSpPr>
        <p:spPr>
          <a:xfrm xmlns:a="http://schemas.openxmlformats.org/drawingml/2006/main">
            <a:off x="749808" y="4251960"/>
            <a:ext cx="457200" cy="457200"/>
          </a:xfrm>
          <a:prstGeom xmlns:a="http://schemas.openxmlformats.org/drawingml/2006/main" prst="ellipse">
            <a:avLst/>
          </a:prstGeom>
          <a:solidFill xmlns:a="http://schemas.openxmlformats.org/drawingml/2006/main">
            <a:srgbClr val="007E80"/>
          </a:solidFill>
        </p:spPr>
      </p:sp>
      <p:pic>
        <p:nvPicPr>
          <p:cNvPr id="31" name="Image 0">
            <a:extLst xmlns:a="http://schemas.openxmlformats.org/drawingml/2006/main">
              <a:ext uri="{FF2B5EF4-FFF2-40B4-BE49-F238E27FC236}">
                <a16:creationId xmlns:a16="http://schemas.microsoft.com/office/drawing/2014/main" id="{85B1DBAE-7466-48B5-8DC8-165FFADF2EDA}"/>
              </a:ext>
            </a:extLst>
          </p:cNvPr>
          <p:cNvPicPr>
            <a:picLocks xmlns:a="http://schemas.openxmlformats.org/drawingml/2006/main" noChangeAspect="1"/>
          </p:cNvPicPr>
          <p:nvPr/>
        </p:nvPicPr>
        <p:blipFill>
          <a:blip xmlns:r="http://schemas.openxmlformats.org/officeDocument/2006/relationships" xmlns:a="http://schemas.openxmlformats.org/drawingml/2006/main" r:embed="R39f7a0642dc548de"/>
          <a:stretch xmlns:a="http://schemas.openxmlformats.org/drawingml/2006/main">
            <a:fillRect l="0" t="0" r="0" b="0"/>
          </a:stretch>
        </p:blipFill>
        <p:spPr>
          <a:xfrm xmlns:a="http://schemas.openxmlformats.org/drawingml/2006/main">
            <a:off x="859536" y="4361688"/>
            <a:ext cx="237744" cy="237744"/>
          </a:xfrm>
          <a:prstGeom xmlns:a="http://schemas.openxmlformats.org/drawingml/2006/main" prst="rect">
            <a:avLst/>
          </a:prstGeom>
        </p:spPr>
      </p:pic>
      <p:sp>
        <p:nvSpPr>
          <p:cNvPr id="32" name="Text 29">
            <a:extLst xmlns:a="http://schemas.openxmlformats.org/drawingml/2006/main">
              <a:ext uri="{FF2B5EF4-FFF2-40B4-BE49-F238E27FC236}">
                <a16:creationId xmlns:a16="http://schemas.microsoft.com/office/drawing/2014/main" id="{A9D37631-9467-49CB-9583-483303E1F9D0}"/>
              </a:ext>
            </a:extLst>
          </p:cNvPr>
          <p:cNvSpPr>
            <a:spLocks xmlns:a="http://schemas.openxmlformats.org/drawingml/2006/main" noGrp="1"/>
          </p:cNvSpPr>
          <p:nvPr/>
        </p:nvSpPr>
        <p:spPr>
          <a:xfrm xmlns:a="http://schemas.openxmlformats.org/drawingml/2006/main">
            <a:off x="1371600" y="4251960"/>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00" b="1" i="0">
                <a:solidFill>
                  <a:srgbClr val="132D36"/>
                </a:solidFill>
                <a:latin typeface="Arial"/>
                <a:ea typeface="Arial"/>
                <a:cs typeface="Arial"/>
              </a:defRPr>
            </a:defPPr>
            <a:lvl1pPr algn="l">
              <a:buNone/>
              <a:defRPr sz="1600" b="1" i="0">
                <a:solidFill>
                  <a:srgbClr val="132D36"/>
                </a:solidFill>
                <a:latin typeface="Arial"/>
                <a:ea typeface="Arial"/>
                <a:cs typeface="Arial"/>
              </a:defRPr>
            </a:lvl1pPr>
            <a:lvl2pPr algn="l">
              <a:buNone/>
              <a:defRPr sz="1600" b="1" i="0">
                <a:solidFill>
                  <a:srgbClr val="132D36"/>
                </a:solidFill>
                <a:latin typeface="Arial"/>
                <a:ea typeface="Arial"/>
                <a:cs typeface="Arial"/>
              </a:defRPr>
            </a:lvl2pPr>
            <a:lvl3pPr algn="l">
              <a:buNone/>
              <a:defRPr sz="1600" b="1" i="0">
                <a:solidFill>
                  <a:srgbClr val="132D36"/>
                </a:solidFill>
                <a:latin typeface="Arial"/>
                <a:ea typeface="Arial"/>
                <a:cs typeface="Arial"/>
              </a:defRPr>
            </a:lvl3pPr>
            <a:lvl4pPr algn="l">
              <a:buNone/>
              <a:defRPr sz="1600" b="1" i="0">
                <a:solidFill>
                  <a:srgbClr val="132D36"/>
                </a:solidFill>
                <a:latin typeface="Arial"/>
                <a:ea typeface="Arial"/>
                <a:cs typeface="Arial"/>
              </a:defRPr>
            </a:lvl4pPr>
            <a:lvl5pPr algn="l">
              <a:buNone/>
              <a:defRPr sz="1600" b="1" i="0">
                <a:solidFill>
                  <a:srgbClr val="132D36"/>
                </a:solidFill>
                <a:latin typeface="Arial"/>
                <a:ea typeface="Arial"/>
                <a:cs typeface="Arial"/>
              </a:defRPr>
            </a:lvl5pPr>
            <a:lvl6pPr algn="l">
              <a:buNone/>
              <a:defRPr sz="1600" b="1" i="0">
                <a:solidFill>
                  <a:srgbClr val="132D36"/>
                </a:solidFill>
                <a:latin typeface="Arial"/>
                <a:ea typeface="Arial"/>
                <a:cs typeface="Arial"/>
              </a:defRPr>
            </a:lvl6pPr>
            <a:lvl7pPr algn="l">
              <a:buNone/>
              <a:defRPr sz="1600" b="1" i="0">
                <a:solidFill>
                  <a:srgbClr val="132D36"/>
                </a:solidFill>
                <a:latin typeface="Arial"/>
                <a:ea typeface="Arial"/>
                <a:cs typeface="Arial"/>
              </a:defRPr>
            </a:lvl7pPr>
            <a:lvl8pPr algn="l">
              <a:buNone/>
              <a:defRPr sz="1600" b="1" i="0">
                <a:solidFill>
                  <a:srgbClr val="132D36"/>
                </a:solidFill>
                <a:latin typeface="Arial"/>
                <a:ea typeface="Arial"/>
                <a:cs typeface="Arial"/>
              </a:defRPr>
            </a:lvl8pPr>
            <a:lvl9pPr algn="l">
              <a:buNone/>
              <a:defRPr sz="1600" b="1" i="0">
                <a:solidFill>
                  <a:srgbClr val="132D36"/>
                </a:solidFill>
                <a:latin typeface="Arial"/>
                <a:ea typeface="Arial"/>
                <a:cs typeface="Arial"/>
              </a:defRPr>
            </a:lvl9pPr>
          </a:lstStyle>
          <a:p xmlns:a="http://schemas.openxmlformats.org/drawingml/2006/main">
            <a:pPr marL="0" indent="0" algn="l">
              <a:buNone/>
              <a:defRPr sz="1600" b="1" i="0">
                <a:solidFill>
                  <a:srgbClr val="132D36"/>
                </a:solidFill>
                <a:latin typeface="Arial"/>
                <a:ea typeface="Arial"/>
                <a:cs typeface="Arial"/>
              </a:defRPr>
            </a:pPr>
            <a:r>
              <a:rPr sz="1600" b="1" i="0">
                <a:solidFill>
                  <a:srgbClr val="132D36"/>
                </a:solidFill>
                <a:latin typeface="Arial"/>
                <a:ea typeface="Arial"/>
                <a:cs typeface="Arial"/>
              </a:rPr>
              <a:t>Targeted clarification</a:t>
            </a:r>
            <a:endParaRPr sz="1600"/>
          </a:p>
        </p:txBody>
      </p:sp>
      <p:sp>
        <p:nvSpPr>
          <p:cNvPr id="33" name="Text 30">
            <a:extLst xmlns:a="http://schemas.openxmlformats.org/drawingml/2006/main">
              <a:ext uri="{FF2B5EF4-FFF2-40B4-BE49-F238E27FC236}">
                <a16:creationId xmlns:a16="http://schemas.microsoft.com/office/drawing/2014/main" id="{3DCE19E6-53EE-4352-8B73-78880D91562D}"/>
              </a:ext>
            </a:extLst>
          </p:cNvPr>
          <p:cNvSpPr>
            <a:spLocks xmlns:a="http://schemas.openxmlformats.org/drawingml/2006/main" noGrp="1"/>
          </p:cNvSpPr>
          <p:nvPr/>
        </p:nvSpPr>
        <p:spPr>
          <a:xfrm xmlns:a="http://schemas.openxmlformats.org/drawingml/2006/main">
            <a:off x="749808" y="4846320"/>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Ask about the unclear unit. The merchant confirms; AI does not infer delivery.</a:t>
            </a:r>
            <a:endParaRPr sz="1400"/>
          </a:p>
        </p:txBody>
      </p:sp>
      <p:sp>
        <p:nvSpPr>
          <p:cNvPr id="34" name="Guardrail 2">
            <a:extLst xmlns:a="http://schemas.openxmlformats.org/drawingml/2006/main">
              <a:ext uri="{FF2B5EF4-FFF2-40B4-BE49-F238E27FC236}">
                <a16:creationId xmlns:a16="http://schemas.microsoft.com/office/drawing/2014/main" id="{E3DA5D12-22D6-4BDB-8740-5DCB41AEF3B4}"/>
              </a:ext>
            </a:extLst>
          </p:cNvPr>
          <p:cNvSpPr>
            <a:spLocks xmlns:a="http://schemas.openxmlformats.org/drawingml/2006/main" noGrp="1"/>
          </p:cNvSpPr>
          <p:nvPr/>
        </p:nvSpPr>
        <p:spPr>
          <a:xfrm xmlns:a="http://schemas.openxmlformats.org/drawingml/2006/main">
            <a:off x="4311396" y="4069080"/>
            <a:ext cx="3566160" cy="1600200"/>
          </a:xfrm>
          <a:prstGeom xmlns:a="http://schemas.openxmlformats.org/drawingml/2006/main" prst="roundRect">
            <a:avLst>
              <a:gd name="adj" fmla="val 6857"/>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35" name="Code does the arithmetic circle">
            <a:extLst xmlns:a="http://schemas.openxmlformats.org/drawingml/2006/main">
              <a:ext uri="{FF2B5EF4-FFF2-40B4-BE49-F238E27FC236}">
                <a16:creationId xmlns:a16="http://schemas.microsoft.com/office/drawing/2014/main" id="{8B732FFF-2A80-4A11-8F23-F77023D3E613}"/>
              </a:ext>
            </a:extLst>
          </p:cNvPr>
          <p:cNvSpPr>
            <a:spLocks xmlns:a="http://schemas.openxmlformats.org/drawingml/2006/main" noGrp="1"/>
          </p:cNvSpPr>
          <p:nvPr/>
        </p:nvSpPr>
        <p:spPr>
          <a:xfrm xmlns:a="http://schemas.openxmlformats.org/drawingml/2006/main">
            <a:off x="4512564" y="4251960"/>
            <a:ext cx="457200" cy="457200"/>
          </a:xfrm>
          <a:prstGeom xmlns:a="http://schemas.openxmlformats.org/drawingml/2006/main" prst="ellipse">
            <a:avLst/>
          </a:prstGeom>
          <a:solidFill xmlns:a="http://schemas.openxmlformats.org/drawingml/2006/main">
            <a:srgbClr val="007E80"/>
          </a:solidFill>
        </p:spPr>
      </p:sp>
      <p:pic>
        <p:nvPicPr>
          <p:cNvPr id="36" name="Image 1">
            <a:extLst xmlns:a="http://schemas.openxmlformats.org/drawingml/2006/main">
              <a:ext uri="{FF2B5EF4-FFF2-40B4-BE49-F238E27FC236}">
                <a16:creationId xmlns:a16="http://schemas.microsoft.com/office/drawing/2014/main" id="{27831970-969D-48D5-81AE-A16542038CC5}"/>
              </a:ext>
            </a:extLst>
          </p:cNvPr>
          <p:cNvPicPr>
            <a:picLocks xmlns:a="http://schemas.openxmlformats.org/drawingml/2006/main" noChangeAspect="1"/>
          </p:cNvPicPr>
          <p:nvPr/>
        </p:nvPicPr>
        <p:blipFill>
          <a:blip xmlns:r="http://schemas.openxmlformats.org/officeDocument/2006/relationships" xmlns:a="http://schemas.openxmlformats.org/drawingml/2006/main" r:embed="R24f95ae3d43043a7"/>
          <a:stretch xmlns:a="http://schemas.openxmlformats.org/drawingml/2006/main">
            <a:fillRect l="0" t="0" r="0" b="0"/>
          </a:stretch>
        </p:blipFill>
        <p:spPr>
          <a:xfrm xmlns:a="http://schemas.openxmlformats.org/drawingml/2006/main">
            <a:off x="4622292" y="4361688"/>
            <a:ext cx="237744" cy="237744"/>
          </a:xfrm>
          <a:prstGeom xmlns:a="http://schemas.openxmlformats.org/drawingml/2006/main" prst="rect">
            <a:avLst/>
          </a:prstGeom>
        </p:spPr>
      </p:pic>
      <p:sp>
        <p:nvSpPr>
          <p:cNvPr id="37" name="Text 33">
            <a:extLst xmlns:a="http://schemas.openxmlformats.org/drawingml/2006/main">
              <a:ext uri="{FF2B5EF4-FFF2-40B4-BE49-F238E27FC236}">
                <a16:creationId xmlns:a16="http://schemas.microsoft.com/office/drawing/2014/main" id="{E6A34AC9-79CE-4A72-A856-8DC0430267C0}"/>
              </a:ext>
            </a:extLst>
          </p:cNvPr>
          <p:cNvSpPr>
            <a:spLocks xmlns:a="http://schemas.openxmlformats.org/drawingml/2006/main" noGrp="1"/>
          </p:cNvSpPr>
          <p:nvPr/>
        </p:nvSpPr>
        <p:spPr>
          <a:xfrm xmlns:a="http://schemas.openxmlformats.org/drawingml/2006/main">
            <a:off x="5134356" y="4251960"/>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00" b="1" i="0">
                <a:solidFill>
                  <a:srgbClr val="132D36"/>
                </a:solidFill>
                <a:latin typeface="Arial"/>
                <a:ea typeface="Arial"/>
                <a:cs typeface="Arial"/>
              </a:defRPr>
            </a:defPPr>
            <a:lvl1pPr algn="l">
              <a:buNone/>
              <a:defRPr sz="1600" b="1" i="0">
                <a:solidFill>
                  <a:srgbClr val="132D36"/>
                </a:solidFill>
                <a:latin typeface="Arial"/>
                <a:ea typeface="Arial"/>
                <a:cs typeface="Arial"/>
              </a:defRPr>
            </a:lvl1pPr>
            <a:lvl2pPr algn="l">
              <a:buNone/>
              <a:defRPr sz="1600" b="1" i="0">
                <a:solidFill>
                  <a:srgbClr val="132D36"/>
                </a:solidFill>
                <a:latin typeface="Arial"/>
                <a:ea typeface="Arial"/>
                <a:cs typeface="Arial"/>
              </a:defRPr>
            </a:lvl2pPr>
            <a:lvl3pPr algn="l">
              <a:buNone/>
              <a:defRPr sz="1600" b="1" i="0">
                <a:solidFill>
                  <a:srgbClr val="132D36"/>
                </a:solidFill>
                <a:latin typeface="Arial"/>
                <a:ea typeface="Arial"/>
                <a:cs typeface="Arial"/>
              </a:defRPr>
            </a:lvl3pPr>
            <a:lvl4pPr algn="l">
              <a:buNone/>
              <a:defRPr sz="1600" b="1" i="0">
                <a:solidFill>
                  <a:srgbClr val="132D36"/>
                </a:solidFill>
                <a:latin typeface="Arial"/>
                <a:ea typeface="Arial"/>
                <a:cs typeface="Arial"/>
              </a:defRPr>
            </a:lvl4pPr>
            <a:lvl5pPr algn="l">
              <a:buNone/>
              <a:defRPr sz="1600" b="1" i="0">
                <a:solidFill>
                  <a:srgbClr val="132D36"/>
                </a:solidFill>
                <a:latin typeface="Arial"/>
                <a:ea typeface="Arial"/>
                <a:cs typeface="Arial"/>
              </a:defRPr>
            </a:lvl5pPr>
            <a:lvl6pPr algn="l">
              <a:buNone/>
              <a:defRPr sz="1600" b="1" i="0">
                <a:solidFill>
                  <a:srgbClr val="132D36"/>
                </a:solidFill>
                <a:latin typeface="Arial"/>
                <a:ea typeface="Arial"/>
                <a:cs typeface="Arial"/>
              </a:defRPr>
            </a:lvl6pPr>
            <a:lvl7pPr algn="l">
              <a:buNone/>
              <a:defRPr sz="1600" b="1" i="0">
                <a:solidFill>
                  <a:srgbClr val="132D36"/>
                </a:solidFill>
                <a:latin typeface="Arial"/>
                <a:ea typeface="Arial"/>
                <a:cs typeface="Arial"/>
              </a:defRPr>
            </a:lvl7pPr>
            <a:lvl8pPr algn="l">
              <a:buNone/>
              <a:defRPr sz="1600" b="1" i="0">
                <a:solidFill>
                  <a:srgbClr val="132D36"/>
                </a:solidFill>
                <a:latin typeface="Arial"/>
                <a:ea typeface="Arial"/>
                <a:cs typeface="Arial"/>
              </a:defRPr>
            </a:lvl8pPr>
            <a:lvl9pPr algn="l">
              <a:buNone/>
              <a:defRPr sz="1600" b="1" i="0">
                <a:solidFill>
                  <a:srgbClr val="132D36"/>
                </a:solidFill>
                <a:latin typeface="Arial"/>
                <a:ea typeface="Arial"/>
                <a:cs typeface="Arial"/>
              </a:defRPr>
            </a:lvl9pPr>
          </a:lstStyle>
          <a:p xmlns:a="http://schemas.openxmlformats.org/drawingml/2006/main">
            <a:pPr marL="0" indent="0" algn="l">
              <a:buNone/>
              <a:defRPr sz="1600" b="1" i="0">
                <a:solidFill>
                  <a:srgbClr val="132D36"/>
                </a:solidFill>
                <a:latin typeface="Arial"/>
                <a:ea typeface="Arial"/>
                <a:cs typeface="Arial"/>
              </a:defRPr>
            </a:pPr>
            <a:r>
              <a:rPr sz="1600" b="1" i="0">
                <a:solidFill>
                  <a:srgbClr val="132D36"/>
                </a:solidFill>
                <a:latin typeface="Arial"/>
                <a:ea typeface="Arial"/>
                <a:cs typeface="Arial"/>
              </a:rPr>
              <a:t>Next-bill verification</a:t>
            </a:r>
            <a:endParaRPr sz="1600"/>
          </a:p>
        </p:txBody>
      </p:sp>
      <p:sp>
        <p:nvSpPr>
          <p:cNvPr id="38" name="Text 34">
            <a:extLst xmlns:a="http://schemas.openxmlformats.org/drawingml/2006/main">
              <a:ext uri="{FF2B5EF4-FFF2-40B4-BE49-F238E27FC236}">
                <a16:creationId xmlns:a16="http://schemas.microsoft.com/office/drawing/2014/main" id="{55B52396-10E5-4C41-B111-B7C5818AAA5F}"/>
              </a:ext>
            </a:extLst>
          </p:cNvPr>
          <p:cNvSpPr>
            <a:spLocks xmlns:a="http://schemas.openxmlformats.org/drawingml/2006/main" noGrp="1"/>
          </p:cNvSpPr>
          <p:nvPr/>
        </p:nvSpPr>
        <p:spPr>
          <a:xfrm xmlns:a="http://schemas.openxmlformats.org/drawingml/2006/main">
            <a:off x="4512564" y="4846320"/>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AI reads credit evidence. Code checks supplier, reference and amount. You confirm.</a:t>
            </a:r>
            <a:endParaRPr sz="1400"/>
          </a:p>
        </p:txBody>
      </p:sp>
      <p:sp>
        <p:nvSpPr>
          <p:cNvPr id="39" name="Guardrail 3">
            <a:extLst xmlns:a="http://schemas.openxmlformats.org/drawingml/2006/main">
              <a:ext uri="{FF2B5EF4-FFF2-40B4-BE49-F238E27FC236}">
                <a16:creationId xmlns:a16="http://schemas.microsoft.com/office/drawing/2014/main" id="{3E0C3A7D-DFD8-4B80-8870-EA08270C8C42}"/>
              </a:ext>
            </a:extLst>
          </p:cNvPr>
          <p:cNvSpPr>
            <a:spLocks xmlns:a="http://schemas.openxmlformats.org/drawingml/2006/main" noGrp="1"/>
          </p:cNvSpPr>
          <p:nvPr/>
        </p:nvSpPr>
        <p:spPr>
          <a:xfrm xmlns:a="http://schemas.openxmlformats.org/drawingml/2006/main">
            <a:off x="8074152" y="4069080"/>
            <a:ext cx="3566160" cy="1600200"/>
          </a:xfrm>
          <a:prstGeom xmlns:a="http://schemas.openxmlformats.org/drawingml/2006/main" prst="roundRect">
            <a:avLst>
              <a:gd name="adj" fmla="val 6857"/>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40" name="Safe by design circle">
            <a:extLst xmlns:a="http://schemas.openxmlformats.org/drawingml/2006/main">
              <a:ext uri="{FF2B5EF4-FFF2-40B4-BE49-F238E27FC236}">
                <a16:creationId xmlns:a16="http://schemas.microsoft.com/office/drawing/2014/main" id="{E161EA62-EF3C-42D5-8A36-A851DB2A09A6}"/>
              </a:ext>
            </a:extLst>
          </p:cNvPr>
          <p:cNvSpPr>
            <a:spLocks xmlns:a="http://schemas.openxmlformats.org/drawingml/2006/main" noGrp="1"/>
          </p:cNvSpPr>
          <p:nvPr/>
        </p:nvSpPr>
        <p:spPr>
          <a:xfrm xmlns:a="http://schemas.openxmlformats.org/drawingml/2006/main">
            <a:off x="8275320" y="4251960"/>
            <a:ext cx="457200" cy="457200"/>
          </a:xfrm>
          <a:prstGeom xmlns:a="http://schemas.openxmlformats.org/drawingml/2006/main" prst="ellipse">
            <a:avLst/>
          </a:prstGeom>
          <a:solidFill xmlns:a="http://schemas.openxmlformats.org/drawingml/2006/main">
            <a:srgbClr val="007E80"/>
          </a:solidFill>
        </p:spPr>
      </p:sp>
      <p:pic>
        <p:nvPicPr>
          <p:cNvPr id="41" name="Image 2">
            <a:extLst xmlns:a="http://schemas.openxmlformats.org/drawingml/2006/main">
              <a:ext uri="{FF2B5EF4-FFF2-40B4-BE49-F238E27FC236}">
                <a16:creationId xmlns:a16="http://schemas.microsoft.com/office/drawing/2014/main" id="{2ADDB426-30B0-45A8-B514-27B0349F65C4}"/>
              </a:ext>
            </a:extLst>
          </p:cNvPr>
          <p:cNvPicPr>
            <a:picLocks xmlns:a="http://schemas.openxmlformats.org/drawingml/2006/main" noChangeAspect="1"/>
          </p:cNvPicPr>
          <p:nvPr/>
        </p:nvPicPr>
        <p:blipFill>
          <a:blip xmlns:r="http://schemas.openxmlformats.org/officeDocument/2006/relationships" xmlns:a="http://schemas.openxmlformats.org/drawingml/2006/main" r:embed="R042ac92190de4f23"/>
          <a:stretch xmlns:a="http://schemas.openxmlformats.org/drawingml/2006/main">
            <a:fillRect l="0" t="0" r="0" b="0"/>
          </a:stretch>
        </p:blipFill>
        <p:spPr>
          <a:xfrm xmlns:a="http://schemas.openxmlformats.org/drawingml/2006/main">
            <a:off x="8385048" y="4361688"/>
            <a:ext cx="237744" cy="237744"/>
          </a:xfrm>
          <a:prstGeom xmlns:a="http://schemas.openxmlformats.org/drawingml/2006/main" prst="rect">
            <a:avLst/>
          </a:prstGeom>
        </p:spPr>
      </p:pic>
      <p:sp>
        <p:nvSpPr>
          <p:cNvPr id="42" name="Text 37">
            <a:extLst xmlns:a="http://schemas.openxmlformats.org/drawingml/2006/main">
              <a:ext uri="{FF2B5EF4-FFF2-40B4-BE49-F238E27FC236}">
                <a16:creationId xmlns:a16="http://schemas.microsoft.com/office/drawing/2014/main" id="{20808802-8FE4-4880-9D02-8B80D999C8F4}"/>
              </a:ext>
            </a:extLst>
          </p:cNvPr>
          <p:cNvSpPr>
            <a:spLocks xmlns:a="http://schemas.openxmlformats.org/drawingml/2006/main" noGrp="1"/>
          </p:cNvSpPr>
          <p:nvPr/>
        </p:nvSpPr>
        <p:spPr>
          <a:xfrm xmlns:a="http://schemas.openxmlformats.org/drawingml/2006/main">
            <a:off x="8897112" y="4251960"/>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00" b="1" i="0">
                <a:solidFill>
                  <a:srgbClr val="132D36"/>
                </a:solidFill>
                <a:latin typeface="Arial"/>
                <a:ea typeface="Arial"/>
                <a:cs typeface="Arial"/>
              </a:defRPr>
            </a:defPPr>
            <a:lvl1pPr algn="l">
              <a:buNone/>
              <a:defRPr sz="1600" b="1" i="0">
                <a:solidFill>
                  <a:srgbClr val="132D36"/>
                </a:solidFill>
                <a:latin typeface="Arial"/>
                <a:ea typeface="Arial"/>
                <a:cs typeface="Arial"/>
              </a:defRPr>
            </a:lvl1pPr>
            <a:lvl2pPr algn="l">
              <a:buNone/>
              <a:defRPr sz="1600" b="1" i="0">
                <a:solidFill>
                  <a:srgbClr val="132D36"/>
                </a:solidFill>
                <a:latin typeface="Arial"/>
                <a:ea typeface="Arial"/>
                <a:cs typeface="Arial"/>
              </a:defRPr>
            </a:lvl2pPr>
            <a:lvl3pPr algn="l">
              <a:buNone/>
              <a:defRPr sz="1600" b="1" i="0">
                <a:solidFill>
                  <a:srgbClr val="132D36"/>
                </a:solidFill>
                <a:latin typeface="Arial"/>
                <a:ea typeface="Arial"/>
                <a:cs typeface="Arial"/>
              </a:defRPr>
            </a:lvl3pPr>
            <a:lvl4pPr algn="l">
              <a:buNone/>
              <a:defRPr sz="1600" b="1" i="0">
                <a:solidFill>
                  <a:srgbClr val="132D36"/>
                </a:solidFill>
                <a:latin typeface="Arial"/>
                <a:ea typeface="Arial"/>
                <a:cs typeface="Arial"/>
              </a:defRPr>
            </a:lvl4pPr>
            <a:lvl5pPr algn="l">
              <a:buNone/>
              <a:defRPr sz="1600" b="1" i="0">
                <a:solidFill>
                  <a:srgbClr val="132D36"/>
                </a:solidFill>
                <a:latin typeface="Arial"/>
                <a:ea typeface="Arial"/>
                <a:cs typeface="Arial"/>
              </a:defRPr>
            </a:lvl5pPr>
            <a:lvl6pPr algn="l">
              <a:buNone/>
              <a:defRPr sz="1600" b="1" i="0">
                <a:solidFill>
                  <a:srgbClr val="132D36"/>
                </a:solidFill>
                <a:latin typeface="Arial"/>
                <a:ea typeface="Arial"/>
                <a:cs typeface="Arial"/>
              </a:defRPr>
            </a:lvl6pPr>
            <a:lvl7pPr algn="l">
              <a:buNone/>
              <a:defRPr sz="1600" b="1" i="0">
                <a:solidFill>
                  <a:srgbClr val="132D36"/>
                </a:solidFill>
                <a:latin typeface="Arial"/>
                <a:ea typeface="Arial"/>
                <a:cs typeface="Arial"/>
              </a:defRPr>
            </a:lvl7pPr>
            <a:lvl8pPr algn="l">
              <a:buNone/>
              <a:defRPr sz="1600" b="1" i="0">
                <a:solidFill>
                  <a:srgbClr val="132D36"/>
                </a:solidFill>
                <a:latin typeface="Arial"/>
                <a:ea typeface="Arial"/>
                <a:cs typeface="Arial"/>
              </a:defRPr>
            </a:lvl8pPr>
            <a:lvl9pPr algn="l">
              <a:buNone/>
              <a:defRPr sz="1600" b="1" i="0">
                <a:solidFill>
                  <a:srgbClr val="132D36"/>
                </a:solidFill>
                <a:latin typeface="Arial"/>
                <a:ea typeface="Arial"/>
                <a:cs typeface="Arial"/>
              </a:defRPr>
            </a:lvl9pPr>
          </a:lstStyle>
          <a:p xmlns:a="http://schemas.openxmlformats.org/drawingml/2006/main">
            <a:pPr marL="0" indent="0" algn="l">
              <a:buNone/>
              <a:defRPr sz="1600" b="1" i="0">
                <a:solidFill>
                  <a:srgbClr val="132D36"/>
                </a:solidFill>
                <a:latin typeface="Arial"/>
                <a:ea typeface="Arial"/>
                <a:cs typeface="Arial"/>
              </a:defRPr>
            </a:pPr>
            <a:r>
              <a:rPr sz="1600" b="1" i="0">
                <a:solidFill>
                  <a:srgbClr val="132D36"/>
                </a:solidFill>
                <a:latin typeface="Arial"/>
                <a:ea typeface="Arial"/>
                <a:cs typeface="Arial"/>
              </a:rPr>
              <a:t>Controlled case updates</a:t>
            </a:r>
            <a:endParaRPr sz="1600"/>
          </a:p>
        </p:txBody>
      </p:sp>
      <p:sp>
        <p:nvSpPr>
          <p:cNvPr id="43" name="Text 38">
            <a:extLst xmlns:a="http://schemas.openxmlformats.org/drawingml/2006/main">
              <a:ext uri="{FF2B5EF4-FFF2-40B4-BE49-F238E27FC236}">
                <a16:creationId xmlns:a16="http://schemas.microsoft.com/office/drawing/2014/main" id="{06B13963-A9C1-4508-A21D-F6ABE29CEC50}"/>
              </a:ext>
            </a:extLst>
          </p:cNvPr>
          <p:cNvSpPr>
            <a:spLocks xmlns:a="http://schemas.openxmlformats.org/drawingml/2006/main" noGrp="1"/>
          </p:cNvSpPr>
          <p:nvPr/>
        </p:nvSpPr>
        <p:spPr>
          <a:xfrm xmlns:a="http://schemas.openxmlformats.org/drawingml/2006/main">
            <a:off x="8275320" y="4846320"/>
            <a:ext cx="3200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Changed inputs require reapproval. Unique resolution records block duplicate counting.</a:t>
            </a:r>
            <a:endParaRPr sz="1400"/>
          </a:p>
        </p:txBody>
      </p:sp>
      <p:sp>
        <p:nvSpPr>
          <p:cNvPr id="44" name="Text 39">
            <a:extLst xmlns:a="http://schemas.openxmlformats.org/drawingml/2006/main">
              <a:ext uri="{FF2B5EF4-FFF2-40B4-BE49-F238E27FC236}">
                <a16:creationId xmlns:a16="http://schemas.microsoft.com/office/drawing/2014/main" id="{A50868D9-C205-43FA-BEEB-0C0FEA63B5A4}"/>
              </a:ext>
            </a:extLst>
          </p:cNvPr>
          <p:cNvSpPr>
            <a:spLocks xmlns:a="http://schemas.openxmlformats.org/drawingml/2006/main" noGrp="1"/>
          </p:cNvSpPr>
          <p:nvPr/>
        </p:nvSpPr>
        <p:spPr>
          <a:xfrm xmlns:a="http://schemas.openxmlformats.org/drawingml/2006/main">
            <a:off x="548640" y="5824728"/>
            <a:ext cx="1109167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i="0">
                <a:solidFill>
                  <a:srgbClr val="53676C"/>
                </a:solidFill>
                <a:latin typeface="Arial"/>
                <a:ea typeface="Arial"/>
                <a:cs typeface="Arial"/>
              </a:defRPr>
            </a:defPPr>
            <a:lvl1pPr algn="l">
              <a:buNone/>
              <a:defRPr sz="1300" b="0" i="0">
                <a:solidFill>
                  <a:srgbClr val="53676C"/>
                </a:solidFill>
                <a:latin typeface="Arial"/>
                <a:ea typeface="Arial"/>
                <a:cs typeface="Arial"/>
              </a:defRPr>
            </a:lvl1pPr>
            <a:lvl2pPr algn="l">
              <a:buNone/>
              <a:defRPr sz="1300" b="0" i="0">
                <a:solidFill>
                  <a:srgbClr val="53676C"/>
                </a:solidFill>
                <a:latin typeface="Arial"/>
                <a:ea typeface="Arial"/>
                <a:cs typeface="Arial"/>
              </a:defRPr>
            </a:lvl2pPr>
            <a:lvl3pPr algn="l">
              <a:buNone/>
              <a:defRPr sz="1300" b="0" i="0">
                <a:solidFill>
                  <a:srgbClr val="53676C"/>
                </a:solidFill>
                <a:latin typeface="Arial"/>
                <a:ea typeface="Arial"/>
                <a:cs typeface="Arial"/>
              </a:defRPr>
            </a:lvl3pPr>
            <a:lvl4pPr algn="l">
              <a:buNone/>
              <a:defRPr sz="1300" b="0" i="0">
                <a:solidFill>
                  <a:srgbClr val="53676C"/>
                </a:solidFill>
                <a:latin typeface="Arial"/>
                <a:ea typeface="Arial"/>
                <a:cs typeface="Arial"/>
              </a:defRPr>
            </a:lvl4pPr>
            <a:lvl5pPr algn="l">
              <a:buNone/>
              <a:defRPr sz="1300" b="0" i="0">
                <a:solidFill>
                  <a:srgbClr val="53676C"/>
                </a:solidFill>
                <a:latin typeface="Arial"/>
                <a:ea typeface="Arial"/>
                <a:cs typeface="Arial"/>
              </a:defRPr>
            </a:lvl5pPr>
            <a:lvl6pPr algn="l">
              <a:buNone/>
              <a:defRPr sz="1300" b="0" i="0">
                <a:solidFill>
                  <a:srgbClr val="53676C"/>
                </a:solidFill>
                <a:latin typeface="Arial"/>
                <a:ea typeface="Arial"/>
                <a:cs typeface="Arial"/>
              </a:defRPr>
            </a:lvl6pPr>
            <a:lvl7pPr algn="l">
              <a:buNone/>
              <a:defRPr sz="1300" b="0" i="0">
                <a:solidFill>
                  <a:srgbClr val="53676C"/>
                </a:solidFill>
                <a:latin typeface="Arial"/>
                <a:ea typeface="Arial"/>
                <a:cs typeface="Arial"/>
              </a:defRPr>
            </a:lvl7pPr>
            <a:lvl8pPr algn="l">
              <a:buNone/>
              <a:defRPr sz="1300" b="0" i="0">
                <a:solidFill>
                  <a:srgbClr val="53676C"/>
                </a:solidFill>
                <a:latin typeface="Arial"/>
                <a:ea typeface="Arial"/>
                <a:cs typeface="Arial"/>
              </a:defRPr>
            </a:lvl8pPr>
            <a:lvl9pPr algn="l">
              <a:buNone/>
              <a:defRPr sz="1300" b="0" i="0">
                <a:solidFill>
                  <a:srgbClr val="53676C"/>
                </a:solidFill>
                <a:latin typeface="Arial"/>
                <a:ea typeface="Arial"/>
                <a:cs typeface="Arial"/>
              </a:defRPr>
            </a:lvl9pPr>
          </a:lstStyle>
          <a:p xmlns:a="http://schemas.openxmlformats.org/drawingml/2006/main">
            <a:pPr marL="0" indent="0" algn="l">
              <a:buNone/>
              <a:defRPr sz="1300" b="0" i="0">
                <a:solidFill>
                  <a:srgbClr val="53676C"/>
                </a:solidFill>
                <a:latin typeface="Arial"/>
                <a:ea typeface="Arial"/>
                <a:cs typeface="Arial"/>
              </a:defRPr>
            </a:pPr>
            <a:r>
              <a:rPr sz="1300" b="0" i="0">
                <a:solidFill>
                  <a:srgbClr val="53676C"/>
                </a:solidFill>
                <a:latin typeface="Arial"/>
                <a:ea typeface="Arial"/>
                <a:cs typeface="Arial"/>
              </a:rPr>
              <a:t>Planned stack: React, FastAPI, PostgreSQL and a vision model. One supported invoice format, synthetic bills and simulated supplier replies. No live Paytm integration assumed.</a:t>
            </a:r>
            <a:endParaRPr sz="1300"/>
          </a:p>
        </p:txBody>
      </p:sp>
      <p:sp>
        <p:nvSpPr>
          <p:cNvPr id="45" name="Slide Number Placeholder 0">
            <a:extLst xmlns:a="http://schemas.openxmlformats.org/drawingml/2006/main">
              <a:ext uri="{FF2B5EF4-FFF2-40B4-BE49-F238E27FC236}">
                <a16:creationId xmlns:a16="http://schemas.microsoft.com/office/drawing/2014/main" id="{A995E89A-B8B4-46F7-9CCE-426EBE2B4710}"/>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6571827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FF8EEE-2A44-4E05-8884-CEA9450C3CDD}"/>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USP</a:t>
            </a:r>
            <a:endParaRPr sz="1400"/>
          </a:p>
        </p:txBody>
      </p:sp>
      <p:sp>
        <p:nvSpPr>
          <p:cNvPr id="3" name="Text 0">
            <a:extLst xmlns:a="http://schemas.openxmlformats.org/drawingml/2006/main">
              <a:ext uri="{FF2B5EF4-FFF2-40B4-BE49-F238E27FC236}">
                <a16:creationId xmlns:a16="http://schemas.microsoft.com/office/drawing/2014/main" id="{4452C17B-E45A-4D3A-A982-BBDD37C178A9}"/>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132D36"/>
                </a:solidFill>
                <a:latin typeface="Arial"/>
                <a:ea typeface="Arial"/>
                <a:cs typeface="Arial"/>
              </a:defRPr>
            </a:defPPr>
            <a:lvl1pPr algn="l">
              <a:buNone/>
              <a:defRPr sz="3600" b="1" i="0">
                <a:solidFill>
                  <a:srgbClr val="132D36"/>
                </a:solidFill>
                <a:latin typeface="Arial"/>
                <a:ea typeface="Arial"/>
                <a:cs typeface="Arial"/>
              </a:defRPr>
            </a:lvl1pPr>
            <a:lvl2pPr algn="l">
              <a:buNone/>
              <a:defRPr sz="3600" b="1" i="0">
                <a:solidFill>
                  <a:srgbClr val="132D36"/>
                </a:solidFill>
                <a:latin typeface="Arial"/>
                <a:ea typeface="Arial"/>
                <a:cs typeface="Arial"/>
              </a:defRPr>
            </a:lvl2pPr>
            <a:lvl3pPr algn="l">
              <a:buNone/>
              <a:defRPr sz="3600" b="1" i="0">
                <a:solidFill>
                  <a:srgbClr val="132D36"/>
                </a:solidFill>
                <a:latin typeface="Arial"/>
                <a:ea typeface="Arial"/>
                <a:cs typeface="Arial"/>
              </a:defRPr>
            </a:lvl3pPr>
            <a:lvl4pPr algn="l">
              <a:buNone/>
              <a:defRPr sz="3600" b="1" i="0">
                <a:solidFill>
                  <a:srgbClr val="132D36"/>
                </a:solidFill>
                <a:latin typeface="Arial"/>
                <a:ea typeface="Arial"/>
                <a:cs typeface="Arial"/>
              </a:defRPr>
            </a:lvl4pPr>
            <a:lvl5pPr algn="l">
              <a:buNone/>
              <a:defRPr sz="3600" b="1" i="0">
                <a:solidFill>
                  <a:srgbClr val="132D36"/>
                </a:solidFill>
                <a:latin typeface="Arial"/>
                <a:ea typeface="Arial"/>
                <a:cs typeface="Arial"/>
              </a:defRPr>
            </a:lvl5pPr>
            <a:lvl6pPr algn="l">
              <a:buNone/>
              <a:defRPr sz="3600" b="1" i="0">
                <a:solidFill>
                  <a:srgbClr val="132D36"/>
                </a:solidFill>
                <a:latin typeface="Arial"/>
                <a:ea typeface="Arial"/>
                <a:cs typeface="Arial"/>
              </a:defRPr>
            </a:lvl6pPr>
            <a:lvl7pPr algn="l">
              <a:buNone/>
              <a:defRPr sz="3600" b="1" i="0">
                <a:solidFill>
                  <a:srgbClr val="132D36"/>
                </a:solidFill>
                <a:latin typeface="Arial"/>
                <a:ea typeface="Arial"/>
                <a:cs typeface="Arial"/>
              </a:defRPr>
            </a:lvl7pPr>
            <a:lvl8pPr algn="l">
              <a:buNone/>
              <a:defRPr sz="3600" b="1" i="0">
                <a:solidFill>
                  <a:srgbClr val="132D36"/>
                </a:solidFill>
                <a:latin typeface="Arial"/>
                <a:ea typeface="Arial"/>
                <a:cs typeface="Arial"/>
              </a:defRPr>
            </a:lvl8pPr>
            <a:lvl9pPr algn="l">
              <a:buNone/>
              <a:defRPr sz="3600" b="1" i="0">
                <a:solidFill>
                  <a:srgbClr val="132D36"/>
                </a:solidFill>
                <a:latin typeface="Arial"/>
                <a:ea typeface="Arial"/>
                <a:cs typeface="Arial"/>
              </a:defRPr>
            </a:lvl9pPr>
          </a:lstStyle>
          <a:p xmlns:a="http://schemas.openxmlformats.org/drawingml/2006/main">
            <a:pPr marL="0" indent="0" algn="l">
              <a:buNone/>
              <a:defRPr sz="3600" b="1" i="0">
                <a:solidFill>
                  <a:srgbClr val="132D36"/>
                </a:solidFill>
                <a:latin typeface="Arial"/>
                <a:ea typeface="Arial"/>
                <a:cs typeface="Arial"/>
              </a:defRPr>
            </a:pPr>
            <a:r>
              <a:rPr sz="3600" b="1" i="0">
                <a:solidFill>
                  <a:srgbClr val="132D36"/>
                </a:solidFill>
                <a:latin typeface="Arial"/>
                <a:ea typeface="Arial"/>
                <a:cs typeface="Arial"/>
              </a:rPr>
              <a:t>Turn incomplete records into a reviewed case</a:t>
            </a:r>
            <a:endParaRPr sz="3600"/>
          </a:p>
        </p:txBody>
      </p:sp>
      <p:sp>
        <p:nvSpPr>
          <p:cNvPr id="4" name="USP row 1">
            <a:extLst xmlns:a="http://schemas.openxmlformats.org/drawingml/2006/main">
              <a:ext uri="{FF2B5EF4-FFF2-40B4-BE49-F238E27FC236}">
                <a16:creationId xmlns:a16="http://schemas.microsoft.com/office/drawing/2014/main" id="{9C89A348-800F-4916-B1DA-099F9F8EBF17}"/>
              </a:ext>
            </a:extLst>
          </p:cNvPr>
          <p:cNvSpPr>
            <a:spLocks xmlns:a="http://schemas.openxmlformats.org/drawingml/2006/main" noGrp="1"/>
          </p:cNvSpPr>
          <p:nvPr/>
        </p:nvSpPr>
        <p:spPr>
          <a:xfrm xmlns:a="http://schemas.openxmlformats.org/drawingml/2006/main">
            <a:off x="548640" y="1645920"/>
            <a:ext cx="6858000" cy="1143000"/>
          </a:xfrm>
          <a:prstGeom xmlns:a="http://schemas.openxmlformats.org/drawingml/2006/main" prst="roundRect">
            <a:avLst>
              <a:gd name="adj" fmla="val 96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5" name="Ask only what’s missing circle">
            <a:extLst xmlns:a="http://schemas.openxmlformats.org/drawingml/2006/main">
              <a:ext uri="{FF2B5EF4-FFF2-40B4-BE49-F238E27FC236}">
                <a16:creationId xmlns:a16="http://schemas.microsoft.com/office/drawing/2014/main" id="{AA66C3AC-3AB5-48FA-BDD9-A35AFDE6439C}"/>
              </a:ext>
            </a:extLst>
          </p:cNvPr>
          <p:cNvSpPr>
            <a:spLocks xmlns:a="http://schemas.openxmlformats.org/drawingml/2006/main" noGrp="1"/>
          </p:cNvSpPr>
          <p:nvPr/>
        </p:nvSpPr>
        <p:spPr>
          <a:xfrm xmlns:a="http://schemas.openxmlformats.org/drawingml/2006/main">
            <a:off x="777240" y="1920240"/>
            <a:ext cx="594360" cy="594360"/>
          </a:xfrm>
          <a:prstGeom xmlns:a="http://schemas.openxmlformats.org/drawingml/2006/main" prst="ellipse">
            <a:avLst/>
          </a:prstGeom>
          <a:solidFill xmlns:a="http://schemas.openxmlformats.org/drawingml/2006/main">
            <a:srgbClr val="007E80"/>
          </a:solidFill>
        </p:spPr>
      </p:sp>
      <p:pic>
        <p:nvPicPr>
          <p:cNvPr id="6" name="Image 0">
            <a:extLst xmlns:a="http://schemas.openxmlformats.org/drawingml/2006/main">
              <a:ext uri="{FF2B5EF4-FFF2-40B4-BE49-F238E27FC236}">
                <a16:creationId xmlns:a16="http://schemas.microsoft.com/office/drawing/2014/main" id="{EDDDFA5F-F01E-41B6-A79A-47EDC8D552F3}"/>
              </a:ext>
            </a:extLst>
          </p:cNvPr>
          <p:cNvPicPr>
            <a:picLocks xmlns:a="http://schemas.openxmlformats.org/drawingml/2006/main" noChangeAspect="1"/>
          </p:cNvPicPr>
          <p:nvPr/>
        </p:nvPicPr>
        <p:blipFill>
          <a:blip xmlns:r="http://schemas.openxmlformats.org/officeDocument/2006/relationships" xmlns:a="http://schemas.openxmlformats.org/drawingml/2006/main" r:embed="R170ea7583dab469b"/>
          <a:stretch xmlns:a="http://schemas.openxmlformats.org/drawingml/2006/main">
            <a:fillRect l="0" t="0" r="0" b="0"/>
          </a:stretch>
        </p:blipFill>
        <p:spPr>
          <a:xfrm xmlns:a="http://schemas.openxmlformats.org/drawingml/2006/main">
            <a:off x="919886" y="2062886"/>
            <a:ext cx="309067" cy="30906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683FE70-3AEB-4904-B611-771A46DEEF41}"/>
              </a:ext>
            </a:extLst>
          </p:cNvPr>
          <p:cNvSpPr>
            <a:spLocks xmlns:a="http://schemas.openxmlformats.org/drawingml/2006/main" noGrp="1"/>
          </p:cNvSpPr>
          <p:nvPr/>
        </p:nvSpPr>
        <p:spPr>
          <a:xfrm xmlns:a="http://schemas.openxmlformats.org/drawingml/2006/main">
            <a:off x="1600200" y="178308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132D36"/>
                </a:solidFill>
                <a:latin typeface="Arial"/>
                <a:ea typeface="Arial"/>
                <a:cs typeface="Arial"/>
              </a:defRPr>
            </a:defPPr>
            <a:lvl1pPr algn="l">
              <a:buNone/>
              <a:defRPr sz="2000" b="1" i="0">
                <a:solidFill>
                  <a:srgbClr val="132D36"/>
                </a:solidFill>
                <a:latin typeface="Arial"/>
                <a:ea typeface="Arial"/>
                <a:cs typeface="Arial"/>
              </a:defRPr>
            </a:lvl1pPr>
            <a:lvl2pPr algn="l">
              <a:buNone/>
              <a:defRPr sz="2000" b="1" i="0">
                <a:solidFill>
                  <a:srgbClr val="132D36"/>
                </a:solidFill>
                <a:latin typeface="Arial"/>
                <a:ea typeface="Arial"/>
                <a:cs typeface="Arial"/>
              </a:defRPr>
            </a:lvl2pPr>
            <a:lvl3pPr algn="l">
              <a:buNone/>
              <a:defRPr sz="2000" b="1" i="0">
                <a:solidFill>
                  <a:srgbClr val="132D36"/>
                </a:solidFill>
                <a:latin typeface="Arial"/>
                <a:ea typeface="Arial"/>
                <a:cs typeface="Arial"/>
              </a:defRPr>
            </a:lvl3pPr>
            <a:lvl4pPr algn="l">
              <a:buNone/>
              <a:defRPr sz="2000" b="1" i="0">
                <a:solidFill>
                  <a:srgbClr val="132D36"/>
                </a:solidFill>
                <a:latin typeface="Arial"/>
                <a:ea typeface="Arial"/>
                <a:cs typeface="Arial"/>
              </a:defRPr>
            </a:lvl4pPr>
            <a:lvl5pPr algn="l">
              <a:buNone/>
              <a:defRPr sz="2000" b="1" i="0">
                <a:solidFill>
                  <a:srgbClr val="132D36"/>
                </a:solidFill>
                <a:latin typeface="Arial"/>
                <a:ea typeface="Arial"/>
                <a:cs typeface="Arial"/>
              </a:defRPr>
            </a:lvl5pPr>
            <a:lvl6pPr algn="l">
              <a:buNone/>
              <a:defRPr sz="2000" b="1" i="0">
                <a:solidFill>
                  <a:srgbClr val="132D36"/>
                </a:solidFill>
                <a:latin typeface="Arial"/>
                <a:ea typeface="Arial"/>
                <a:cs typeface="Arial"/>
              </a:defRPr>
            </a:lvl6pPr>
            <a:lvl7pPr algn="l">
              <a:buNone/>
              <a:defRPr sz="2000" b="1" i="0">
                <a:solidFill>
                  <a:srgbClr val="132D36"/>
                </a:solidFill>
                <a:latin typeface="Arial"/>
                <a:ea typeface="Arial"/>
                <a:cs typeface="Arial"/>
              </a:defRPr>
            </a:lvl7pPr>
            <a:lvl8pPr algn="l">
              <a:buNone/>
              <a:defRPr sz="2000" b="1" i="0">
                <a:solidFill>
                  <a:srgbClr val="132D36"/>
                </a:solidFill>
                <a:latin typeface="Arial"/>
                <a:ea typeface="Arial"/>
                <a:cs typeface="Arial"/>
              </a:defRPr>
            </a:lvl8pPr>
            <a:lvl9pPr algn="l">
              <a:buNone/>
              <a:defRPr sz="2000" b="1" i="0">
                <a:solidFill>
                  <a:srgbClr val="132D36"/>
                </a:solidFill>
                <a:latin typeface="Arial"/>
                <a:ea typeface="Arial"/>
                <a:cs typeface="Arial"/>
              </a:defRPr>
            </a:lvl9pPr>
          </a:lstStyle>
          <a:p xmlns:a="http://schemas.openxmlformats.org/drawingml/2006/main">
            <a:pPr marL="0" indent="0" algn="l">
              <a:buNone/>
              <a:defRPr sz="2000" b="1" i="0">
                <a:solidFill>
                  <a:srgbClr val="132D36"/>
                </a:solidFill>
                <a:latin typeface="Arial"/>
                <a:ea typeface="Arial"/>
                <a:cs typeface="Arial"/>
              </a:defRPr>
            </a:pPr>
            <a:r>
              <a:rPr sz="2000" b="1" i="0">
                <a:solidFill>
                  <a:srgbClr val="132D36"/>
                </a:solidFill>
                <a:latin typeface="Arial"/>
                <a:ea typeface="Arial"/>
                <a:cs typeface="Arial"/>
              </a:rPr>
              <a:t>Guided confirmation</a:t>
            </a:r>
            <a:endParaRPr sz="2000"/>
          </a:p>
        </p:txBody>
      </p:sp>
      <p:sp>
        <p:nvSpPr>
          <p:cNvPr id="8" name="Text 5">
            <a:extLst xmlns:a="http://schemas.openxmlformats.org/drawingml/2006/main">
              <a:ext uri="{FF2B5EF4-FFF2-40B4-BE49-F238E27FC236}">
                <a16:creationId xmlns:a16="http://schemas.microsoft.com/office/drawing/2014/main" id="{907C14A4-7909-4CCB-86E5-D1AD0813C4A9}"/>
              </a:ext>
            </a:extLst>
          </p:cNvPr>
          <p:cNvSpPr>
            <a:spLocks xmlns:a="http://schemas.openxmlformats.org/drawingml/2006/main" noGrp="1"/>
          </p:cNvSpPr>
          <p:nvPr/>
        </p:nvSpPr>
        <p:spPr>
          <a:xfrm xmlns:a="http://schemas.openxmlformats.org/drawingml/2006/main">
            <a:off x="1600200" y="2176272"/>
            <a:ext cx="5440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AI flags unclear fields and asks a specific question. The merchant confirms units, counts and delivery status.</a:t>
            </a:r>
            <a:endParaRPr sz="1400"/>
          </a:p>
        </p:txBody>
      </p:sp>
      <p:sp>
        <p:nvSpPr>
          <p:cNvPr id="9" name="USP row 2">
            <a:extLst xmlns:a="http://schemas.openxmlformats.org/drawingml/2006/main">
              <a:ext uri="{FF2B5EF4-FFF2-40B4-BE49-F238E27FC236}">
                <a16:creationId xmlns:a16="http://schemas.microsoft.com/office/drawing/2014/main" id="{16DA11E2-5062-407B-A7C3-B21147246160}"/>
              </a:ext>
            </a:extLst>
          </p:cNvPr>
          <p:cNvSpPr>
            <a:spLocks xmlns:a="http://schemas.openxmlformats.org/drawingml/2006/main" noGrp="1"/>
          </p:cNvSpPr>
          <p:nvPr/>
        </p:nvSpPr>
        <p:spPr>
          <a:xfrm xmlns:a="http://schemas.openxmlformats.org/drawingml/2006/main">
            <a:off x="548640" y="2926080"/>
            <a:ext cx="6858000" cy="1143000"/>
          </a:xfrm>
          <a:prstGeom xmlns:a="http://schemas.openxmlformats.org/drawingml/2006/main" prst="roundRect">
            <a:avLst>
              <a:gd name="adj" fmla="val 96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0" name="Evidence a supplier can read circle">
            <a:extLst xmlns:a="http://schemas.openxmlformats.org/drawingml/2006/main">
              <a:ext uri="{FF2B5EF4-FFF2-40B4-BE49-F238E27FC236}">
                <a16:creationId xmlns:a16="http://schemas.microsoft.com/office/drawing/2014/main" id="{CD243B4B-E6D2-4C02-B2B5-A9E0DCC5FDD5}"/>
              </a:ext>
            </a:extLst>
          </p:cNvPr>
          <p:cNvSpPr>
            <a:spLocks xmlns:a="http://schemas.openxmlformats.org/drawingml/2006/main" noGrp="1"/>
          </p:cNvSpPr>
          <p:nvPr/>
        </p:nvSpPr>
        <p:spPr>
          <a:xfrm xmlns:a="http://schemas.openxmlformats.org/drawingml/2006/main">
            <a:off x="777240" y="3200400"/>
            <a:ext cx="594360" cy="594360"/>
          </a:xfrm>
          <a:prstGeom xmlns:a="http://schemas.openxmlformats.org/drawingml/2006/main" prst="ellipse">
            <a:avLst/>
          </a:prstGeom>
          <a:solidFill xmlns:a="http://schemas.openxmlformats.org/drawingml/2006/main">
            <a:srgbClr val="007E80"/>
          </a:solidFill>
        </p:spPr>
      </p:sp>
      <p:pic>
        <p:nvPicPr>
          <p:cNvPr id="11" name="Image 1">
            <a:extLst xmlns:a="http://schemas.openxmlformats.org/drawingml/2006/main">
              <a:ext uri="{FF2B5EF4-FFF2-40B4-BE49-F238E27FC236}">
                <a16:creationId xmlns:a16="http://schemas.microsoft.com/office/drawing/2014/main" id="{701C3A59-6430-49AB-8AFE-38F66F2A48F5}"/>
              </a:ext>
            </a:extLst>
          </p:cNvPr>
          <p:cNvPicPr>
            <a:picLocks xmlns:a="http://schemas.openxmlformats.org/drawingml/2006/main" noChangeAspect="1"/>
          </p:cNvPicPr>
          <p:nvPr/>
        </p:nvPicPr>
        <p:blipFill>
          <a:blip xmlns:r="http://schemas.openxmlformats.org/officeDocument/2006/relationships" xmlns:a="http://schemas.openxmlformats.org/drawingml/2006/main" r:embed="R2957fcdbb62c4ccd"/>
          <a:stretch xmlns:a="http://schemas.openxmlformats.org/drawingml/2006/main">
            <a:fillRect l="0" t="0" r="0" b="0"/>
          </a:stretch>
        </p:blipFill>
        <p:spPr>
          <a:xfrm xmlns:a="http://schemas.openxmlformats.org/drawingml/2006/main">
            <a:off x="919886" y="3343046"/>
            <a:ext cx="309067" cy="30906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835A3B76-1C08-41DF-BA33-25BEEE430C4C}"/>
              </a:ext>
            </a:extLst>
          </p:cNvPr>
          <p:cNvSpPr>
            <a:spLocks xmlns:a="http://schemas.openxmlformats.org/drawingml/2006/main" noGrp="1"/>
          </p:cNvSpPr>
          <p:nvPr/>
        </p:nvSpPr>
        <p:spPr>
          <a:xfrm xmlns:a="http://schemas.openxmlformats.org/drawingml/2006/main">
            <a:off x="1600200" y="306324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tx1"/>
                </a:solidFill>
              </a:rPr>
              <a:t>Evidence a supplier can read</a:t>
            </a:r>
            <a:endParaRPr sz="2000"/>
          </a:p>
        </p:txBody>
      </p:sp>
      <p:sp>
        <p:nvSpPr>
          <p:cNvPr id="13" name="Text 9">
            <a:extLst xmlns:a="http://schemas.openxmlformats.org/drawingml/2006/main">
              <a:ext uri="{FF2B5EF4-FFF2-40B4-BE49-F238E27FC236}">
                <a16:creationId xmlns:a16="http://schemas.microsoft.com/office/drawing/2014/main" id="{1FB97207-FAE0-4A70-9E9C-E515F3E2F0D5}"/>
              </a:ext>
            </a:extLst>
          </p:cNvPr>
          <p:cNvSpPr>
            <a:spLocks xmlns:a="http://schemas.openxmlformats.org/drawingml/2006/main" noGrp="1"/>
          </p:cNvSpPr>
          <p:nvPr/>
        </p:nvSpPr>
        <p:spPr>
          <a:xfrm xmlns:a="http://schemas.openxmlformats.org/drawingml/2006/main">
            <a:off x="1600200" y="3456432"/>
            <a:ext cx="5440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Bill line, your confirmed count and the exact calculation, on one card.</a:t>
            </a:r>
            <a:endParaRPr sz="1400"/>
          </a:p>
        </p:txBody>
      </p:sp>
      <p:sp>
        <p:nvSpPr>
          <p:cNvPr id="14" name="USP row 3">
            <a:extLst xmlns:a="http://schemas.openxmlformats.org/drawingml/2006/main">
              <a:ext uri="{FF2B5EF4-FFF2-40B4-BE49-F238E27FC236}">
                <a16:creationId xmlns:a16="http://schemas.microsoft.com/office/drawing/2014/main" id="{60614A7D-1B0A-4045-9B4B-422041945C51}"/>
              </a:ext>
            </a:extLst>
          </p:cNvPr>
          <p:cNvSpPr>
            <a:spLocks xmlns:a="http://schemas.openxmlformats.org/drawingml/2006/main" noGrp="1"/>
          </p:cNvSpPr>
          <p:nvPr/>
        </p:nvSpPr>
        <p:spPr>
          <a:xfrm xmlns:a="http://schemas.openxmlformats.org/drawingml/2006/main">
            <a:off x="548640" y="4206240"/>
            <a:ext cx="6858000" cy="1143000"/>
          </a:xfrm>
          <a:prstGeom xmlns:a="http://schemas.openxmlformats.org/drawingml/2006/main" prst="roundRect">
            <a:avLst>
              <a:gd name="adj" fmla="val 9600"/>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5" name="Follow-up that doesn’t forget circle">
            <a:extLst xmlns:a="http://schemas.openxmlformats.org/drawingml/2006/main">
              <a:ext uri="{FF2B5EF4-FFF2-40B4-BE49-F238E27FC236}">
                <a16:creationId xmlns:a16="http://schemas.microsoft.com/office/drawing/2014/main" id="{B8151668-549C-47DC-8E99-FDA04A7379A2}"/>
              </a:ext>
            </a:extLst>
          </p:cNvPr>
          <p:cNvSpPr>
            <a:spLocks xmlns:a="http://schemas.openxmlformats.org/drawingml/2006/main" noGrp="1"/>
          </p:cNvSpPr>
          <p:nvPr/>
        </p:nvSpPr>
        <p:spPr>
          <a:xfrm xmlns:a="http://schemas.openxmlformats.org/drawingml/2006/main">
            <a:off x="777240" y="4480560"/>
            <a:ext cx="594360" cy="594360"/>
          </a:xfrm>
          <a:prstGeom xmlns:a="http://schemas.openxmlformats.org/drawingml/2006/main" prst="ellipse">
            <a:avLst/>
          </a:prstGeom>
          <a:solidFill xmlns:a="http://schemas.openxmlformats.org/drawingml/2006/main">
            <a:srgbClr val="007E80"/>
          </a:solidFill>
        </p:spPr>
      </p:sp>
      <p:pic>
        <p:nvPicPr>
          <p:cNvPr id="16" name="Image 2">
            <a:extLst xmlns:a="http://schemas.openxmlformats.org/drawingml/2006/main">
              <a:ext uri="{FF2B5EF4-FFF2-40B4-BE49-F238E27FC236}">
                <a16:creationId xmlns:a16="http://schemas.microsoft.com/office/drawing/2014/main" id="{B7C63D5F-8FCA-40D9-8C0A-2DFEFB23BED2}"/>
              </a:ext>
            </a:extLst>
          </p:cNvPr>
          <p:cNvPicPr>
            <a:picLocks xmlns:a="http://schemas.openxmlformats.org/drawingml/2006/main" noChangeAspect="1"/>
          </p:cNvPicPr>
          <p:nvPr/>
        </p:nvPicPr>
        <p:blipFill>
          <a:blip xmlns:r="http://schemas.openxmlformats.org/officeDocument/2006/relationships" xmlns:a="http://schemas.openxmlformats.org/drawingml/2006/main" r:embed="R544037cf94034c86"/>
          <a:stretch xmlns:a="http://schemas.openxmlformats.org/drawingml/2006/main">
            <a:fillRect l="0" t="0" r="0" b="0"/>
          </a:stretch>
        </p:blipFill>
        <p:spPr>
          <a:xfrm xmlns:a="http://schemas.openxmlformats.org/drawingml/2006/main">
            <a:off x="919886" y="4623206"/>
            <a:ext cx="309067" cy="30906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D179F5DF-9B1D-4A98-B6C8-00215D6125D5}"/>
              </a:ext>
            </a:extLst>
          </p:cNvPr>
          <p:cNvSpPr>
            <a:spLocks xmlns:a="http://schemas.openxmlformats.org/drawingml/2006/main" noGrp="1"/>
          </p:cNvSpPr>
          <p:nvPr/>
        </p:nvSpPr>
        <p:spPr>
          <a:xfrm xmlns:a="http://schemas.openxmlformats.org/drawingml/2006/main">
            <a:off x="1600200" y="434340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132D36"/>
                </a:solidFill>
                <a:latin typeface="Arial"/>
                <a:ea typeface="Arial"/>
                <a:cs typeface="Arial"/>
              </a:defRPr>
            </a:defPPr>
            <a:lvl1pPr algn="l">
              <a:buNone/>
              <a:defRPr sz="2000" b="1" i="0">
                <a:solidFill>
                  <a:srgbClr val="132D36"/>
                </a:solidFill>
                <a:latin typeface="Arial"/>
                <a:ea typeface="Arial"/>
                <a:cs typeface="Arial"/>
              </a:defRPr>
            </a:lvl1pPr>
            <a:lvl2pPr algn="l">
              <a:buNone/>
              <a:defRPr sz="2000" b="1" i="0">
                <a:solidFill>
                  <a:srgbClr val="132D36"/>
                </a:solidFill>
                <a:latin typeface="Arial"/>
                <a:ea typeface="Arial"/>
                <a:cs typeface="Arial"/>
              </a:defRPr>
            </a:lvl2pPr>
            <a:lvl3pPr algn="l">
              <a:buNone/>
              <a:defRPr sz="2000" b="1" i="0">
                <a:solidFill>
                  <a:srgbClr val="132D36"/>
                </a:solidFill>
                <a:latin typeface="Arial"/>
                <a:ea typeface="Arial"/>
                <a:cs typeface="Arial"/>
              </a:defRPr>
            </a:lvl3pPr>
            <a:lvl4pPr algn="l">
              <a:buNone/>
              <a:defRPr sz="2000" b="1" i="0">
                <a:solidFill>
                  <a:srgbClr val="132D36"/>
                </a:solidFill>
                <a:latin typeface="Arial"/>
                <a:ea typeface="Arial"/>
                <a:cs typeface="Arial"/>
              </a:defRPr>
            </a:lvl4pPr>
            <a:lvl5pPr algn="l">
              <a:buNone/>
              <a:defRPr sz="2000" b="1" i="0">
                <a:solidFill>
                  <a:srgbClr val="132D36"/>
                </a:solidFill>
                <a:latin typeface="Arial"/>
                <a:ea typeface="Arial"/>
                <a:cs typeface="Arial"/>
              </a:defRPr>
            </a:lvl5pPr>
            <a:lvl6pPr algn="l">
              <a:buNone/>
              <a:defRPr sz="2000" b="1" i="0">
                <a:solidFill>
                  <a:srgbClr val="132D36"/>
                </a:solidFill>
                <a:latin typeface="Arial"/>
                <a:ea typeface="Arial"/>
                <a:cs typeface="Arial"/>
              </a:defRPr>
            </a:lvl6pPr>
            <a:lvl7pPr algn="l">
              <a:buNone/>
              <a:defRPr sz="2000" b="1" i="0">
                <a:solidFill>
                  <a:srgbClr val="132D36"/>
                </a:solidFill>
                <a:latin typeface="Arial"/>
                <a:ea typeface="Arial"/>
                <a:cs typeface="Arial"/>
              </a:defRPr>
            </a:lvl7pPr>
            <a:lvl8pPr algn="l">
              <a:buNone/>
              <a:defRPr sz="2000" b="1" i="0">
                <a:solidFill>
                  <a:srgbClr val="132D36"/>
                </a:solidFill>
                <a:latin typeface="Arial"/>
                <a:ea typeface="Arial"/>
                <a:cs typeface="Arial"/>
              </a:defRPr>
            </a:lvl8pPr>
            <a:lvl9pPr algn="l">
              <a:buNone/>
              <a:defRPr sz="2000" b="1" i="0">
                <a:solidFill>
                  <a:srgbClr val="132D36"/>
                </a:solidFill>
                <a:latin typeface="Arial"/>
                <a:ea typeface="Arial"/>
                <a:cs typeface="Arial"/>
              </a:defRPr>
            </a:lvl9pPr>
          </a:lstStyle>
          <a:p xmlns:a="http://schemas.openxmlformats.org/drawingml/2006/main">
            <a:pPr marL="0" indent="0" algn="l">
              <a:buNone/>
              <a:defRPr sz="2000" b="1" i="0">
                <a:solidFill>
                  <a:srgbClr val="132D36"/>
                </a:solidFill>
                <a:latin typeface="Arial"/>
                <a:ea typeface="Arial"/>
                <a:cs typeface="Arial"/>
              </a:defRPr>
            </a:pPr>
            <a:r>
              <a:rPr sz="2000" b="1" i="0">
                <a:solidFill>
                  <a:srgbClr val="132D36"/>
                </a:solidFill>
                <a:latin typeface="Arial"/>
                <a:ea typeface="Arial"/>
                <a:cs typeface="Arial"/>
              </a:rPr>
              <a:t>Verification before closure</a:t>
            </a:r>
            <a:endParaRPr sz="2000"/>
          </a:p>
        </p:txBody>
      </p:sp>
      <p:sp>
        <p:nvSpPr>
          <p:cNvPr id="18" name="Text 13">
            <a:extLst xmlns:a="http://schemas.openxmlformats.org/drawingml/2006/main">
              <a:ext uri="{FF2B5EF4-FFF2-40B4-BE49-F238E27FC236}">
                <a16:creationId xmlns:a16="http://schemas.microsoft.com/office/drawing/2014/main" id="{9D96ADCC-4913-4993-8989-9491FAC9795B}"/>
              </a:ext>
            </a:extLst>
          </p:cNvPr>
          <p:cNvSpPr>
            <a:spLocks xmlns:a="http://schemas.openxmlformats.org/drawingml/2006/main" noGrp="1"/>
          </p:cNvSpPr>
          <p:nvPr/>
        </p:nvSpPr>
        <p:spPr>
          <a:xfrm xmlns:a="http://schemas.openxmlformats.org/drawingml/2006/main">
            <a:off x="1600200" y="4736592"/>
            <a:ext cx="5440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Match the supplier, invoice reference and credit amount. Confirm application. Partial or unclear credits stay open.</a:t>
            </a:r>
            <a:endParaRPr sz="1400"/>
          </a:p>
        </p:txBody>
      </p:sp>
      <p:sp>
        <p:nvSpPr>
          <p:cNvPr id="19" name="Compare card">
            <a:extLst xmlns:a="http://schemas.openxmlformats.org/drawingml/2006/main">
              <a:ext uri="{FF2B5EF4-FFF2-40B4-BE49-F238E27FC236}">
                <a16:creationId xmlns:a16="http://schemas.microsoft.com/office/drawing/2014/main" id="{1A18B2B1-7ACD-49DE-9B71-F4633A4B0B8E}"/>
              </a:ext>
            </a:extLst>
          </p:cNvPr>
          <p:cNvSpPr>
            <a:spLocks xmlns:a="http://schemas.openxmlformats.org/drawingml/2006/main" noGrp="1"/>
          </p:cNvSpPr>
          <p:nvPr/>
        </p:nvSpPr>
        <p:spPr>
          <a:xfrm xmlns:a="http://schemas.openxmlformats.org/drawingml/2006/main">
            <a:off x="7680960" y="1645920"/>
            <a:ext cx="3959352" cy="3703320"/>
          </a:xfrm>
          <a:prstGeom xmlns:a="http://schemas.openxmlformats.org/drawingml/2006/main" prst="roundRect">
            <a:avLst>
              <a:gd name="adj" fmla="val 2963"/>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20" name="Text 15">
            <a:extLst xmlns:a="http://schemas.openxmlformats.org/drawingml/2006/main">
              <a:ext uri="{FF2B5EF4-FFF2-40B4-BE49-F238E27FC236}">
                <a16:creationId xmlns:a16="http://schemas.microsoft.com/office/drawing/2014/main" id="{433433C0-44E9-478D-86AC-1AF64CEE715B}"/>
              </a:ext>
            </a:extLst>
          </p:cNvPr>
          <p:cNvSpPr>
            <a:spLocks xmlns:a="http://schemas.openxmlformats.org/drawingml/2006/main" noGrp="1"/>
          </p:cNvSpPr>
          <p:nvPr/>
        </p:nvSpPr>
        <p:spPr>
          <a:xfrm xmlns:a="http://schemas.openxmlformats.org/drawingml/2006/main">
            <a:off x="8001000" y="1874520"/>
            <a:ext cx="3383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i="0">
                <a:solidFill>
                  <a:srgbClr val="EFBA53"/>
                </a:solidFill>
                <a:latin typeface="Arial"/>
                <a:ea typeface="Arial"/>
                <a:cs typeface="Arial"/>
              </a:defRPr>
            </a:defPPr>
            <a:lvl1pPr algn="l">
              <a:buNone/>
              <a:defRPr sz="1200" b="1" i="0">
                <a:solidFill>
                  <a:srgbClr val="EFBA53"/>
                </a:solidFill>
                <a:latin typeface="Arial"/>
                <a:ea typeface="Arial"/>
                <a:cs typeface="Arial"/>
              </a:defRPr>
            </a:lvl1pPr>
            <a:lvl2pPr algn="l">
              <a:buNone/>
              <a:defRPr sz="1200" b="1" i="0">
                <a:solidFill>
                  <a:srgbClr val="EFBA53"/>
                </a:solidFill>
                <a:latin typeface="Arial"/>
                <a:ea typeface="Arial"/>
                <a:cs typeface="Arial"/>
              </a:defRPr>
            </a:lvl2pPr>
            <a:lvl3pPr algn="l">
              <a:buNone/>
              <a:defRPr sz="1200" b="1" i="0">
                <a:solidFill>
                  <a:srgbClr val="EFBA53"/>
                </a:solidFill>
                <a:latin typeface="Arial"/>
                <a:ea typeface="Arial"/>
                <a:cs typeface="Arial"/>
              </a:defRPr>
            </a:lvl3pPr>
            <a:lvl4pPr algn="l">
              <a:buNone/>
              <a:defRPr sz="1200" b="1" i="0">
                <a:solidFill>
                  <a:srgbClr val="EFBA53"/>
                </a:solidFill>
                <a:latin typeface="Arial"/>
                <a:ea typeface="Arial"/>
                <a:cs typeface="Arial"/>
              </a:defRPr>
            </a:lvl4pPr>
            <a:lvl5pPr algn="l">
              <a:buNone/>
              <a:defRPr sz="1200" b="1" i="0">
                <a:solidFill>
                  <a:srgbClr val="EFBA53"/>
                </a:solidFill>
                <a:latin typeface="Arial"/>
                <a:ea typeface="Arial"/>
                <a:cs typeface="Arial"/>
              </a:defRPr>
            </a:lvl5pPr>
            <a:lvl6pPr algn="l">
              <a:buNone/>
              <a:defRPr sz="1200" b="1" i="0">
                <a:solidFill>
                  <a:srgbClr val="EFBA53"/>
                </a:solidFill>
                <a:latin typeface="Arial"/>
                <a:ea typeface="Arial"/>
                <a:cs typeface="Arial"/>
              </a:defRPr>
            </a:lvl6pPr>
            <a:lvl7pPr algn="l">
              <a:buNone/>
              <a:defRPr sz="1200" b="1" i="0">
                <a:solidFill>
                  <a:srgbClr val="EFBA53"/>
                </a:solidFill>
                <a:latin typeface="Arial"/>
                <a:ea typeface="Arial"/>
                <a:cs typeface="Arial"/>
              </a:defRPr>
            </a:lvl7pPr>
            <a:lvl8pPr algn="l">
              <a:buNone/>
              <a:defRPr sz="1200" b="1" i="0">
                <a:solidFill>
                  <a:srgbClr val="EFBA53"/>
                </a:solidFill>
                <a:latin typeface="Arial"/>
                <a:ea typeface="Arial"/>
                <a:cs typeface="Arial"/>
              </a:defRPr>
            </a:lvl8pPr>
            <a:lvl9pPr algn="l">
              <a:buNone/>
              <a:defRPr sz="1200" b="1" i="0">
                <a:solidFill>
                  <a:srgbClr val="EFBA53"/>
                </a:solidFill>
                <a:latin typeface="Arial"/>
                <a:ea typeface="Arial"/>
                <a:cs typeface="Arial"/>
              </a:defRPr>
            </a:lvl9pPr>
          </a:lstStyle>
          <a:p xmlns:a="http://schemas.openxmlformats.org/drawingml/2006/main">
            <a:pPr marL="0" indent="0" algn="l">
              <a:buNone/>
              <a:defRPr sz="1200" b="1" i="0">
                <a:solidFill>
                  <a:srgbClr val="EFBA53"/>
                </a:solidFill>
                <a:latin typeface="Arial"/>
                <a:ea typeface="Arial"/>
                <a:cs typeface="Arial"/>
              </a:defRPr>
            </a:pPr>
            <a:r>
              <a:rPr sz="1200" b="1" i="0" spc="100">
                <a:solidFill>
                  <a:srgbClr val="EFBA53"/>
                </a:solidFill>
                <a:latin typeface="Arial"/>
                <a:ea typeface="Arial"/>
                <a:cs typeface="Arial"/>
              </a:rPr>
              <a:t>ILLUSTRATIVE CREDIT</a:t>
            </a:r>
            <a:endParaRPr sz="1200"/>
          </a:p>
        </p:txBody>
      </p:sp>
      <p:sp>
        <p:nvSpPr>
          <p:cNvPr id="21" name="Text 16">
            <a:extLst xmlns:a="http://schemas.openxmlformats.org/drawingml/2006/main">
              <a:ext uri="{FF2B5EF4-FFF2-40B4-BE49-F238E27FC236}">
                <a16:creationId xmlns:a16="http://schemas.microsoft.com/office/drawing/2014/main" id="{FAB2BA9A-7DA6-481B-A9DC-FA2BEEF40D1A}"/>
              </a:ext>
            </a:extLst>
          </p:cNvPr>
          <p:cNvSpPr>
            <a:spLocks xmlns:a="http://schemas.openxmlformats.org/drawingml/2006/main" noGrp="1"/>
          </p:cNvSpPr>
          <p:nvPr/>
        </p:nvSpPr>
        <p:spPr>
          <a:xfrm xmlns:a="http://schemas.openxmlformats.org/drawingml/2006/main">
            <a:off x="8001000" y="2194560"/>
            <a:ext cx="33832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FFFFFF"/>
                </a:solidFill>
                <a:latin typeface="Arial"/>
                <a:ea typeface="Arial"/>
                <a:cs typeface="Arial"/>
              </a:defRPr>
            </a:defPPr>
            <a:lvl1pPr algn="l">
              <a:buNone/>
              <a:defRPr sz="2000" b="1" i="0">
                <a:solidFill>
                  <a:srgbClr val="FFFFFF"/>
                </a:solidFill>
                <a:latin typeface="Arial"/>
                <a:ea typeface="Arial"/>
                <a:cs typeface="Arial"/>
              </a:defRPr>
            </a:lvl1pPr>
            <a:lvl2pPr algn="l">
              <a:buNone/>
              <a:defRPr sz="2000" b="1" i="0">
                <a:solidFill>
                  <a:srgbClr val="FFFFFF"/>
                </a:solidFill>
                <a:latin typeface="Arial"/>
                <a:ea typeface="Arial"/>
                <a:cs typeface="Arial"/>
              </a:defRPr>
            </a:lvl2pPr>
            <a:lvl3pPr algn="l">
              <a:buNone/>
              <a:defRPr sz="2000" b="1" i="0">
                <a:solidFill>
                  <a:srgbClr val="FFFFFF"/>
                </a:solidFill>
                <a:latin typeface="Arial"/>
                <a:ea typeface="Arial"/>
                <a:cs typeface="Arial"/>
              </a:defRPr>
            </a:lvl3pPr>
            <a:lvl4pPr algn="l">
              <a:buNone/>
              <a:defRPr sz="2000" b="1" i="0">
                <a:solidFill>
                  <a:srgbClr val="FFFFFF"/>
                </a:solidFill>
                <a:latin typeface="Arial"/>
                <a:ea typeface="Arial"/>
                <a:cs typeface="Arial"/>
              </a:defRPr>
            </a:lvl4pPr>
            <a:lvl5pPr algn="l">
              <a:buNone/>
              <a:defRPr sz="2000" b="1" i="0">
                <a:solidFill>
                  <a:srgbClr val="FFFFFF"/>
                </a:solidFill>
                <a:latin typeface="Arial"/>
                <a:ea typeface="Arial"/>
                <a:cs typeface="Arial"/>
              </a:defRPr>
            </a:lvl5pPr>
            <a:lvl6pPr algn="l">
              <a:buNone/>
              <a:defRPr sz="2000" b="1" i="0">
                <a:solidFill>
                  <a:srgbClr val="FFFFFF"/>
                </a:solidFill>
                <a:latin typeface="Arial"/>
                <a:ea typeface="Arial"/>
                <a:cs typeface="Arial"/>
              </a:defRPr>
            </a:lvl6pPr>
            <a:lvl7pPr algn="l">
              <a:buNone/>
              <a:defRPr sz="2000" b="1" i="0">
                <a:solidFill>
                  <a:srgbClr val="FFFFFF"/>
                </a:solidFill>
                <a:latin typeface="Arial"/>
                <a:ea typeface="Arial"/>
                <a:cs typeface="Arial"/>
              </a:defRPr>
            </a:lvl7pPr>
            <a:lvl8pPr algn="l">
              <a:buNone/>
              <a:defRPr sz="2000" b="1" i="0">
                <a:solidFill>
                  <a:srgbClr val="FFFFFF"/>
                </a:solidFill>
                <a:latin typeface="Arial"/>
                <a:ea typeface="Arial"/>
                <a:cs typeface="Arial"/>
              </a:defRPr>
            </a:lvl8pPr>
            <a:lvl9pPr algn="l">
              <a:buNone/>
              <a:defRPr sz="2000" b="1" i="0">
                <a:solidFill>
                  <a:srgbClr val="FFFFFF"/>
                </a:solidFill>
                <a:latin typeface="Arial"/>
                <a:ea typeface="Arial"/>
                <a:cs typeface="Arial"/>
              </a:defRPr>
            </a:lvl9pPr>
          </a:lstStyle>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₹80 accepted</a:t>
            </a:r>
            <a:endParaRPr sz="2000"/>
          </a:p>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S-01 / Invoice A-104</a:t>
            </a:r>
            <a:endParaRPr sz="2000"/>
          </a:p>
        </p:txBody>
      </p:sp>
      <p:sp>
        <p:nvSpPr>
          <p:cNvPr id="22" name="Compare arrow">
            <a:extLst xmlns:a="http://schemas.openxmlformats.org/drawingml/2006/main">
              <a:ext uri="{FF2B5EF4-FFF2-40B4-BE49-F238E27FC236}">
                <a16:creationId xmlns:a16="http://schemas.microsoft.com/office/drawing/2014/main" id="{3BDC3E23-81E4-4297-8C58-36026FE6E123}"/>
              </a:ext>
            </a:extLst>
          </p:cNvPr>
          <p:cNvSpPr>
            <a:spLocks xmlns:a="http://schemas.openxmlformats.org/drawingml/2006/main" noGrp="1"/>
          </p:cNvSpPr>
          <p:nvPr/>
        </p:nvSpPr>
        <p:spPr>
          <a:xfrm xmlns:a="http://schemas.openxmlformats.org/drawingml/2006/main" rot="5400000">
            <a:off x="8001000" y="3108960"/>
            <a:ext cx="457200" cy="320040"/>
          </a:xfrm>
          <a:prstGeom xmlns:a="http://schemas.openxmlformats.org/drawingml/2006/main" prst="rightArrow">
            <a:avLst/>
          </a:prstGeom>
          <a:solidFill xmlns:a="http://schemas.openxmlformats.org/drawingml/2006/main">
            <a:schemeClr val="accent4"/>
          </a:solidFill>
        </p:spPr>
      </p:sp>
      <p:sp>
        <p:nvSpPr>
          <p:cNvPr id="23" name="Text 18">
            <a:extLst xmlns:a="http://schemas.openxmlformats.org/drawingml/2006/main">
              <a:ext uri="{FF2B5EF4-FFF2-40B4-BE49-F238E27FC236}">
                <a16:creationId xmlns:a16="http://schemas.microsoft.com/office/drawing/2014/main" id="{1541946A-6DFA-4135-9339-79D8DC562BB9}"/>
              </a:ext>
            </a:extLst>
          </p:cNvPr>
          <p:cNvSpPr>
            <a:spLocks xmlns:a="http://schemas.openxmlformats.org/drawingml/2006/main" noGrp="1"/>
          </p:cNvSpPr>
          <p:nvPr/>
        </p:nvSpPr>
        <p:spPr>
          <a:xfrm xmlns:a="http://schemas.openxmlformats.org/drawingml/2006/main">
            <a:off x="8001000" y="3611880"/>
            <a:ext cx="3383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i="0">
                <a:solidFill>
                  <a:srgbClr val="51D7AE"/>
                </a:solidFill>
                <a:latin typeface="Arial"/>
                <a:ea typeface="Arial"/>
                <a:cs typeface="Arial"/>
              </a:defRPr>
            </a:defPPr>
            <a:lvl1pPr algn="l">
              <a:buNone/>
              <a:defRPr sz="1200" b="1" i="0">
                <a:solidFill>
                  <a:srgbClr val="51D7AE"/>
                </a:solidFill>
                <a:latin typeface="Arial"/>
                <a:ea typeface="Arial"/>
                <a:cs typeface="Arial"/>
              </a:defRPr>
            </a:lvl1pPr>
            <a:lvl2pPr algn="l">
              <a:buNone/>
              <a:defRPr sz="1200" b="1" i="0">
                <a:solidFill>
                  <a:srgbClr val="51D7AE"/>
                </a:solidFill>
                <a:latin typeface="Arial"/>
                <a:ea typeface="Arial"/>
                <a:cs typeface="Arial"/>
              </a:defRPr>
            </a:lvl2pPr>
            <a:lvl3pPr algn="l">
              <a:buNone/>
              <a:defRPr sz="1200" b="1" i="0">
                <a:solidFill>
                  <a:srgbClr val="51D7AE"/>
                </a:solidFill>
                <a:latin typeface="Arial"/>
                <a:ea typeface="Arial"/>
                <a:cs typeface="Arial"/>
              </a:defRPr>
            </a:lvl3pPr>
            <a:lvl4pPr algn="l">
              <a:buNone/>
              <a:defRPr sz="1200" b="1" i="0">
                <a:solidFill>
                  <a:srgbClr val="51D7AE"/>
                </a:solidFill>
                <a:latin typeface="Arial"/>
                <a:ea typeface="Arial"/>
                <a:cs typeface="Arial"/>
              </a:defRPr>
            </a:lvl4pPr>
            <a:lvl5pPr algn="l">
              <a:buNone/>
              <a:defRPr sz="1200" b="1" i="0">
                <a:solidFill>
                  <a:srgbClr val="51D7AE"/>
                </a:solidFill>
                <a:latin typeface="Arial"/>
                <a:ea typeface="Arial"/>
                <a:cs typeface="Arial"/>
              </a:defRPr>
            </a:lvl5pPr>
            <a:lvl6pPr algn="l">
              <a:buNone/>
              <a:defRPr sz="1200" b="1" i="0">
                <a:solidFill>
                  <a:srgbClr val="51D7AE"/>
                </a:solidFill>
                <a:latin typeface="Arial"/>
                <a:ea typeface="Arial"/>
                <a:cs typeface="Arial"/>
              </a:defRPr>
            </a:lvl6pPr>
            <a:lvl7pPr algn="l">
              <a:buNone/>
              <a:defRPr sz="1200" b="1" i="0">
                <a:solidFill>
                  <a:srgbClr val="51D7AE"/>
                </a:solidFill>
                <a:latin typeface="Arial"/>
                <a:ea typeface="Arial"/>
                <a:cs typeface="Arial"/>
              </a:defRPr>
            </a:lvl7pPr>
            <a:lvl8pPr algn="l">
              <a:buNone/>
              <a:defRPr sz="1200" b="1" i="0">
                <a:solidFill>
                  <a:srgbClr val="51D7AE"/>
                </a:solidFill>
                <a:latin typeface="Arial"/>
                <a:ea typeface="Arial"/>
                <a:cs typeface="Arial"/>
              </a:defRPr>
            </a:lvl8pPr>
            <a:lvl9pPr algn="l">
              <a:buNone/>
              <a:defRPr sz="1200" b="1" i="0">
                <a:solidFill>
                  <a:srgbClr val="51D7AE"/>
                </a:solidFill>
                <a:latin typeface="Arial"/>
                <a:ea typeface="Arial"/>
                <a:cs typeface="Arial"/>
              </a:defRPr>
            </a:lvl9pPr>
          </a:lstStyle>
          <a:p xmlns:a="http://schemas.openxmlformats.org/drawingml/2006/main">
            <a:pPr marL="0" indent="0" algn="l">
              <a:buNone/>
              <a:defRPr sz="1200" b="1" i="0">
                <a:solidFill>
                  <a:srgbClr val="51D7AE"/>
                </a:solidFill>
                <a:latin typeface="Arial"/>
                <a:ea typeface="Arial"/>
                <a:cs typeface="Arial"/>
              </a:defRPr>
            </a:pPr>
            <a:r>
              <a:rPr sz="1200" b="1" i="0" spc="100">
                <a:solidFill>
                  <a:srgbClr val="51D7AE"/>
                </a:solidFill>
                <a:latin typeface="Arial"/>
                <a:ea typeface="Arial"/>
                <a:cs typeface="Arial"/>
              </a:rPr>
              <a:t>NEXT BILL CHECK</a:t>
            </a:r>
            <a:endParaRPr sz="1200"/>
          </a:p>
        </p:txBody>
      </p:sp>
      <p:sp>
        <p:nvSpPr>
          <p:cNvPr id="24" name="Text 19">
            <a:extLst xmlns:a="http://schemas.openxmlformats.org/drawingml/2006/main">
              <a:ext uri="{FF2B5EF4-FFF2-40B4-BE49-F238E27FC236}">
                <a16:creationId xmlns:a16="http://schemas.microsoft.com/office/drawing/2014/main" id="{6ABEA2CB-2D5E-4758-BAD6-8B1FBCA973A8}"/>
              </a:ext>
            </a:extLst>
          </p:cNvPr>
          <p:cNvSpPr>
            <a:spLocks xmlns:a="http://schemas.openxmlformats.org/drawingml/2006/main" noGrp="1"/>
          </p:cNvSpPr>
          <p:nvPr/>
        </p:nvSpPr>
        <p:spPr>
          <a:xfrm xmlns:a="http://schemas.openxmlformats.org/drawingml/2006/main">
            <a:off x="8001000" y="3931920"/>
            <a:ext cx="33832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FFFFFF"/>
                </a:solidFill>
                <a:latin typeface="Arial"/>
                <a:ea typeface="Arial"/>
                <a:cs typeface="Arial"/>
              </a:defRPr>
            </a:defPPr>
            <a:lvl1pPr algn="l">
              <a:buNone/>
              <a:defRPr sz="2000" b="1" i="0">
                <a:solidFill>
                  <a:srgbClr val="FFFFFF"/>
                </a:solidFill>
                <a:latin typeface="Arial"/>
                <a:ea typeface="Arial"/>
                <a:cs typeface="Arial"/>
              </a:defRPr>
            </a:lvl1pPr>
            <a:lvl2pPr algn="l">
              <a:buNone/>
              <a:defRPr sz="2000" b="1" i="0">
                <a:solidFill>
                  <a:srgbClr val="FFFFFF"/>
                </a:solidFill>
                <a:latin typeface="Arial"/>
                <a:ea typeface="Arial"/>
                <a:cs typeface="Arial"/>
              </a:defRPr>
            </a:lvl2pPr>
            <a:lvl3pPr algn="l">
              <a:buNone/>
              <a:defRPr sz="2000" b="1" i="0">
                <a:solidFill>
                  <a:srgbClr val="FFFFFF"/>
                </a:solidFill>
                <a:latin typeface="Arial"/>
                <a:ea typeface="Arial"/>
                <a:cs typeface="Arial"/>
              </a:defRPr>
            </a:lvl3pPr>
            <a:lvl4pPr algn="l">
              <a:buNone/>
              <a:defRPr sz="2000" b="1" i="0">
                <a:solidFill>
                  <a:srgbClr val="FFFFFF"/>
                </a:solidFill>
                <a:latin typeface="Arial"/>
                <a:ea typeface="Arial"/>
                <a:cs typeface="Arial"/>
              </a:defRPr>
            </a:lvl4pPr>
            <a:lvl5pPr algn="l">
              <a:buNone/>
              <a:defRPr sz="2000" b="1" i="0">
                <a:solidFill>
                  <a:srgbClr val="FFFFFF"/>
                </a:solidFill>
                <a:latin typeface="Arial"/>
                <a:ea typeface="Arial"/>
                <a:cs typeface="Arial"/>
              </a:defRPr>
            </a:lvl5pPr>
            <a:lvl6pPr algn="l">
              <a:buNone/>
              <a:defRPr sz="2000" b="1" i="0">
                <a:solidFill>
                  <a:srgbClr val="FFFFFF"/>
                </a:solidFill>
                <a:latin typeface="Arial"/>
                <a:ea typeface="Arial"/>
                <a:cs typeface="Arial"/>
              </a:defRPr>
            </a:lvl6pPr>
            <a:lvl7pPr algn="l">
              <a:buNone/>
              <a:defRPr sz="2000" b="1" i="0">
                <a:solidFill>
                  <a:srgbClr val="FFFFFF"/>
                </a:solidFill>
                <a:latin typeface="Arial"/>
                <a:ea typeface="Arial"/>
                <a:cs typeface="Arial"/>
              </a:defRPr>
            </a:lvl7pPr>
            <a:lvl8pPr algn="l">
              <a:buNone/>
              <a:defRPr sz="2000" b="1" i="0">
                <a:solidFill>
                  <a:srgbClr val="FFFFFF"/>
                </a:solidFill>
                <a:latin typeface="Arial"/>
                <a:ea typeface="Arial"/>
                <a:cs typeface="Arial"/>
              </a:defRPr>
            </a:lvl8pPr>
            <a:lvl9pPr algn="l">
              <a:buNone/>
              <a:defRPr sz="2000" b="1" i="0">
                <a:solidFill>
                  <a:srgbClr val="FFFFFF"/>
                </a:solidFill>
                <a:latin typeface="Arial"/>
                <a:ea typeface="Arial"/>
                <a:cs typeface="Arial"/>
              </a:defRPr>
            </a:lvl9pPr>
          </a:lstStyle>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−₹80 against A-104</a:t>
            </a:r>
            <a:endParaRPr sz="2000"/>
          </a:p>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Confirm credit applied.</a:t>
            </a:r>
            <a:endParaRPr sz="2000"/>
          </a:p>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Unclear? Keep open.</a:t>
            </a:r>
            <a:endParaRPr sz="2000"/>
          </a:p>
        </p:txBody>
      </p:sp>
      <p:sp>
        <p:nvSpPr>
          <p:cNvPr id="25" name="Text 20">
            <a:extLst xmlns:a="http://schemas.openxmlformats.org/drawingml/2006/main">
              <a:ext uri="{FF2B5EF4-FFF2-40B4-BE49-F238E27FC236}">
                <a16:creationId xmlns:a16="http://schemas.microsoft.com/office/drawing/2014/main" id="{60D8AD56-42B5-48B3-9448-BB78507C55D1}"/>
              </a:ext>
            </a:extLst>
          </p:cNvPr>
          <p:cNvSpPr>
            <a:spLocks xmlns:a="http://schemas.openxmlformats.org/drawingml/2006/main" noGrp="1"/>
          </p:cNvSpPr>
          <p:nvPr/>
        </p:nvSpPr>
        <p:spPr>
          <a:xfrm xmlns:a="http://schemas.openxmlformats.org/drawingml/2006/main">
            <a:off x="548640" y="5623560"/>
            <a:ext cx="110916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0" i="0">
                <a:solidFill>
                  <a:srgbClr val="53676C"/>
                </a:solidFill>
                <a:latin typeface="Arial"/>
                <a:ea typeface="Arial"/>
                <a:cs typeface="Arial"/>
              </a:defRPr>
            </a:defPPr>
            <a:lvl1pPr algn="l">
              <a:buNone/>
              <a:defRPr sz="1200" b="0" i="0">
                <a:solidFill>
                  <a:srgbClr val="53676C"/>
                </a:solidFill>
                <a:latin typeface="Arial"/>
                <a:ea typeface="Arial"/>
                <a:cs typeface="Arial"/>
              </a:defRPr>
            </a:lvl1pPr>
            <a:lvl2pPr algn="l">
              <a:buNone/>
              <a:defRPr sz="1200" b="0" i="0">
                <a:solidFill>
                  <a:srgbClr val="53676C"/>
                </a:solidFill>
                <a:latin typeface="Arial"/>
                <a:ea typeface="Arial"/>
                <a:cs typeface="Arial"/>
              </a:defRPr>
            </a:lvl2pPr>
            <a:lvl3pPr algn="l">
              <a:buNone/>
              <a:defRPr sz="1200" b="0" i="0">
                <a:solidFill>
                  <a:srgbClr val="53676C"/>
                </a:solidFill>
                <a:latin typeface="Arial"/>
                <a:ea typeface="Arial"/>
                <a:cs typeface="Arial"/>
              </a:defRPr>
            </a:lvl3pPr>
            <a:lvl4pPr algn="l">
              <a:buNone/>
              <a:defRPr sz="1200" b="0" i="0">
                <a:solidFill>
                  <a:srgbClr val="53676C"/>
                </a:solidFill>
                <a:latin typeface="Arial"/>
                <a:ea typeface="Arial"/>
                <a:cs typeface="Arial"/>
              </a:defRPr>
            </a:lvl4pPr>
            <a:lvl5pPr algn="l">
              <a:buNone/>
              <a:defRPr sz="1200" b="0" i="0">
                <a:solidFill>
                  <a:srgbClr val="53676C"/>
                </a:solidFill>
                <a:latin typeface="Arial"/>
                <a:ea typeface="Arial"/>
                <a:cs typeface="Arial"/>
              </a:defRPr>
            </a:lvl5pPr>
            <a:lvl6pPr algn="l">
              <a:buNone/>
              <a:defRPr sz="1200" b="0" i="0">
                <a:solidFill>
                  <a:srgbClr val="53676C"/>
                </a:solidFill>
                <a:latin typeface="Arial"/>
                <a:ea typeface="Arial"/>
                <a:cs typeface="Arial"/>
              </a:defRPr>
            </a:lvl6pPr>
            <a:lvl7pPr algn="l">
              <a:buNone/>
              <a:defRPr sz="1200" b="0" i="0">
                <a:solidFill>
                  <a:srgbClr val="53676C"/>
                </a:solidFill>
                <a:latin typeface="Arial"/>
                <a:ea typeface="Arial"/>
                <a:cs typeface="Arial"/>
              </a:defRPr>
            </a:lvl7pPr>
            <a:lvl8pPr algn="l">
              <a:buNone/>
              <a:defRPr sz="1200" b="0" i="0">
                <a:solidFill>
                  <a:srgbClr val="53676C"/>
                </a:solidFill>
                <a:latin typeface="Arial"/>
                <a:ea typeface="Arial"/>
                <a:cs typeface="Arial"/>
              </a:defRPr>
            </a:lvl8pPr>
            <a:lvl9pPr algn="l">
              <a:buNone/>
              <a:defRPr sz="1200" b="0" i="0">
                <a:solidFill>
                  <a:srgbClr val="53676C"/>
                </a:solidFill>
                <a:latin typeface="Arial"/>
                <a:ea typeface="Arial"/>
                <a:cs typeface="Arial"/>
              </a:defRPr>
            </a:lvl9pPr>
          </a:lstStyle>
          <a:p xmlns:a="http://schemas.openxmlformats.org/drawingml/2006/main">
            <a:pPr marL="0" indent="0" algn="l">
              <a:buNone/>
              <a:defRPr sz="1200" b="0" i="0">
                <a:solidFill>
                  <a:srgbClr val="53676C"/>
                </a:solidFill>
                <a:latin typeface="Arial"/>
                <a:ea typeface="Arial"/>
                <a:cs typeface="Arial"/>
              </a:defRPr>
            </a:pPr>
            <a:r>
              <a:rPr sz="1200" b="0" i="0">
                <a:solidFill>
                  <a:srgbClr val="53676C"/>
                </a:solidFill>
                <a:latin typeface="Arial"/>
                <a:ea typeface="Arial"/>
                <a:cs typeface="Arial"/>
              </a:rPr>
              <a:t>Zoho ERP already manages vendor credits, bill application and refunds. Munafa will test guided case preparation and next-bill verification for kirana stores. Source: Zoho ERP, Vendor Credits Overview</a:t>
            </a:r>
            <a:endParaRPr sz="1200"/>
          </a:p>
        </p:txBody>
      </p:sp>
      <p:sp>
        <p:nvSpPr>
          <p:cNvPr id="26" name="Slide Number Placeholder 0">
            <a:extLst xmlns:a="http://schemas.openxmlformats.org/drawingml/2006/main">
              <a:ext uri="{FF2B5EF4-FFF2-40B4-BE49-F238E27FC236}">
                <a16:creationId xmlns:a16="http://schemas.microsoft.com/office/drawing/2014/main" id="{78028AB0-E5A9-45E6-8C34-A128224609F9}"/>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321021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2529F8-67DF-4D71-8F60-3BC1E7750726}"/>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IMPACT &amp; BENEFITS</a:t>
            </a:r>
            <a:endParaRPr sz="1400"/>
          </a:p>
        </p:txBody>
      </p:sp>
      <p:sp>
        <p:nvSpPr>
          <p:cNvPr id="3" name="Text 0">
            <a:extLst xmlns:a="http://schemas.openxmlformats.org/drawingml/2006/main">
              <a:ext uri="{FF2B5EF4-FFF2-40B4-BE49-F238E27FC236}">
                <a16:creationId xmlns:a16="http://schemas.microsoft.com/office/drawing/2014/main" id="{64C1C764-8192-42EC-AFFB-82427E19FD6E}"/>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132D36"/>
                </a:solidFill>
                <a:latin typeface="Arial"/>
                <a:ea typeface="Arial"/>
                <a:cs typeface="Arial"/>
              </a:defRPr>
            </a:defPPr>
            <a:lvl1pPr algn="l">
              <a:buNone/>
              <a:defRPr sz="3600" b="1" i="0">
                <a:solidFill>
                  <a:srgbClr val="132D36"/>
                </a:solidFill>
                <a:latin typeface="Arial"/>
                <a:ea typeface="Arial"/>
                <a:cs typeface="Arial"/>
              </a:defRPr>
            </a:lvl1pPr>
            <a:lvl2pPr algn="l">
              <a:buNone/>
              <a:defRPr sz="3600" b="1" i="0">
                <a:solidFill>
                  <a:srgbClr val="132D36"/>
                </a:solidFill>
                <a:latin typeface="Arial"/>
                <a:ea typeface="Arial"/>
                <a:cs typeface="Arial"/>
              </a:defRPr>
            </a:lvl2pPr>
            <a:lvl3pPr algn="l">
              <a:buNone/>
              <a:defRPr sz="3600" b="1" i="0">
                <a:solidFill>
                  <a:srgbClr val="132D36"/>
                </a:solidFill>
                <a:latin typeface="Arial"/>
                <a:ea typeface="Arial"/>
                <a:cs typeface="Arial"/>
              </a:defRPr>
            </a:lvl3pPr>
            <a:lvl4pPr algn="l">
              <a:buNone/>
              <a:defRPr sz="3600" b="1" i="0">
                <a:solidFill>
                  <a:srgbClr val="132D36"/>
                </a:solidFill>
                <a:latin typeface="Arial"/>
                <a:ea typeface="Arial"/>
                <a:cs typeface="Arial"/>
              </a:defRPr>
            </a:lvl4pPr>
            <a:lvl5pPr algn="l">
              <a:buNone/>
              <a:defRPr sz="3600" b="1" i="0">
                <a:solidFill>
                  <a:srgbClr val="132D36"/>
                </a:solidFill>
                <a:latin typeface="Arial"/>
                <a:ea typeface="Arial"/>
                <a:cs typeface="Arial"/>
              </a:defRPr>
            </a:lvl5pPr>
            <a:lvl6pPr algn="l">
              <a:buNone/>
              <a:defRPr sz="3600" b="1" i="0">
                <a:solidFill>
                  <a:srgbClr val="132D36"/>
                </a:solidFill>
                <a:latin typeface="Arial"/>
                <a:ea typeface="Arial"/>
                <a:cs typeface="Arial"/>
              </a:defRPr>
            </a:lvl6pPr>
            <a:lvl7pPr algn="l">
              <a:buNone/>
              <a:defRPr sz="3600" b="1" i="0">
                <a:solidFill>
                  <a:srgbClr val="132D36"/>
                </a:solidFill>
                <a:latin typeface="Arial"/>
                <a:ea typeface="Arial"/>
                <a:cs typeface="Arial"/>
              </a:defRPr>
            </a:lvl7pPr>
            <a:lvl8pPr algn="l">
              <a:buNone/>
              <a:defRPr sz="3600" b="1" i="0">
                <a:solidFill>
                  <a:srgbClr val="132D36"/>
                </a:solidFill>
                <a:latin typeface="Arial"/>
                <a:ea typeface="Arial"/>
                <a:cs typeface="Arial"/>
              </a:defRPr>
            </a:lvl8pPr>
            <a:lvl9pPr algn="l">
              <a:buNone/>
              <a:defRPr sz="3600" b="1" i="0">
                <a:solidFill>
                  <a:srgbClr val="132D36"/>
                </a:solidFill>
                <a:latin typeface="Arial"/>
                <a:ea typeface="Arial"/>
                <a:cs typeface="Arial"/>
              </a:defRPr>
            </a:lvl9pPr>
          </a:lstStyle>
          <a:p xmlns:a="http://schemas.openxmlformats.org/drawingml/2006/main">
            <a:pPr marL="0" indent="0" algn="l">
              <a:buNone/>
              <a:defRPr sz="3600" b="1" i="0">
                <a:solidFill>
                  <a:srgbClr val="132D36"/>
                </a:solidFill>
                <a:latin typeface="Arial"/>
                <a:ea typeface="Arial"/>
                <a:cs typeface="Arial"/>
              </a:defRPr>
            </a:pPr>
            <a:r>
              <a:rPr sz="3600" b="1" i="0">
                <a:solidFill>
                  <a:srgbClr val="132D36"/>
                </a:solidFill>
                <a:latin typeface="Arial"/>
                <a:ea typeface="Arial"/>
                <a:cs typeface="Arial"/>
              </a:rPr>
              <a:t>Test time saved, resolved cases and repeat use</a:t>
            </a:r>
            <a:endParaRPr sz="3600"/>
          </a:p>
        </p:txBody>
      </p:sp>
      <p:sp>
        <p:nvSpPr>
          <p:cNvPr id="4" name="Text 2">
            <a:extLst xmlns:a="http://schemas.openxmlformats.org/drawingml/2006/main">
              <a:ext uri="{FF2B5EF4-FFF2-40B4-BE49-F238E27FC236}">
                <a16:creationId xmlns:a16="http://schemas.microsoft.com/office/drawing/2014/main" id="{6EAC24BC-4CA7-4625-B6B1-AE15A00CBF5D}"/>
              </a:ext>
            </a:extLst>
          </p:cNvPr>
          <p:cNvSpPr>
            <a:spLocks xmlns:a="http://schemas.openxmlformats.org/drawingml/2006/main" noGrp="1"/>
          </p:cNvSpPr>
          <p:nvPr/>
        </p:nvSpPr>
        <p:spPr>
          <a:xfrm xmlns:a="http://schemas.openxmlformats.org/drawingml/2006/main">
            <a:off x="548640" y="1600200"/>
            <a:ext cx="5212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132D36"/>
                </a:solidFill>
                <a:latin typeface="Arial"/>
                <a:ea typeface="Arial"/>
                <a:cs typeface="Arial"/>
              </a:defRPr>
            </a:defPPr>
            <a:lvl1pPr algn="l">
              <a:buNone/>
              <a:defRPr sz="2000" b="1" i="0">
                <a:solidFill>
                  <a:srgbClr val="132D36"/>
                </a:solidFill>
                <a:latin typeface="Arial"/>
                <a:ea typeface="Arial"/>
                <a:cs typeface="Arial"/>
              </a:defRPr>
            </a:lvl1pPr>
            <a:lvl2pPr algn="l">
              <a:buNone/>
              <a:defRPr sz="2000" b="1" i="0">
                <a:solidFill>
                  <a:srgbClr val="132D36"/>
                </a:solidFill>
                <a:latin typeface="Arial"/>
                <a:ea typeface="Arial"/>
                <a:cs typeface="Arial"/>
              </a:defRPr>
            </a:lvl2pPr>
            <a:lvl3pPr algn="l">
              <a:buNone/>
              <a:defRPr sz="2000" b="1" i="0">
                <a:solidFill>
                  <a:srgbClr val="132D36"/>
                </a:solidFill>
                <a:latin typeface="Arial"/>
                <a:ea typeface="Arial"/>
                <a:cs typeface="Arial"/>
              </a:defRPr>
            </a:lvl3pPr>
            <a:lvl4pPr algn="l">
              <a:buNone/>
              <a:defRPr sz="2000" b="1" i="0">
                <a:solidFill>
                  <a:srgbClr val="132D36"/>
                </a:solidFill>
                <a:latin typeface="Arial"/>
                <a:ea typeface="Arial"/>
                <a:cs typeface="Arial"/>
              </a:defRPr>
            </a:lvl4pPr>
            <a:lvl5pPr algn="l">
              <a:buNone/>
              <a:defRPr sz="2000" b="1" i="0">
                <a:solidFill>
                  <a:srgbClr val="132D36"/>
                </a:solidFill>
                <a:latin typeface="Arial"/>
                <a:ea typeface="Arial"/>
                <a:cs typeface="Arial"/>
              </a:defRPr>
            </a:lvl5pPr>
            <a:lvl6pPr algn="l">
              <a:buNone/>
              <a:defRPr sz="2000" b="1" i="0">
                <a:solidFill>
                  <a:srgbClr val="132D36"/>
                </a:solidFill>
                <a:latin typeface="Arial"/>
                <a:ea typeface="Arial"/>
                <a:cs typeface="Arial"/>
              </a:defRPr>
            </a:lvl6pPr>
            <a:lvl7pPr algn="l">
              <a:buNone/>
              <a:defRPr sz="2000" b="1" i="0">
                <a:solidFill>
                  <a:srgbClr val="132D36"/>
                </a:solidFill>
                <a:latin typeface="Arial"/>
                <a:ea typeface="Arial"/>
                <a:cs typeface="Arial"/>
              </a:defRPr>
            </a:lvl7pPr>
            <a:lvl8pPr algn="l">
              <a:buNone/>
              <a:defRPr sz="2000" b="1" i="0">
                <a:solidFill>
                  <a:srgbClr val="132D36"/>
                </a:solidFill>
                <a:latin typeface="Arial"/>
                <a:ea typeface="Arial"/>
                <a:cs typeface="Arial"/>
              </a:defRPr>
            </a:lvl8pPr>
            <a:lvl9pPr algn="l">
              <a:buNone/>
              <a:defRPr sz="2000" b="1" i="0">
                <a:solidFill>
                  <a:srgbClr val="132D36"/>
                </a:solidFill>
                <a:latin typeface="Arial"/>
                <a:ea typeface="Arial"/>
                <a:cs typeface="Arial"/>
              </a:defRPr>
            </a:lvl9pPr>
          </a:lstStyle>
          <a:p xmlns:a="http://schemas.openxmlformats.org/drawingml/2006/main">
            <a:pPr marL="0" indent="0" algn="l">
              <a:buNone/>
              <a:defRPr sz="2000" b="1" i="0">
                <a:solidFill>
                  <a:srgbClr val="132D36"/>
                </a:solidFill>
                <a:latin typeface="Arial"/>
                <a:ea typeface="Arial"/>
                <a:cs typeface="Arial"/>
              </a:defRPr>
            </a:pPr>
            <a:r>
              <a:rPr sz="2000" b="1" i="0">
                <a:solidFill>
                  <a:srgbClr val="132D36"/>
                </a:solidFill>
                <a:latin typeface="Arial"/>
                <a:ea typeface="Arial"/>
                <a:cs typeface="Arial"/>
              </a:rPr>
              <a:t>Expected merchant benefits</a:t>
            </a:r>
            <a:endParaRPr sz="2000"/>
          </a:p>
        </p:txBody>
      </p:sp>
      <p:sp>
        <p:nvSpPr>
          <p:cNvPr id="5" name="One view circle">
            <a:extLst xmlns:a="http://schemas.openxmlformats.org/drawingml/2006/main">
              <a:ext uri="{FF2B5EF4-FFF2-40B4-BE49-F238E27FC236}">
                <a16:creationId xmlns:a16="http://schemas.microsoft.com/office/drawing/2014/main" id="{5BBD3DEA-5059-426B-9492-8450A150141C}"/>
              </a:ext>
            </a:extLst>
          </p:cNvPr>
          <p:cNvSpPr>
            <a:spLocks xmlns:a="http://schemas.openxmlformats.org/drawingml/2006/main" noGrp="1"/>
          </p:cNvSpPr>
          <p:nvPr/>
        </p:nvSpPr>
        <p:spPr>
          <a:xfrm xmlns:a="http://schemas.openxmlformats.org/drawingml/2006/main">
            <a:off x="548640" y="2148840"/>
            <a:ext cx="566928" cy="566928"/>
          </a:xfrm>
          <a:prstGeom xmlns:a="http://schemas.openxmlformats.org/drawingml/2006/main" prst="ellipse">
            <a:avLst/>
          </a:prstGeom>
          <a:solidFill xmlns:a="http://schemas.openxmlformats.org/drawingml/2006/main">
            <a:srgbClr val="007E80"/>
          </a:solidFill>
        </p:spPr>
      </p:sp>
      <p:pic>
        <p:nvPicPr>
          <p:cNvPr id="6" name="Image 0">
            <a:extLst xmlns:a="http://schemas.openxmlformats.org/drawingml/2006/main">
              <a:ext uri="{FF2B5EF4-FFF2-40B4-BE49-F238E27FC236}">
                <a16:creationId xmlns:a16="http://schemas.microsoft.com/office/drawing/2014/main" id="{BAAD551C-F6D0-472A-B81C-E928499A65A4}"/>
              </a:ext>
            </a:extLst>
          </p:cNvPr>
          <p:cNvPicPr>
            <a:picLocks xmlns:a="http://schemas.openxmlformats.org/drawingml/2006/main" noChangeAspect="1"/>
          </p:cNvPicPr>
          <p:nvPr/>
        </p:nvPicPr>
        <p:blipFill>
          <a:blip xmlns:r="http://schemas.openxmlformats.org/officeDocument/2006/relationships" xmlns:a="http://schemas.openxmlformats.org/drawingml/2006/main" r:embed="R1d012b533b664198"/>
          <a:stretch xmlns:a="http://schemas.openxmlformats.org/drawingml/2006/main">
            <a:fillRect l="0" t="0" r="0" b="0"/>
          </a:stretch>
        </p:blipFill>
        <p:spPr>
          <a:xfrm xmlns:a="http://schemas.openxmlformats.org/drawingml/2006/main">
            <a:off x="684703" y="2284903"/>
            <a:ext cx="294803" cy="294803"/>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8D9EE8D-84A4-4074-84C4-937A7B6F8693}"/>
              </a:ext>
            </a:extLst>
          </p:cNvPr>
          <p:cNvSpPr>
            <a:spLocks xmlns:a="http://schemas.openxmlformats.org/drawingml/2006/main" noGrp="1"/>
          </p:cNvSpPr>
          <p:nvPr/>
        </p:nvSpPr>
        <p:spPr>
          <a:xfrm xmlns:a="http://schemas.openxmlformats.org/drawingml/2006/main">
            <a:off x="1325880" y="2103120"/>
            <a:ext cx="4434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One view</a:t>
            </a:r>
            <a:endParaRPr sz="1600"/>
          </a:p>
        </p:txBody>
      </p:sp>
      <p:sp>
        <p:nvSpPr>
          <p:cNvPr id="8" name="Text 5">
            <a:extLst xmlns:a="http://schemas.openxmlformats.org/drawingml/2006/main">
              <a:ext uri="{FF2B5EF4-FFF2-40B4-BE49-F238E27FC236}">
                <a16:creationId xmlns:a16="http://schemas.microsoft.com/office/drawing/2014/main" id="{2642F0B1-6C22-412C-A025-B1FCB5338FB7}"/>
              </a:ext>
            </a:extLst>
          </p:cNvPr>
          <p:cNvSpPr>
            <a:spLocks xmlns:a="http://schemas.openxmlformats.org/drawingml/2006/main" noGrp="1"/>
          </p:cNvSpPr>
          <p:nvPr/>
        </p:nvSpPr>
        <p:spPr>
          <a:xfrm xmlns:a="http://schemas.openxmlformats.org/drawingml/2006/main">
            <a:off x="1325880" y="2395728"/>
            <a:ext cx="4434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Bill, delivery confirmation and calculation together.</a:t>
            </a:r>
            <a:endParaRPr sz="1400"/>
          </a:p>
        </p:txBody>
      </p:sp>
      <p:sp>
        <p:nvSpPr>
          <p:cNvPr id="9" name="Nothing hides circle">
            <a:extLst xmlns:a="http://schemas.openxmlformats.org/drawingml/2006/main">
              <a:ext uri="{FF2B5EF4-FFF2-40B4-BE49-F238E27FC236}">
                <a16:creationId xmlns:a16="http://schemas.microsoft.com/office/drawing/2014/main" id="{D98A5ED3-B776-4011-B412-8803641DA95E}"/>
              </a:ext>
            </a:extLst>
          </p:cNvPr>
          <p:cNvSpPr>
            <a:spLocks xmlns:a="http://schemas.openxmlformats.org/drawingml/2006/main" noGrp="1"/>
          </p:cNvSpPr>
          <p:nvPr/>
        </p:nvSpPr>
        <p:spPr>
          <a:xfrm xmlns:a="http://schemas.openxmlformats.org/drawingml/2006/main">
            <a:off x="548640" y="3127248"/>
            <a:ext cx="566928" cy="566928"/>
          </a:xfrm>
          <a:prstGeom xmlns:a="http://schemas.openxmlformats.org/drawingml/2006/main" prst="ellipse">
            <a:avLst/>
          </a:prstGeom>
          <a:solidFill xmlns:a="http://schemas.openxmlformats.org/drawingml/2006/main">
            <a:srgbClr val="007E80"/>
          </a:solidFill>
        </p:spPr>
      </p:sp>
      <p:pic>
        <p:nvPicPr>
          <p:cNvPr id="10" name="Image 1">
            <a:extLst xmlns:a="http://schemas.openxmlformats.org/drawingml/2006/main">
              <a:ext uri="{FF2B5EF4-FFF2-40B4-BE49-F238E27FC236}">
                <a16:creationId xmlns:a16="http://schemas.microsoft.com/office/drawing/2014/main" id="{4B25CEA7-25AC-48E1-A05C-3666EDFCA041}"/>
              </a:ext>
            </a:extLst>
          </p:cNvPr>
          <p:cNvPicPr>
            <a:picLocks xmlns:a="http://schemas.openxmlformats.org/drawingml/2006/main" noChangeAspect="1"/>
          </p:cNvPicPr>
          <p:nvPr/>
        </p:nvPicPr>
        <p:blipFill>
          <a:blip xmlns:r="http://schemas.openxmlformats.org/officeDocument/2006/relationships" xmlns:a="http://schemas.openxmlformats.org/drawingml/2006/main" r:embed="R613552debcb14d0f"/>
          <a:stretch xmlns:a="http://schemas.openxmlformats.org/drawingml/2006/main">
            <a:fillRect l="0" t="0" r="0" b="0"/>
          </a:stretch>
        </p:blipFill>
        <p:spPr>
          <a:xfrm xmlns:a="http://schemas.openxmlformats.org/drawingml/2006/main">
            <a:off x="684703" y="3263311"/>
            <a:ext cx="294803" cy="294803"/>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0CBD8F6D-594F-4220-A38F-D4AEF8EBEC52}"/>
              </a:ext>
            </a:extLst>
          </p:cNvPr>
          <p:cNvSpPr>
            <a:spLocks xmlns:a="http://schemas.openxmlformats.org/drawingml/2006/main" noGrp="1"/>
          </p:cNvSpPr>
          <p:nvPr/>
        </p:nvSpPr>
        <p:spPr>
          <a:xfrm xmlns:a="http://schemas.openxmlformats.org/drawingml/2006/main">
            <a:off x="1325880" y="3081528"/>
            <a:ext cx="4434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i="0">
                <a:solidFill>
                  <a:srgbClr val="132D36"/>
                </a:solidFill>
                <a:latin typeface="Arial"/>
                <a:ea typeface="Arial"/>
                <a:cs typeface="Arial"/>
              </a:defRPr>
            </a:defPPr>
            <a:lvl1pPr algn="l">
              <a:buNone/>
              <a:defRPr sz="1600" b="1" i="0">
                <a:solidFill>
                  <a:srgbClr val="132D36"/>
                </a:solidFill>
                <a:latin typeface="Arial"/>
                <a:ea typeface="Arial"/>
                <a:cs typeface="Arial"/>
              </a:defRPr>
            </a:lvl1pPr>
            <a:lvl2pPr algn="l">
              <a:buNone/>
              <a:defRPr sz="1600" b="1" i="0">
                <a:solidFill>
                  <a:srgbClr val="132D36"/>
                </a:solidFill>
                <a:latin typeface="Arial"/>
                <a:ea typeface="Arial"/>
                <a:cs typeface="Arial"/>
              </a:defRPr>
            </a:lvl2pPr>
            <a:lvl3pPr algn="l">
              <a:buNone/>
              <a:defRPr sz="1600" b="1" i="0">
                <a:solidFill>
                  <a:srgbClr val="132D36"/>
                </a:solidFill>
                <a:latin typeface="Arial"/>
                <a:ea typeface="Arial"/>
                <a:cs typeface="Arial"/>
              </a:defRPr>
            </a:lvl3pPr>
            <a:lvl4pPr algn="l">
              <a:buNone/>
              <a:defRPr sz="1600" b="1" i="0">
                <a:solidFill>
                  <a:srgbClr val="132D36"/>
                </a:solidFill>
                <a:latin typeface="Arial"/>
                <a:ea typeface="Arial"/>
                <a:cs typeface="Arial"/>
              </a:defRPr>
            </a:lvl4pPr>
            <a:lvl5pPr algn="l">
              <a:buNone/>
              <a:defRPr sz="1600" b="1" i="0">
                <a:solidFill>
                  <a:srgbClr val="132D36"/>
                </a:solidFill>
                <a:latin typeface="Arial"/>
                <a:ea typeface="Arial"/>
                <a:cs typeface="Arial"/>
              </a:defRPr>
            </a:lvl5pPr>
            <a:lvl6pPr algn="l">
              <a:buNone/>
              <a:defRPr sz="1600" b="1" i="0">
                <a:solidFill>
                  <a:srgbClr val="132D36"/>
                </a:solidFill>
                <a:latin typeface="Arial"/>
                <a:ea typeface="Arial"/>
                <a:cs typeface="Arial"/>
              </a:defRPr>
            </a:lvl6pPr>
            <a:lvl7pPr algn="l">
              <a:buNone/>
              <a:defRPr sz="1600" b="1" i="0">
                <a:solidFill>
                  <a:srgbClr val="132D36"/>
                </a:solidFill>
                <a:latin typeface="Arial"/>
                <a:ea typeface="Arial"/>
                <a:cs typeface="Arial"/>
              </a:defRPr>
            </a:lvl7pPr>
            <a:lvl8pPr algn="l">
              <a:buNone/>
              <a:defRPr sz="1600" b="1" i="0">
                <a:solidFill>
                  <a:srgbClr val="132D36"/>
                </a:solidFill>
                <a:latin typeface="Arial"/>
                <a:ea typeface="Arial"/>
                <a:cs typeface="Arial"/>
              </a:defRPr>
            </a:lvl8pPr>
            <a:lvl9pPr algn="l">
              <a:buNone/>
              <a:defRPr sz="1600" b="1" i="0">
                <a:solidFill>
                  <a:srgbClr val="132D36"/>
                </a:solidFill>
                <a:latin typeface="Arial"/>
                <a:ea typeface="Arial"/>
                <a:cs typeface="Arial"/>
              </a:defRPr>
            </a:lvl9pPr>
          </a:lstStyle>
          <a:p xmlns:a="http://schemas.openxmlformats.org/drawingml/2006/main">
            <a:pPr marL="0" indent="0" algn="l">
              <a:buNone/>
              <a:defRPr sz="1600" b="1" i="0">
                <a:solidFill>
                  <a:srgbClr val="132D36"/>
                </a:solidFill>
                <a:latin typeface="Arial"/>
                <a:ea typeface="Arial"/>
                <a:cs typeface="Arial"/>
              </a:defRPr>
            </a:pPr>
            <a:r>
              <a:rPr sz="1600" b="1" i="0">
                <a:solidFill>
                  <a:srgbClr val="132D36"/>
                </a:solidFill>
                <a:latin typeface="Arial"/>
                <a:ea typeface="Arial"/>
                <a:cs typeface="Arial"/>
              </a:rPr>
              <a:t>Visible follow-up</a:t>
            </a:r>
            <a:endParaRPr sz="1600"/>
          </a:p>
        </p:txBody>
      </p:sp>
      <p:sp>
        <p:nvSpPr>
          <p:cNvPr id="12" name="Text 8">
            <a:extLst xmlns:a="http://schemas.openxmlformats.org/drawingml/2006/main">
              <a:ext uri="{FF2B5EF4-FFF2-40B4-BE49-F238E27FC236}">
                <a16:creationId xmlns:a16="http://schemas.microsoft.com/office/drawing/2014/main" id="{4A95AABD-A707-4D16-90D9-2E8339C42581}"/>
              </a:ext>
            </a:extLst>
          </p:cNvPr>
          <p:cNvSpPr>
            <a:spLocks xmlns:a="http://schemas.openxmlformats.org/drawingml/2006/main" noGrp="1"/>
          </p:cNvSpPr>
          <p:nvPr/>
        </p:nvSpPr>
        <p:spPr>
          <a:xfrm xmlns:a="http://schemas.openxmlformats.org/drawingml/2006/main">
            <a:off x="1325880" y="3374136"/>
            <a:ext cx="4434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Overdue cases stay visible. Applied credits and refunds have a recorded history.</a:t>
            </a:r>
            <a:endParaRPr sz="1400"/>
          </a:p>
        </p:txBody>
      </p:sp>
      <p:sp>
        <p:nvSpPr>
          <p:cNvPr id="13" name="A specific request circle">
            <a:extLst xmlns:a="http://schemas.openxmlformats.org/drawingml/2006/main">
              <a:ext uri="{FF2B5EF4-FFF2-40B4-BE49-F238E27FC236}">
                <a16:creationId xmlns:a16="http://schemas.microsoft.com/office/drawing/2014/main" id="{17F0EFC2-A2E9-4A97-A6A5-100488E962AF}"/>
              </a:ext>
            </a:extLst>
          </p:cNvPr>
          <p:cNvSpPr>
            <a:spLocks xmlns:a="http://schemas.openxmlformats.org/drawingml/2006/main" noGrp="1"/>
          </p:cNvSpPr>
          <p:nvPr/>
        </p:nvSpPr>
        <p:spPr>
          <a:xfrm xmlns:a="http://schemas.openxmlformats.org/drawingml/2006/main">
            <a:off x="548640" y="4105656"/>
            <a:ext cx="566928" cy="566928"/>
          </a:xfrm>
          <a:prstGeom xmlns:a="http://schemas.openxmlformats.org/drawingml/2006/main" prst="ellipse">
            <a:avLst/>
          </a:prstGeom>
          <a:solidFill xmlns:a="http://schemas.openxmlformats.org/drawingml/2006/main">
            <a:srgbClr val="007E80"/>
          </a:solidFill>
        </p:spPr>
      </p:sp>
      <p:pic>
        <p:nvPicPr>
          <p:cNvPr id="14" name="Image 2">
            <a:extLst xmlns:a="http://schemas.openxmlformats.org/drawingml/2006/main">
              <a:ext uri="{FF2B5EF4-FFF2-40B4-BE49-F238E27FC236}">
                <a16:creationId xmlns:a16="http://schemas.microsoft.com/office/drawing/2014/main" id="{ABE2E76C-582A-495A-B033-F440EA5424C6}"/>
              </a:ext>
            </a:extLst>
          </p:cNvPr>
          <p:cNvPicPr>
            <a:picLocks xmlns:a="http://schemas.openxmlformats.org/drawingml/2006/main" noChangeAspect="1"/>
          </p:cNvPicPr>
          <p:nvPr/>
        </p:nvPicPr>
        <p:blipFill>
          <a:blip xmlns:r="http://schemas.openxmlformats.org/officeDocument/2006/relationships" xmlns:a="http://schemas.openxmlformats.org/drawingml/2006/main" r:embed="R81ebabe5c1294597"/>
          <a:stretch xmlns:a="http://schemas.openxmlformats.org/drawingml/2006/main">
            <a:fillRect l="0" t="0" r="0" b="0"/>
          </a:stretch>
        </p:blipFill>
        <p:spPr>
          <a:xfrm xmlns:a="http://schemas.openxmlformats.org/drawingml/2006/main">
            <a:off x="684703" y="4241719"/>
            <a:ext cx="294803" cy="294803"/>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9FC10E5D-C5A5-42A2-B33B-12E101901B02}"/>
              </a:ext>
            </a:extLst>
          </p:cNvPr>
          <p:cNvSpPr>
            <a:spLocks xmlns:a="http://schemas.openxmlformats.org/drawingml/2006/main" noGrp="1"/>
          </p:cNvSpPr>
          <p:nvPr/>
        </p:nvSpPr>
        <p:spPr>
          <a:xfrm xmlns:a="http://schemas.openxmlformats.org/drawingml/2006/main">
            <a:off x="1325880" y="4059936"/>
            <a:ext cx="4434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rPr>
              <a:t>A specific request</a:t>
            </a:r>
            <a:endParaRPr sz="1600"/>
          </a:p>
        </p:txBody>
      </p:sp>
      <p:sp>
        <p:nvSpPr>
          <p:cNvPr id="16" name="Text 11">
            <a:extLst xmlns:a="http://schemas.openxmlformats.org/drawingml/2006/main">
              <a:ext uri="{FF2B5EF4-FFF2-40B4-BE49-F238E27FC236}">
                <a16:creationId xmlns:a16="http://schemas.microsoft.com/office/drawing/2014/main" id="{7B1F1809-031E-4F58-B469-65DB57CC41FE}"/>
              </a:ext>
            </a:extLst>
          </p:cNvPr>
          <p:cNvSpPr>
            <a:spLocks xmlns:a="http://schemas.openxmlformats.org/drawingml/2006/main" noGrp="1"/>
          </p:cNvSpPr>
          <p:nvPr/>
        </p:nvSpPr>
        <p:spPr>
          <a:xfrm xmlns:a="http://schemas.openxmlformats.org/drawingml/2006/main">
            <a:off x="1325880" y="4352544"/>
            <a:ext cx="4434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A specific amount, the supporting bill and the merchant’s confirmed count.</a:t>
            </a:r>
            <a:endParaRPr sz="1400"/>
          </a:p>
        </p:txBody>
      </p:sp>
      <p:sp>
        <p:nvSpPr>
          <p:cNvPr id="17" name="Text 12">
            <a:extLst xmlns:a="http://schemas.openxmlformats.org/drawingml/2006/main">
              <a:ext uri="{FF2B5EF4-FFF2-40B4-BE49-F238E27FC236}">
                <a16:creationId xmlns:a16="http://schemas.microsoft.com/office/drawing/2014/main" id="{B46C34BB-36EE-44A1-A120-85C19AC9DF63}"/>
              </a:ext>
            </a:extLst>
          </p:cNvPr>
          <p:cNvSpPr>
            <a:spLocks xmlns:a="http://schemas.openxmlformats.org/drawingml/2006/main" noGrp="1"/>
          </p:cNvSpPr>
          <p:nvPr/>
        </p:nvSpPr>
        <p:spPr>
          <a:xfrm xmlns:a="http://schemas.openxmlformats.org/drawingml/2006/main">
            <a:off x="6263640" y="1600200"/>
            <a:ext cx="5376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tx1"/>
                </a:solidFill>
              </a:rPr>
              <a:t>How we’ll measure it</a:t>
            </a:r>
            <a:endParaRPr sz="2000"/>
          </a:p>
        </p:txBody>
      </p:sp>
      <p:sp>
        <p:nvSpPr>
          <p:cNvPr id="18" name="Metric 1">
            <a:extLst xmlns:a="http://schemas.openxmlformats.org/drawingml/2006/main">
              <a:ext uri="{FF2B5EF4-FFF2-40B4-BE49-F238E27FC236}">
                <a16:creationId xmlns:a16="http://schemas.microsoft.com/office/drawing/2014/main" id="{B89F9A43-948B-45C7-8BF2-BD9190B5D51E}"/>
              </a:ext>
            </a:extLst>
          </p:cNvPr>
          <p:cNvSpPr>
            <a:spLocks xmlns:a="http://schemas.openxmlformats.org/drawingml/2006/main" noGrp="1"/>
          </p:cNvSpPr>
          <p:nvPr/>
        </p:nvSpPr>
        <p:spPr>
          <a:xfrm xmlns:a="http://schemas.openxmlformats.org/drawingml/2006/main">
            <a:off x="6263640" y="2103120"/>
            <a:ext cx="2606040" cy="1325880"/>
          </a:xfrm>
          <a:prstGeom xmlns:a="http://schemas.openxmlformats.org/drawingml/2006/main" prst="roundRect">
            <a:avLst>
              <a:gd name="adj" fmla="val 827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9" name="Text 14">
            <a:extLst xmlns:a="http://schemas.openxmlformats.org/drawingml/2006/main">
              <a:ext uri="{FF2B5EF4-FFF2-40B4-BE49-F238E27FC236}">
                <a16:creationId xmlns:a16="http://schemas.microsoft.com/office/drawing/2014/main" id="{508F9CDB-2E11-40C1-9F8D-B83C53F4B33C}"/>
              </a:ext>
            </a:extLst>
          </p:cNvPr>
          <p:cNvSpPr>
            <a:spLocks xmlns:a="http://schemas.openxmlformats.org/drawingml/2006/main" noGrp="1"/>
          </p:cNvSpPr>
          <p:nvPr/>
        </p:nvSpPr>
        <p:spPr>
          <a:xfrm xmlns:a="http://schemas.openxmlformats.org/drawingml/2006/main">
            <a:off x="6446520" y="2267712"/>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1"/>
                </a:solidFill>
              </a:rPr>
              <a:t>Review time</a:t>
            </a:r>
            <a:endParaRPr sz="1600"/>
          </a:p>
        </p:txBody>
      </p:sp>
      <p:sp>
        <p:nvSpPr>
          <p:cNvPr id="20" name="Text 15">
            <a:extLst xmlns:a="http://schemas.openxmlformats.org/drawingml/2006/main">
              <a:ext uri="{FF2B5EF4-FFF2-40B4-BE49-F238E27FC236}">
                <a16:creationId xmlns:a16="http://schemas.microsoft.com/office/drawing/2014/main" id="{14357A24-90E5-48BC-8A40-C60838E9C916}"/>
              </a:ext>
            </a:extLst>
          </p:cNvPr>
          <p:cNvSpPr>
            <a:spLocks xmlns:a="http://schemas.openxmlformats.org/drawingml/2006/main" noGrp="1"/>
          </p:cNvSpPr>
          <p:nvPr/>
        </p:nvSpPr>
        <p:spPr>
          <a:xfrm xmlns:a="http://schemas.openxmlformats.org/drawingml/2006/main">
            <a:off x="6446520" y="269748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Median minutes per case, versus baseline</a:t>
            </a:r>
            <a:endParaRPr sz="1400"/>
          </a:p>
        </p:txBody>
      </p:sp>
      <p:sp>
        <p:nvSpPr>
          <p:cNvPr id="21" name="Metric 2">
            <a:extLst xmlns:a="http://schemas.openxmlformats.org/drawingml/2006/main">
              <a:ext uri="{FF2B5EF4-FFF2-40B4-BE49-F238E27FC236}">
                <a16:creationId xmlns:a16="http://schemas.microsoft.com/office/drawing/2014/main" id="{BFFB4110-87F5-4F62-818A-447A2759D5E9}"/>
              </a:ext>
            </a:extLst>
          </p:cNvPr>
          <p:cNvSpPr>
            <a:spLocks xmlns:a="http://schemas.openxmlformats.org/drawingml/2006/main" noGrp="1"/>
          </p:cNvSpPr>
          <p:nvPr/>
        </p:nvSpPr>
        <p:spPr>
          <a:xfrm xmlns:a="http://schemas.openxmlformats.org/drawingml/2006/main">
            <a:off x="9034272" y="2103120"/>
            <a:ext cx="2606040" cy="1325880"/>
          </a:xfrm>
          <a:prstGeom xmlns:a="http://schemas.openxmlformats.org/drawingml/2006/main" prst="roundRect">
            <a:avLst>
              <a:gd name="adj" fmla="val 827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2" name="Text 17">
            <a:extLst xmlns:a="http://schemas.openxmlformats.org/drawingml/2006/main">
              <a:ext uri="{FF2B5EF4-FFF2-40B4-BE49-F238E27FC236}">
                <a16:creationId xmlns:a16="http://schemas.microsoft.com/office/drawing/2014/main" id="{3EE53790-FC29-4960-97DC-E2D3EBFDA7E0}"/>
              </a:ext>
            </a:extLst>
          </p:cNvPr>
          <p:cNvSpPr>
            <a:spLocks xmlns:a="http://schemas.openxmlformats.org/drawingml/2006/main" noGrp="1"/>
          </p:cNvSpPr>
          <p:nvPr/>
        </p:nvSpPr>
        <p:spPr>
          <a:xfrm xmlns:a="http://schemas.openxmlformats.org/drawingml/2006/main">
            <a:off x="9217152" y="2267712"/>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1"/>
                </a:solidFill>
              </a:rPr>
              <a:t>Resolution rate</a:t>
            </a:r>
            <a:endParaRPr sz="1600"/>
          </a:p>
        </p:txBody>
      </p:sp>
      <p:sp>
        <p:nvSpPr>
          <p:cNvPr id="23" name="Text 18">
            <a:extLst xmlns:a="http://schemas.openxmlformats.org/drawingml/2006/main">
              <a:ext uri="{FF2B5EF4-FFF2-40B4-BE49-F238E27FC236}">
                <a16:creationId xmlns:a16="http://schemas.microsoft.com/office/drawing/2014/main" id="{158DFE42-AB70-466C-A00D-E3A89F128764}"/>
              </a:ext>
            </a:extLst>
          </p:cNvPr>
          <p:cNvSpPr>
            <a:spLocks xmlns:a="http://schemas.openxmlformats.org/drawingml/2006/main" noGrp="1"/>
          </p:cNvSpPr>
          <p:nvPr/>
        </p:nvSpPr>
        <p:spPr>
          <a:xfrm xmlns:a="http://schemas.openxmlformats.org/drawingml/2006/main">
            <a:off x="9217152" y="269748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Share of cases with documented closure</a:t>
            </a:r>
            <a:endParaRPr sz="1400"/>
          </a:p>
        </p:txBody>
      </p:sp>
      <p:sp>
        <p:nvSpPr>
          <p:cNvPr id="24" name="Metric 3">
            <a:extLst xmlns:a="http://schemas.openxmlformats.org/drawingml/2006/main">
              <a:ext uri="{FF2B5EF4-FFF2-40B4-BE49-F238E27FC236}">
                <a16:creationId xmlns:a16="http://schemas.microsoft.com/office/drawing/2014/main" id="{3539D631-846A-4775-AD81-2B8016C1715C}"/>
              </a:ext>
            </a:extLst>
          </p:cNvPr>
          <p:cNvSpPr>
            <a:spLocks xmlns:a="http://schemas.openxmlformats.org/drawingml/2006/main" noGrp="1"/>
          </p:cNvSpPr>
          <p:nvPr/>
        </p:nvSpPr>
        <p:spPr>
          <a:xfrm xmlns:a="http://schemas.openxmlformats.org/drawingml/2006/main">
            <a:off x="6263640" y="3566160"/>
            <a:ext cx="2606040" cy="1325880"/>
          </a:xfrm>
          <a:prstGeom xmlns:a="http://schemas.openxmlformats.org/drawingml/2006/main" prst="roundRect">
            <a:avLst>
              <a:gd name="adj" fmla="val 827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5" name="Text 20">
            <a:extLst xmlns:a="http://schemas.openxmlformats.org/drawingml/2006/main">
              <a:ext uri="{FF2B5EF4-FFF2-40B4-BE49-F238E27FC236}">
                <a16:creationId xmlns:a16="http://schemas.microsoft.com/office/drawing/2014/main" id="{85B8D244-989F-4E9B-85F6-370919FEFFFF}"/>
              </a:ext>
            </a:extLst>
          </p:cNvPr>
          <p:cNvSpPr>
            <a:spLocks xmlns:a="http://schemas.openxmlformats.org/drawingml/2006/main" noGrp="1"/>
          </p:cNvSpPr>
          <p:nvPr/>
        </p:nvSpPr>
        <p:spPr>
          <a:xfrm xmlns:a="http://schemas.openxmlformats.org/drawingml/2006/main">
            <a:off x="6446520" y="3730752"/>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1"/>
                </a:solidFill>
              </a:rPr>
              <a:t>Continued usage</a:t>
            </a:r>
            <a:endParaRPr sz="1600"/>
          </a:p>
        </p:txBody>
      </p:sp>
      <p:sp>
        <p:nvSpPr>
          <p:cNvPr id="26" name="Text 21">
            <a:extLst xmlns:a="http://schemas.openxmlformats.org/drawingml/2006/main">
              <a:ext uri="{FF2B5EF4-FFF2-40B4-BE49-F238E27FC236}">
                <a16:creationId xmlns:a16="http://schemas.microsoft.com/office/drawing/2014/main" id="{CFA27B3A-95D8-49F4-A446-7FB47CA3BA3D}"/>
              </a:ext>
            </a:extLst>
          </p:cNvPr>
          <p:cNvSpPr>
            <a:spLocks xmlns:a="http://schemas.openxmlformats.org/drawingml/2006/main" noGrp="1"/>
          </p:cNvSpPr>
          <p:nvPr/>
        </p:nvSpPr>
        <p:spPr>
          <a:xfrm xmlns:a="http://schemas.openxmlformats.org/drawingml/2006/main">
            <a:off x="6446520" y="416052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Stores using it in both final pilot weeks</a:t>
            </a:r>
            <a:endParaRPr sz="1400"/>
          </a:p>
        </p:txBody>
      </p:sp>
      <p:sp>
        <p:nvSpPr>
          <p:cNvPr id="27" name="Metric 4">
            <a:extLst xmlns:a="http://schemas.openxmlformats.org/drawingml/2006/main">
              <a:ext uri="{FF2B5EF4-FFF2-40B4-BE49-F238E27FC236}">
                <a16:creationId xmlns:a16="http://schemas.microsoft.com/office/drawing/2014/main" id="{9EDD9E9A-BC1E-456A-9477-8881239C68FE}"/>
              </a:ext>
            </a:extLst>
          </p:cNvPr>
          <p:cNvSpPr>
            <a:spLocks xmlns:a="http://schemas.openxmlformats.org/drawingml/2006/main" noGrp="1"/>
          </p:cNvSpPr>
          <p:nvPr/>
        </p:nvSpPr>
        <p:spPr>
          <a:xfrm xmlns:a="http://schemas.openxmlformats.org/drawingml/2006/main">
            <a:off x="9034272" y="3566160"/>
            <a:ext cx="2606040" cy="1325880"/>
          </a:xfrm>
          <a:prstGeom xmlns:a="http://schemas.openxmlformats.org/drawingml/2006/main" prst="roundRect">
            <a:avLst>
              <a:gd name="adj" fmla="val 8276"/>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28" name="Text 23">
            <a:extLst xmlns:a="http://schemas.openxmlformats.org/drawingml/2006/main">
              <a:ext uri="{FF2B5EF4-FFF2-40B4-BE49-F238E27FC236}">
                <a16:creationId xmlns:a16="http://schemas.microsoft.com/office/drawing/2014/main" id="{8BD66C98-2024-460C-966D-2965C30592E1}"/>
              </a:ext>
            </a:extLst>
          </p:cNvPr>
          <p:cNvSpPr>
            <a:spLocks xmlns:a="http://schemas.openxmlformats.org/drawingml/2006/main" noGrp="1"/>
          </p:cNvSpPr>
          <p:nvPr/>
        </p:nvSpPr>
        <p:spPr>
          <a:xfrm xmlns:a="http://schemas.openxmlformats.org/drawingml/2006/main">
            <a:off x="9217152" y="3730752"/>
            <a:ext cx="2286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1"/>
                </a:solidFill>
              </a:rPr>
              <a:t>Value recorded</a:t>
            </a:r>
            <a:endParaRPr sz="1600"/>
          </a:p>
        </p:txBody>
      </p:sp>
      <p:sp>
        <p:nvSpPr>
          <p:cNvPr id="29" name="Text 24">
            <a:extLst xmlns:a="http://schemas.openxmlformats.org/drawingml/2006/main">
              <a:ext uri="{FF2B5EF4-FFF2-40B4-BE49-F238E27FC236}">
                <a16:creationId xmlns:a16="http://schemas.microsoft.com/office/drawing/2014/main" id="{CCBE85BC-0290-4D62-9FF6-AF61A77AD4F5}"/>
              </a:ext>
            </a:extLst>
          </p:cNvPr>
          <p:cNvSpPr>
            <a:spLocks xmlns:a="http://schemas.openxmlformats.org/drawingml/2006/main" noGrp="1"/>
          </p:cNvSpPr>
          <p:nvPr/>
        </p:nvSpPr>
        <p:spPr>
          <a:xfrm xmlns:a="http://schemas.openxmlformats.org/drawingml/2006/main">
            <a:off x="9217152" y="4160520"/>
            <a:ext cx="2286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rPr>
              <a:t>Applied credits + refunds, counted once</a:t>
            </a:r>
            <a:endParaRPr sz="1400"/>
          </a:p>
        </p:txBody>
      </p:sp>
      <p:sp>
        <p:nvSpPr>
          <p:cNvPr id="30" name="Closed-case band">
            <a:extLst xmlns:a="http://schemas.openxmlformats.org/drawingml/2006/main">
              <a:ext uri="{FF2B5EF4-FFF2-40B4-BE49-F238E27FC236}">
                <a16:creationId xmlns:a16="http://schemas.microsoft.com/office/drawing/2014/main" id="{6D792D99-F3BA-40A0-86F0-913E744E9F4A}"/>
              </a:ext>
            </a:extLst>
          </p:cNvPr>
          <p:cNvSpPr>
            <a:spLocks xmlns:a="http://schemas.openxmlformats.org/drawingml/2006/main" noGrp="1"/>
          </p:cNvSpPr>
          <p:nvPr/>
        </p:nvSpPr>
        <p:spPr>
          <a:xfrm xmlns:a="http://schemas.openxmlformats.org/drawingml/2006/main">
            <a:off x="548640" y="5166360"/>
            <a:ext cx="11091672" cy="1051560"/>
          </a:xfrm>
          <a:prstGeom xmlns:a="http://schemas.openxmlformats.org/drawingml/2006/main" prst="roundRect">
            <a:avLst>
              <a:gd name="adj" fmla="val 10435"/>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31" name="Text 26">
            <a:extLst xmlns:a="http://schemas.openxmlformats.org/drawingml/2006/main">
              <a:ext uri="{FF2B5EF4-FFF2-40B4-BE49-F238E27FC236}">
                <a16:creationId xmlns:a16="http://schemas.microsoft.com/office/drawing/2014/main" id="{8E1DC020-4C9A-4BD4-8718-FB883D68DD38}"/>
              </a:ext>
            </a:extLst>
          </p:cNvPr>
          <p:cNvSpPr>
            <a:spLocks xmlns:a="http://schemas.openxmlformats.org/drawingml/2006/main" noGrp="1"/>
          </p:cNvSpPr>
          <p:nvPr/>
        </p:nvSpPr>
        <p:spPr>
          <a:xfrm xmlns:a="http://schemas.openxmlformats.org/drawingml/2006/main">
            <a:off x="868680" y="5303520"/>
            <a:ext cx="5943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200" b="1" i="0">
                <a:solidFill>
                  <a:srgbClr val="EFBA53"/>
                </a:solidFill>
                <a:latin typeface="Arial"/>
                <a:ea typeface="Arial"/>
                <a:cs typeface="Arial"/>
              </a:defRPr>
            </a:defPPr>
            <a:lvl1pPr algn="l">
              <a:buNone/>
              <a:defRPr sz="1200" b="1" i="0">
                <a:solidFill>
                  <a:srgbClr val="EFBA53"/>
                </a:solidFill>
                <a:latin typeface="Arial"/>
                <a:ea typeface="Arial"/>
                <a:cs typeface="Arial"/>
              </a:defRPr>
            </a:lvl1pPr>
            <a:lvl2pPr algn="l">
              <a:buNone/>
              <a:defRPr sz="1200" b="1" i="0">
                <a:solidFill>
                  <a:srgbClr val="EFBA53"/>
                </a:solidFill>
                <a:latin typeface="Arial"/>
                <a:ea typeface="Arial"/>
                <a:cs typeface="Arial"/>
              </a:defRPr>
            </a:lvl2pPr>
            <a:lvl3pPr algn="l">
              <a:buNone/>
              <a:defRPr sz="1200" b="1" i="0">
                <a:solidFill>
                  <a:srgbClr val="EFBA53"/>
                </a:solidFill>
                <a:latin typeface="Arial"/>
                <a:ea typeface="Arial"/>
                <a:cs typeface="Arial"/>
              </a:defRPr>
            </a:lvl3pPr>
            <a:lvl4pPr algn="l">
              <a:buNone/>
              <a:defRPr sz="1200" b="1" i="0">
                <a:solidFill>
                  <a:srgbClr val="EFBA53"/>
                </a:solidFill>
                <a:latin typeface="Arial"/>
                <a:ea typeface="Arial"/>
                <a:cs typeface="Arial"/>
              </a:defRPr>
            </a:lvl4pPr>
            <a:lvl5pPr algn="l">
              <a:buNone/>
              <a:defRPr sz="1200" b="1" i="0">
                <a:solidFill>
                  <a:srgbClr val="EFBA53"/>
                </a:solidFill>
                <a:latin typeface="Arial"/>
                <a:ea typeface="Arial"/>
                <a:cs typeface="Arial"/>
              </a:defRPr>
            </a:lvl5pPr>
            <a:lvl6pPr algn="l">
              <a:buNone/>
              <a:defRPr sz="1200" b="1" i="0">
                <a:solidFill>
                  <a:srgbClr val="EFBA53"/>
                </a:solidFill>
                <a:latin typeface="Arial"/>
                <a:ea typeface="Arial"/>
                <a:cs typeface="Arial"/>
              </a:defRPr>
            </a:lvl6pPr>
            <a:lvl7pPr algn="l">
              <a:buNone/>
              <a:defRPr sz="1200" b="1" i="0">
                <a:solidFill>
                  <a:srgbClr val="EFBA53"/>
                </a:solidFill>
                <a:latin typeface="Arial"/>
                <a:ea typeface="Arial"/>
                <a:cs typeface="Arial"/>
              </a:defRPr>
            </a:lvl7pPr>
            <a:lvl8pPr algn="l">
              <a:buNone/>
              <a:defRPr sz="1200" b="1" i="0">
                <a:solidFill>
                  <a:srgbClr val="EFBA53"/>
                </a:solidFill>
                <a:latin typeface="Arial"/>
                <a:ea typeface="Arial"/>
                <a:cs typeface="Arial"/>
              </a:defRPr>
            </a:lvl8pPr>
            <a:lvl9pPr algn="l">
              <a:buNone/>
              <a:defRPr sz="1200" b="1" i="0">
                <a:solidFill>
                  <a:srgbClr val="EFBA53"/>
                </a:solidFill>
                <a:latin typeface="Arial"/>
                <a:ea typeface="Arial"/>
                <a:cs typeface="Arial"/>
              </a:defRPr>
            </a:lvl9pPr>
          </a:lstStyle>
          <a:p xmlns:a="http://schemas.openxmlformats.org/drawingml/2006/main">
            <a:pPr marL="0" indent="0" algn="l">
              <a:buNone/>
              <a:defRPr sz="1200" b="1" i="0">
                <a:solidFill>
                  <a:srgbClr val="EFBA53"/>
                </a:solidFill>
                <a:latin typeface="Arial"/>
                <a:ea typeface="Arial"/>
                <a:cs typeface="Arial"/>
              </a:defRPr>
            </a:pPr>
            <a:r>
              <a:rPr sz="1200" b="1" i="0" spc="100">
                <a:solidFill>
                  <a:srgbClr val="EFBA53"/>
                </a:solidFill>
                <a:latin typeface="Arial"/>
                <a:ea typeface="Arial"/>
                <a:cs typeface="Arial"/>
              </a:rPr>
              <a:t>ILLUSTRATIVE ₹80 RESOLUTION</a:t>
            </a:r>
            <a:endParaRPr sz="1200"/>
          </a:p>
        </p:txBody>
      </p:sp>
      <p:sp>
        <p:nvSpPr>
          <p:cNvPr id="32" name="Text 27">
            <a:extLst xmlns:a="http://schemas.openxmlformats.org/drawingml/2006/main">
              <a:ext uri="{FF2B5EF4-FFF2-40B4-BE49-F238E27FC236}">
                <a16:creationId xmlns:a16="http://schemas.microsoft.com/office/drawing/2014/main" id="{433FBCE5-02C5-45A6-9450-F558477A7DC9}"/>
              </a:ext>
            </a:extLst>
          </p:cNvPr>
          <p:cNvSpPr>
            <a:spLocks xmlns:a="http://schemas.openxmlformats.org/drawingml/2006/main" noGrp="1"/>
          </p:cNvSpPr>
          <p:nvPr/>
        </p:nvSpPr>
        <p:spPr>
          <a:xfrm xmlns:a="http://schemas.openxmlformats.org/drawingml/2006/main">
            <a:off x="868680" y="5596128"/>
            <a:ext cx="6400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marL="0" indent="0" algn="l">
              <a:buNone/>
              <a:defRPr sz="1800" b="1" i="0">
                <a:solidFill>
                  <a:srgbClr val="FFFFFF"/>
                </a:solidFill>
                <a:latin typeface="Arial"/>
                <a:ea typeface="Arial"/>
                <a:cs typeface="Arial"/>
              </a:defRPr>
            </a:pPr>
            <a:r>
              <a:rPr sz="1800" b="1" i="0">
                <a:solidFill>
                  <a:srgbClr val="FFFFFF"/>
                </a:solidFill>
                <a:latin typeface="Arial"/>
                <a:ea typeface="Arial"/>
                <a:cs typeface="Arial"/>
              </a:rPr>
              <a:t>Credit applied and confirmed: ₹80 recorded once</a:t>
            </a:r>
            <a:endParaRPr sz="1800"/>
          </a:p>
        </p:txBody>
      </p:sp>
      <p:sp>
        <p:nvSpPr>
          <p:cNvPr id="33" name="Text 28">
            <a:extLst xmlns:a="http://schemas.openxmlformats.org/drawingml/2006/main">
              <a:ext uri="{FF2B5EF4-FFF2-40B4-BE49-F238E27FC236}">
                <a16:creationId xmlns:a16="http://schemas.microsoft.com/office/drawing/2014/main" id="{5E0D9D7F-5C69-4102-9629-922549541DAF}"/>
              </a:ext>
            </a:extLst>
          </p:cNvPr>
          <p:cNvSpPr>
            <a:spLocks xmlns:a="http://schemas.openxmlformats.org/drawingml/2006/main" noGrp="1"/>
          </p:cNvSpPr>
          <p:nvPr/>
        </p:nvSpPr>
        <p:spPr>
          <a:xfrm xmlns:a="http://schemas.openxmlformats.org/drawingml/2006/main">
            <a:off x="7498080" y="5303520"/>
            <a:ext cx="38404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0" i="0">
                <a:solidFill>
                  <a:srgbClr val="A9BDCD"/>
                </a:solidFill>
                <a:latin typeface="Arial"/>
                <a:ea typeface="Arial"/>
                <a:cs typeface="Arial"/>
              </a:defRPr>
            </a:defPPr>
            <a:lvl1pPr algn="l">
              <a:buNone/>
              <a:defRPr sz="1400" b="0" i="0">
                <a:solidFill>
                  <a:srgbClr val="A9BDCD"/>
                </a:solidFill>
                <a:latin typeface="Arial"/>
                <a:ea typeface="Arial"/>
                <a:cs typeface="Arial"/>
              </a:defRPr>
            </a:lvl1pPr>
            <a:lvl2pPr algn="l">
              <a:buNone/>
              <a:defRPr sz="1400" b="0" i="0">
                <a:solidFill>
                  <a:srgbClr val="A9BDCD"/>
                </a:solidFill>
                <a:latin typeface="Arial"/>
                <a:ea typeface="Arial"/>
                <a:cs typeface="Arial"/>
              </a:defRPr>
            </a:lvl2pPr>
            <a:lvl3pPr algn="l">
              <a:buNone/>
              <a:defRPr sz="1400" b="0" i="0">
                <a:solidFill>
                  <a:srgbClr val="A9BDCD"/>
                </a:solidFill>
                <a:latin typeface="Arial"/>
                <a:ea typeface="Arial"/>
                <a:cs typeface="Arial"/>
              </a:defRPr>
            </a:lvl3pPr>
            <a:lvl4pPr algn="l">
              <a:buNone/>
              <a:defRPr sz="1400" b="0" i="0">
                <a:solidFill>
                  <a:srgbClr val="A9BDCD"/>
                </a:solidFill>
                <a:latin typeface="Arial"/>
                <a:ea typeface="Arial"/>
                <a:cs typeface="Arial"/>
              </a:defRPr>
            </a:lvl4pPr>
            <a:lvl5pPr algn="l">
              <a:buNone/>
              <a:defRPr sz="1400" b="0" i="0">
                <a:solidFill>
                  <a:srgbClr val="A9BDCD"/>
                </a:solidFill>
                <a:latin typeface="Arial"/>
                <a:ea typeface="Arial"/>
                <a:cs typeface="Arial"/>
              </a:defRPr>
            </a:lvl5pPr>
            <a:lvl6pPr algn="l">
              <a:buNone/>
              <a:defRPr sz="1400" b="0" i="0">
                <a:solidFill>
                  <a:srgbClr val="A9BDCD"/>
                </a:solidFill>
                <a:latin typeface="Arial"/>
                <a:ea typeface="Arial"/>
                <a:cs typeface="Arial"/>
              </a:defRPr>
            </a:lvl6pPr>
            <a:lvl7pPr algn="l">
              <a:buNone/>
              <a:defRPr sz="1400" b="0" i="0">
                <a:solidFill>
                  <a:srgbClr val="A9BDCD"/>
                </a:solidFill>
                <a:latin typeface="Arial"/>
                <a:ea typeface="Arial"/>
                <a:cs typeface="Arial"/>
              </a:defRPr>
            </a:lvl7pPr>
            <a:lvl8pPr algn="l">
              <a:buNone/>
              <a:defRPr sz="1400" b="0" i="0">
                <a:solidFill>
                  <a:srgbClr val="A9BDCD"/>
                </a:solidFill>
                <a:latin typeface="Arial"/>
                <a:ea typeface="Arial"/>
                <a:cs typeface="Arial"/>
              </a:defRPr>
            </a:lvl8pPr>
            <a:lvl9pPr algn="l">
              <a:buNone/>
              <a:defRPr sz="1400" b="0" i="0">
                <a:solidFill>
                  <a:srgbClr val="A9BDCD"/>
                </a:solidFill>
                <a:latin typeface="Arial"/>
                <a:ea typeface="Arial"/>
                <a:cs typeface="Arial"/>
              </a:defRPr>
            </a:lvl9pPr>
          </a:lstStyle>
          <a:p xmlns:a="http://schemas.openxmlformats.org/drawingml/2006/main">
            <a:pPr marL="0" indent="0" algn="l">
              <a:buNone/>
              <a:defRPr sz="1400" b="0" i="0">
                <a:solidFill>
                  <a:srgbClr val="A9BDCD"/>
                </a:solidFill>
                <a:latin typeface="Arial"/>
                <a:ea typeface="Arial"/>
                <a:cs typeface="Arial"/>
              </a:defRPr>
            </a:pPr>
            <a:r>
              <a:rPr sz="1400" b="0" i="0">
                <a:solidFill>
                  <a:srgbClr val="A9BDCD"/>
                </a:solidFill>
                <a:latin typeface="Arial"/>
                <a:ea typeface="Arial"/>
                <a:cs typeface="Arial"/>
              </a:rPr>
              <a:t>Proposed: 3–5 stores; 1 baseline week + 4 pilot weeks. Compare similar cases. No outcomes measured.</a:t>
            </a:r>
            <a:endParaRPr sz="1400"/>
          </a:p>
        </p:txBody>
      </p:sp>
      <p:sp>
        <p:nvSpPr>
          <p:cNvPr id="34" name="Slide Number Placeholder 0">
            <a:extLst xmlns:a="http://schemas.openxmlformats.org/drawingml/2006/main">
              <a:ext uri="{FF2B5EF4-FFF2-40B4-BE49-F238E27FC236}">
                <a16:creationId xmlns:a16="http://schemas.microsoft.com/office/drawing/2014/main" id="{5BB2C6AD-1803-4CF7-94CA-EEDA486FA1A6}"/>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698066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DFAE8F-E186-468B-A4C8-50AD6C076886}"/>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200">
                <a:solidFill>
                  <a:schemeClr val="accent1"/>
                </a:solidFill>
              </a:rPr>
              <a:t>BUSINESS MODEL</a:t>
            </a:r>
            <a:endParaRPr sz="1400"/>
          </a:p>
        </p:txBody>
      </p:sp>
      <p:sp>
        <p:nvSpPr>
          <p:cNvPr id="3" name="Text 0">
            <a:extLst xmlns:a="http://schemas.openxmlformats.org/drawingml/2006/main">
              <a:ext uri="{FF2B5EF4-FFF2-40B4-BE49-F238E27FC236}">
                <a16:creationId xmlns:a16="http://schemas.microsoft.com/office/drawing/2014/main" id="{2DA8D0B4-72D4-48C9-82C4-B21C2012FD46}"/>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132D36"/>
                </a:solidFill>
                <a:latin typeface="Arial"/>
                <a:ea typeface="Arial"/>
                <a:cs typeface="Arial"/>
              </a:defRPr>
            </a:defPPr>
            <a:lvl1pPr algn="l">
              <a:buNone/>
              <a:defRPr sz="3600" b="1" i="0">
                <a:solidFill>
                  <a:srgbClr val="132D36"/>
                </a:solidFill>
                <a:latin typeface="Arial"/>
                <a:ea typeface="Arial"/>
                <a:cs typeface="Arial"/>
              </a:defRPr>
            </a:lvl1pPr>
            <a:lvl2pPr algn="l">
              <a:buNone/>
              <a:defRPr sz="3600" b="1" i="0">
                <a:solidFill>
                  <a:srgbClr val="132D36"/>
                </a:solidFill>
                <a:latin typeface="Arial"/>
                <a:ea typeface="Arial"/>
                <a:cs typeface="Arial"/>
              </a:defRPr>
            </a:lvl2pPr>
            <a:lvl3pPr algn="l">
              <a:buNone/>
              <a:defRPr sz="3600" b="1" i="0">
                <a:solidFill>
                  <a:srgbClr val="132D36"/>
                </a:solidFill>
                <a:latin typeface="Arial"/>
                <a:ea typeface="Arial"/>
                <a:cs typeface="Arial"/>
              </a:defRPr>
            </a:lvl3pPr>
            <a:lvl4pPr algn="l">
              <a:buNone/>
              <a:defRPr sz="3600" b="1" i="0">
                <a:solidFill>
                  <a:srgbClr val="132D36"/>
                </a:solidFill>
                <a:latin typeface="Arial"/>
                <a:ea typeface="Arial"/>
                <a:cs typeface="Arial"/>
              </a:defRPr>
            </a:lvl4pPr>
            <a:lvl5pPr algn="l">
              <a:buNone/>
              <a:defRPr sz="3600" b="1" i="0">
                <a:solidFill>
                  <a:srgbClr val="132D36"/>
                </a:solidFill>
                <a:latin typeface="Arial"/>
                <a:ea typeface="Arial"/>
                <a:cs typeface="Arial"/>
              </a:defRPr>
            </a:lvl5pPr>
            <a:lvl6pPr algn="l">
              <a:buNone/>
              <a:defRPr sz="3600" b="1" i="0">
                <a:solidFill>
                  <a:srgbClr val="132D36"/>
                </a:solidFill>
                <a:latin typeface="Arial"/>
                <a:ea typeface="Arial"/>
                <a:cs typeface="Arial"/>
              </a:defRPr>
            </a:lvl6pPr>
            <a:lvl7pPr algn="l">
              <a:buNone/>
              <a:defRPr sz="3600" b="1" i="0">
                <a:solidFill>
                  <a:srgbClr val="132D36"/>
                </a:solidFill>
                <a:latin typeface="Arial"/>
                <a:ea typeface="Arial"/>
                <a:cs typeface="Arial"/>
              </a:defRPr>
            </a:lvl7pPr>
            <a:lvl8pPr algn="l">
              <a:buNone/>
              <a:defRPr sz="3600" b="1" i="0">
                <a:solidFill>
                  <a:srgbClr val="132D36"/>
                </a:solidFill>
                <a:latin typeface="Arial"/>
                <a:ea typeface="Arial"/>
                <a:cs typeface="Arial"/>
              </a:defRPr>
            </a:lvl8pPr>
            <a:lvl9pPr algn="l">
              <a:buNone/>
              <a:defRPr sz="3600" b="1" i="0">
                <a:solidFill>
                  <a:srgbClr val="132D36"/>
                </a:solidFill>
                <a:latin typeface="Arial"/>
                <a:ea typeface="Arial"/>
                <a:cs typeface="Arial"/>
              </a:defRPr>
            </a:lvl9pPr>
          </a:lstStyle>
          <a:p xmlns:a="http://schemas.openxmlformats.org/drawingml/2006/main">
            <a:pPr marL="0" indent="0" algn="l">
              <a:buNone/>
              <a:defRPr sz="3600" b="1" i="0">
                <a:solidFill>
                  <a:srgbClr val="132D36"/>
                </a:solidFill>
                <a:latin typeface="Arial"/>
                <a:ea typeface="Arial"/>
                <a:cs typeface="Arial"/>
              </a:defRPr>
            </a:pPr>
            <a:r>
              <a:rPr sz="3600" b="1" i="0">
                <a:solidFill>
                  <a:srgbClr val="132D36"/>
                </a:solidFill>
                <a:latin typeface="Arial"/>
                <a:ea typeface="Arial"/>
                <a:cs typeface="Arial"/>
              </a:rPr>
              <a:t>A subscription tied to recurring value</a:t>
            </a:r>
            <a:endParaRPr sz="3600"/>
          </a:p>
        </p:txBody>
      </p:sp>
      <p:sp>
        <p:nvSpPr>
          <p:cNvPr id="4" name="Pricing card">
            <a:extLst xmlns:a="http://schemas.openxmlformats.org/drawingml/2006/main">
              <a:ext uri="{FF2B5EF4-FFF2-40B4-BE49-F238E27FC236}">
                <a16:creationId xmlns:a16="http://schemas.microsoft.com/office/drawing/2014/main" id="{3F7F788A-BCC9-46F2-BE47-A384D14D0B2C}"/>
              </a:ext>
            </a:extLst>
          </p:cNvPr>
          <p:cNvSpPr>
            <a:spLocks xmlns:a="http://schemas.openxmlformats.org/drawingml/2006/main" noGrp="1"/>
          </p:cNvSpPr>
          <p:nvPr/>
        </p:nvSpPr>
        <p:spPr>
          <a:xfrm xmlns:a="http://schemas.openxmlformats.org/drawingml/2006/main">
            <a:off x="548640" y="1645920"/>
            <a:ext cx="3566160" cy="3794760"/>
          </a:xfrm>
          <a:prstGeom xmlns:a="http://schemas.openxmlformats.org/drawingml/2006/main" prst="roundRect">
            <a:avLst>
              <a:gd name="adj" fmla="val 3077"/>
            </a:avLst>
          </a:prstGeom>
          <a:solidFill xmlns:a="http://schemas.openxmlformats.org/drawingml/2006/main">
            <a:schemeClr val="tx1"/>
          </a:solidFill>
          <a:effectLst xmlns:a="http://schemas.openxmlformats.org/drawingml/2006/main">
            <a:outerShdw blurRad="127000" dist="38100" dir="54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A833DE63-9627-434B-8961-F72C322A0D72}"/>
              </a:ext>
            </a:extLst>
          </p:cNvPr>
          <p:cNvSpPr>
            <a:spLocks xmlns:a="http://schemas.openxmlformats.org/drawingml/2006/main" noGrp="1"/>
          </p:cNvSpPr>
          <p:nvPr/>
        </p:nvSpPr>
        <p:spPr>
          <a:xfrm xmlns:a="http://schemas.openxmlformats.org/drawingml/2006/main">
            <a:off x="822960" y="1874520"/>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00">
                <a:solidFill>
                  <a:schemeClr val="accent3"/>
                </a:solidFill>
              </a:rPr>
              <a:t>PRICING HYPOTHESIS</a:t>
            </a:r>
            <a:endParaRPr sz="1200"/>
          </a:p>
        </p:txBody>
      </p:sp>
      <p:sp>
        <p:nvSpPr>
          <p:cNvPr id="6" name="Text 4">
            <a:extLst xmlns:a="http://schemas.openxmlformats.org/drawingml/2006/main">
              <a:ext uri="{FF2B5EF4-FFF2-40B4-BE49-F238E27FC236}">
                <a16:creationId xmlns:a16="http://schemas.microsoft.com/office/drawing/2014/main" id="{6CF8012A-2B8A-4412-A63A-6BB5634189AB}"/>
              </a:ext>
            </a:extLst>
          </p:cNvPr>
          <p:cNvSpPr>
            <a:spLocks xmlns:a="http://schemas.openxmlformats.org/drawingml/2006/main" noGrp="1"/>
          </p:cNvSpPr>
          <p:nvPr/>
        </p:nvSpPr>
        <p:spPr>
          <a:xfrm xmlns:a="http://schemas.openxmlformats.org/drawingml/2006/main">
            <a:off x="822960" y="2194560"/>
            <a:ext cx="31089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5400" b="1">
                <a:solidFill>
                  <a:schemeClr val="bg1"/>
                </a:solidFill>
              </a:rPr>
              <a:t>₹199</a:t>
            </a:r>
            <a:r>
              <a:rPr sz="1800">
                <a:solidFill>
                  <a:schemeClr val="bg1"/>
                </a:solidFill>
              </a:rPr>
              <a:t> /month</a:t>
            </a:r>
            <a:endParaRPr sz="5400"/>
          </a:p>
        </p:txBody>
      </p:sp>
      <p:sp>
        <p:nvSpPr>
          <p:cNvPr id="7" name="Text 5">
            <a:extLst xmlns:a="http://schemas.openxmlformats.org/drawingml/2006/main">
              <a:ext uri="{FF2B5EF4-FFF2-40B4-BE49-F238E27FC236}">
                <a16:creationId xmlns:a16="http://schemas.microsoft.com/office/drawing/2014/main" id="{BF1F04C9-CD02-4382-8BB1-AD32A594B753}"/>
              </a:ext>
            </a:extLst>
          </p:cNvPr>
          <p:cNvSpPr>
            <a:spLocks xmlns:a="http://schemas.openxmlformats.org/drawingml/2006/main" noGrp="1"/>
          </p:cNvSpPr>
          <p:nvPr/>
        </p:nvSpPr>
        <p:spPr>
          <a:xfrm xmlns:a="http://schemas.openxmlformats.org/drawingml/2006/main">
            <a:off x="822960" y="3108960"/>
            <a:ext cx="3017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6"/>
                </a:solidFill>
              </a:rPr>
              <a:t>after a limited free trial</a:t>
            </a:r>
            <a:endParaRPr sz="1400"/>
          </a:p>
        </p:txBody>
      </p:sp>
      <p:sp>
        <p:nvSpPr>
          <p:cNvPr id="8" name="Text 6">
            <a:extLst xmlns:a="http://schemas.openxmlformats.org/drawingml/2006/main">
              <a:ext uri="{FF2B5EF4-FFF2-40B4-BE49-F238E27FC236}">
                <a16:creationId xmlns:a16="http://schemas.microsoft.com/office/drawing/2014/main" id="{2E14E4B3-B1F6-4D79-BE5B-85604EE50ED7}"/>
              </a:ext>
            </a:extLst>
          </p:cNvPr>
          <p:cNvSpPr>
            <a:spLocks xmlns:a="http://schemas.openxmlformats.org/drawingml/2006/main" noGrp="1"/>
          </p:cNvSpPr>
          <p:nvPr/>
        </p:nvSpPr>
        <p:spPr>
          <a:xfrm xmlns:a="http://schemas.openxmlformats.org/drawingml/2006/main">
            <a:off x="822960" y="3566160"/>
            <a:ext cx="30175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i="0">
                <a:solidFill>
                  <a:srgbClr val="FFFFFF"/>
                </a:solidFill>
                <a:latin typeface="Arial"/>
                <a:ea typeface="Arial"/>
                <a:cs typeface="Arial"/>
              </a:defRPr>
            </a:defPPr>
            <a:lvl1pPr algn="l">
              <a:buNone/>
              <a:defRPr sz="1600" b="1" i="0">
                <a:solidFill>
                  <a:srgbClr val="FFFFFF"/>
                </a:solidFill>
                <a:latin typeface="Arial"/>
                <a:ea typeface="Arial"/>
                <a:cs typeface="Arial"/>
              </a:defRPr>
            </a:lvl1pPr>
            <a:lvl2pPr algn="l">
              <a:buNone/>
              <a:defRPr sz="1600" b="1" i="0">
                <a:solidFill>
                  <a:srgbClr val="FFFFFF"/>
                </a:solidFill>
                <a:latin typeface="Arial"/>
                <a:ea typeface="Arial"/>
                <a:cs typeface="Arial"/>
              </a:defRPr>
            </a:lvl2pPr>
            <a:lvl3pPr algn="l">
              <a:buNone/>
              <a:defRPr sz="1600" b="1" i="0">
                <a:solidFill>
                  <a:srgbClr val="FFFFFF"/>
                </a:solidFill>
                <a:latin typeface="Arial"/>
                <a:ea typeface="Arial"/>
                <a:cs typeface="Arial"/>
              </a:defRPr>
            </a:lvl3pPr>
            <a:lvl4pPr algn="l">
              <a:buNone/>
              <a:defRPr sz="1600" b="1" i="0">
                <a:solidFill>
                  <a:srgbClr val="FFFFFF"/>
                </a:solidFill>
                <a:latin typeface="Arial"/>
                <a:ea typeface="Arial"/>
                <a:cs typeface="Arial"/>
              </a:defRPr>
            </a:lvl4pPr>
            <a:lvl5pPr algn="l">
              <a:buNone/>
              <a:defRPr sz="1600" b="1" i="0">
                <a:solidFill>
                  <a:srgbClr val="FFFFFF"/>
                </a:solidFill>
                <a:latin typeface="Arial"/>
                <a:ea typeface="Arial"/>
                <a:cs typeface="Arial"/>
              </a:defRPr>
            </a:lvl5pPr>
            <a:lvl6pPr algn="l">
              <a:buNone/>
              <a:defRPr sz="1600" b="1" i="0">
                <a:solidFill>
                  <a:srgbClr val="FFFFFF"/>
                </a:solidFill>
                <a:latin typeface="Arial"/>
                <a:ea typeface="Arial"/>
                <a:cs typeface="Arial"/>
              </a:defRPr>
            </a:lvl6pPr>
            <a:lvl7pPr algn="l">
              <a:buNone/>
              <a:defRPr sz="1600" b="1" i="0">
                <a:solidFill>
                  <a:srgbClr val="FFFFFF"/>
                </a:solidFill>
                <a:latin typeface="Arial"/>
                <a:ea typeface="Arial"/>
                <a:cs typeface="Arial"/>
              </a:defRPr>
            </a:lvl7pPr>
            <a:lvl8pPr algn="l">
              <a:buNone/>
              <a:defRPr sz="1600" b="1" i="0">
                <a:solidFill>
                  <a:srgbClr val="FFFFFF"/>
                </a:solidFill>
                <a:latin typeface="Arial"/>
                <a:ea typeface="Arial"/>
                <a:cs typeface="Arial"/>
              </a:defRPr>
            </a:lvl8pPr>
            <a:lvl9pPr algn="l">
              <a:buNone/>
              <a:defRPr sz="1600" b="1" i="0">
                <a:solidFill>
                  <a:srgbClr val="FFFFFF"/>
                </a:solidFill>
                <a:latin typeface="Arial"/>
                <a:ea typeface="Arial"/>
                <a:cs typeface="Arial"/>
              </a:defRPr>
            </a:lvl9pPr>
          </a:lstStyle>
          <a:p xmlns:a="http://schemas.openxmlformats.org/drawingml/2006/main">
            <a:pPr marL="0" indent="0" algn="l">
              <a:buNone/>
              <a:defRPr sz="1600" b="1" i="0">
                <a:solidFill>
                  <a:srgbClr val="FFFFFF"/>
                </a:solidFill>
                <a:latin typeface="Arial"/>
                <a:ea typeface="Arial"/>
                <a:cs typeface="Arial"/>
              </a:defRPr>
            </a:pPr>
            <a:r>
              <a:rPr sz="1600" b="1" i="0">
                <a:solidFill>
                  <a:srgbClr val="FFFFFF"/>
                </a:solidFill>
                <a:latin typeface="Arial"/>
                <a:ea typeface="Arial"/>
                <a:cs typeface="Arial"/>
              </a:rPr>
              <a:t>Test recurring value:</a:t>
            </a:r>
            <a:endParaRPr sz="1600"/>
          </a:p>
          <a:p xmlns:a="http://schemas.openxmlformats.org/drawingml/2006/main">
            <a:pPr marL="0" indent="0" algn="l">
              <a:buNone/>
              <a:defRPr sz="1600" b="1" i="0">
                <a:solidFill>
                  <a:srgbClr val="FFFFFF"/>
                </a:solidFill>
                <a:latin typeface="Arial"/>
                <a:ea typeface="Arial"/>
                <a:cs typeface="Arial"/>
              </a:defRPr>
            </a:pPr>
            <a:r>
              <a:rPr sz="1600" b="1" i="0">
                <a:solidFill>
                  <a:srgbClr val="FFFFFF"/>
                </a:solidFill>
                <a:latin typeface="Arial"/>
                <a:ea typeface="Arial"/>
                <a:cs typeface="Arial"/>
              </a:rPr>
              <a:t>documented adjustments</a:t>
            </a:r>
            <a:endParaRPr sz="1600"/>
          </a:p>
          <a:p xmlns:a="http://schemas.openxmlformats.org/drawingml/2006/main">
            <a:pPr marL="0" indent="0" algn="l">
              <a:buNone/>
              <a:defRPr sz="1600" b="1" i="0">
                <a:solidFill>
                  <a:srgbClr val="FFFFFF"/>
                </a:solidFill>
                <a:latin typeface="Arial"/>
                <a:ea typeface="Arial"/>
                <a:cs typeface="Arial"/>
              </a:defRPr>
            </a:pPr>
            <a:r>
              <a:rPr sz="1600" b="1" i="0">
                <a:solidFill>
                  <a:srgbClr val="FFFFFF"/>
                </a:solidFill>
                <a:latin typeface="Arial"/>
                <a:ea typeface="Arial"/>
                <a:cs typeface="Arial"/>
              </a:rPr>
              <a:t>and follow-up time saved.</a:t>
            </a:r>
            <a:endParaRPr sz="1600"/>
          </a:p>
        </p:txBody>
      </p:sp>
      <p:sp>
        <p:nvSpPr>
          <p:cNvPr id="9" name="Text 7">
            <a:extLst xmlns:a="http://schemas.openxmlformats.org/drawingml/2006/main">
              <a:ext uri="{FF2B5EF4-FFF2-40B4-BE49-F238E27FC236}">
                <a16:creationId xmlns:a16="http://schemas.microsoft.com/office/drawing/2014/main" id="{E2DEBA8B-1D48-44A8-AE3B-EBD281F484F4}"/>
              </a:ext>
            </a:extLst>
          </p:cNvPr>
          <p:cNvSpPr>
            <a:spLocks xmlns:a="http://schemas.openxmlformats.org/drawingml/2006/main" noGrp="1"/>
          </p:cNvSpPr>
          <p:nvPr/>
        </p:nvSpPr>
        <p:spPr>
          <a:xfrm xmlns:a="http://schemas.openxmlformats.org/drawingml/2006/main">
            <a:off x="822960" y="4572000"/>
            <a:ext cx="30175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i="0">
                <a:solidFill>
                  <a:srgbClr val="A9BDCD"/>
                </a:solidFill>
                <a:latin typeface="Arial"/>
                <a:ea typeface="Arial"/>
                <a:cs typeface="Arial"/>
              </a:defRPr>
            </a:defPPr>
            <a:lvl1pPr algn="l">
              <a:buNone/>
              <a:defRPr sz="1300" b="0" i="0">
                <a:solidFill>
                  <a:srgbClr val="A9BDCD"/>
                </a:solidFill>
                <a:latin typeface="Arial"/>
                <a:ea typeface="Arial"/>
                <a:cs typeface="Arial"/>
              </a:defRPr>
            </a:lvl1pPr>
            <a:lvl2pPr algn="l">
              <a:buNone/>
              <a:defRPr sz="1300" b="0" i="0">
                <a:solidFill>
                  <a:srgbClr val="A9BDCD"/>
                </a:solidFill>
                <a:latin typeface="Arial"/>
                <a:ea typeface="Arial"/>
                <a:cs typeface="Arial"/>
              </a:defRPr>
            </a:lvl2pPr>
            <a:lvl3pPr algn="l">
              <a:buNone/>
              <a:defRPr sz="1300" b="0" i="0">
                <a:solidFill>
                  <a:srgbClr val="A9BDCD"/>
                </a:solidFill>
                <a:latin typeface="Arial"/>
                <a:ea typeface="Arial"/>
                <a:cs typeface="Arial"/>
              </a:defRPr>
            </a:lvl3pPr>
            <a:lvl4pPr algn="l">
              <a:buNone/>
              <a:defRPr sz="1300" b="0" i="0">
                <a:solidFill>
                  <a:srgbClr val="A9BDCD"/>
                </a:solidFill>
                <a:latin typeface="Arial"/>
                <a:ea typeface="Arial"/>
                <a:cs typeface="Arial"/>
              </a:defRPr>
            </a:lvl4pPr>
            <a:lvl5pPr algn="l">
              <a:buNone/>
              <a:defRPr sz="1300" b="0" i="0">
                <a:solidFill>
                  <a:srgbClr val="A9BDCD"/>
                </a:solidFill>
                <a:latin typeface="Arial"/>
                <a:ea typeface="Arial"/>
                <a:cs typeface="Arial"/>
              </a:defRPr>
            </a:lvl5pPr>
            <a:lvl6pPr algn="l">
              <a:buNone/>
              <a:defRPr sz="1300" b="0" i="0">
                <a:solidFill>
                  <a:srgbClr val="A9BDCD"/>
                </a:solidFill>
                <a:latin typeface="Arial"/>
                <a:ea typeface="Arial"/>
                <a:cs typeface="Arial"/>
              </a:defRPr>
            </a:lvl6pPr>
            <a:lvl7pPr algn="l">
              <a:buNone/>
              <a:defRPr sz="1300" b="0" i="0">
                <a:solidFill>
                  <a:srgbClr val="A9BDCD"/>
                </a:solidFill>
                <a:latin typeface="Arial"/>
                <a:ea typeface="Arial"/>
                <a:cs typeface="Arial"/>
              </a:defRPr>
            </a:lvl7pPr>
            <a:lvl8pPr algn="l">
              <a:buNone/>
              <a:defRPr sz="1300" b="0" i="0">
                <a:solidFill>
                  <a:srgbClr val="A9BDCD"/>
                </a:solidFill>
                <a:latin typeface="Arial"/>
                <a:ea typeface="Arial"/>
                <a:cs typeface="Arial"/>
              </a:defRPr>
            </a:lvl8pPr>
            <a:lvl9pPr algn="l">
              <a:buNone/>
              <a:defRPr sz="1300" b="0" i="0">
                <a:solidFill>
                  <a:srgbClr val="A9BDCD"/>
                </a:solidFill>
                <a:latin typeface="Arial"/>
                <a:ea typeface="Arial"/>
                <a:cs typeface="Arial"/>
              </a:defRPr>
            </a:lvl9pPr>
          </a:lstStyle>
          <a:p xmlns:a="http://schemas.openxmlformats.org/drawingml/2006/main">
            <a:pPr marL="0" indent="0" algn="l">
              <a:buNone/>
              <a:defRPr sz="1300" b="0" i="0">
                <a:solidFill>
                  <a:srgbClr val="A9BDCD"/>
                </a:solidFill>
                <a:latin typeface="Arial"/>
                <a:ea typeface="Arial"/>
                <a:cs typeface="Arial"/>
              </a:defRPr>
            </a:pPr>
            <a:r>
              <a:rPr sz="1300" b="0" i="0">
                <a:solidFill>
                  <a:srgbClr val="A9BDCD"/>
                </a:solidFill>
                <a:latin typeface="Arial"/>
                <a:ea typeface="Arial"/>
                <a:cs typeface="Arial"/>
              </a:rPr>
              <a:t>Measure net benefit and willingness to pay. Recovery is not guaranteed.</a:t>
            </a:r>
            <a:endParaRPr sz="1400"/>
          </a:p>
        </p:txBody>
      </p:sp>
      <p:sp>
        <p:nvSpPr>
          <p:cNvPr id="10" name="Customer card">
            <a:extLst xmlns:a="http://schemas.openxmlformats.org/drawingml/2006/main">
              <a:ext uri="{FF2B5EF4-FFF2-40B4-BE49-F238E27FC236}">
                <a16:creationId xmlns:a16="http://schemas.microsoft.com/office/drawing/2014/main" id="{891426C4-A8BD-41FB-B13E-9C7AB174F7C1}"/>
              </a:ext>
            </a:extLst>
          </p:cNvPr>
          <p:cNvSpPr>
            <a:spLocks xmlns:a="http://schemas.openxmlformats.org/drawingml/2006/main" noGrp="1"/>
          </p:cNvSpPr>
          <p:nvPr/>
        </p:nvSpPr>
        <p:spPr>
          <a:xfrm xmlns:a="http://schemas.openxmlformats.org/drawingml/2006/main">
            <a:off x="4311396" y="1645920"/>
            <a:ext cx="3566160" cy="3794760"/>
          </a:xfrm>
          <a:prstGeom xmlns:a="http://schemas.openxmlformats.org/drawingml/2006/main" prst="roundRect">
            <a:avLst>
              <a:gd name="adj" fmla="val 3077"/>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1" name="Customers circle">
            <a:extLst xmlns:a="http://schemas.openxmlformats.org/drawingml/2006/main">
              <a:ext uri="{FF2B5EF4-FFF2-40B4-BE49-F238E27FC236}">
                <a16:creationId xmlns:a16="http://schemas.microsoft.com/office/drawing/2014/main" id="{C6F03CDB-7440-4A02-BBFC-694C37AB2AB6}"/>
              </a:ext>
            </a:extLst>
          </p:cNvPr>
          <p:cNvSpPr>
            <a:spLocks xmlns:a="http://schemas.openxmlformats.org/drawingml/2006/main" noGrp="1"/>
          </p:cNvSpPr>
          <p:nvPr/>
        </p:nvSpPr>
        <p:spPr>
          <a:xfrm xmlns:a="http://schemas.openxmlformats.org/drawingml/2006/main">
            <a:off x="4585716" y="1874520"/>
            <a:ext cx="502920" cy="502920"/>
          </a:xfrm>
          <a:prstGeom xmlns:a="http://schemas.openxmlformats.org/drawingml/2006/main" prst="ellipse">
            <a:avLst/>
          </a:prstGeom>
          <a:solidFill xmlns:a="http://schemas.openxmlformats.org/drawingml/2006/main">
            <a:srgbClr val="007E80"/>
          </a:solidFill>
        </p:spPr>
      </p:sp>
      <p:pic>
        <p:nvPicPr>
          <p:cNvPr id="12" name="Image 0">
            <a:extLst xmlns:a="http://schemas.openxmlformats.org/drawingml/2006/main">
              <a:ext uri="{FF2B5EF4-FFF2-40B4-BE49-F238E27FC236}">
                <a16:creationId xmlns:a16="http://schemas.microsoft.com/office/drawing/2014/main" id="{B07006E0-B639-4862-9545-64620E772CF2}"/>
              </a:ext>
            </a:extLst>
          </p:cNvPr>
          <p:cNvPicPr>
            <a:picLocks xmlns:a="http://schemas.openxmlformats.org/drawingml/2006/main" noChangeAspect="1"/>
          </p:cNvPicPr>
          <p:nvPr/>
        </p:nvPicPr>
        <p:blipFill>
          <a:blip xmlns:r="http://schemas.openxmlformats.org/officeDocument/2006/relationships" xmlns:a="http://schemas.openxmlformats.org/drawingml/2006/main" r:embed="Rb347742fbcf54e43"/>
          <a:stretch xmlns:a="http://schemas.openxmlformats.org/drawingml/2006/main">
            <a:fillRect l="0" t="0" r="0" b="0"/>
          </a:stretch>
        </p:blipFill>
        <p:spPr>
          <a:xfrm xmlns:a="http://schemas.openxmlformats.org/drawingml/2006/main">
            <a:off x="4706417" y="1995221"/>
            <a:ext cx="261518" cy="261518"/>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6F32BFB2-7D7C-4796-99AD-3900D1979594}"/>
              </a:ext>
            </a:extLst>
          </p:cNvPr>
          <p:cNvSpPr>
            <a:spLocks xmlns:a="http://schemas.openxmlformats.org/drawingml/2006/main" noGrp="1"/>
          </p:cNvSpPr>
          <p:nvPr/>
        </p:nvSpPr>
        <p:spPr>
          <a:xfrm xmlns:a="http://schemas.openxmlformats.org/drawingml/2006/main">
            <a:off x="5271516" y="1874520"/>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tx1"/>
                </a:solidFill>
              </a:rPr>
              <a:t>Who and how</a:t>
            </a:r>
            <a:endParaRPr sz="1800"/>
          </a:p>
        </p:txBody>
      </p:sp>
      <p:sp>
        <p:nvSpPr>
          <p:cNvPr id="14" name="Text 11">
            <a:extLst xmlns:a="http://schemas.openxmlformats.org/drawingml/2006/main">
              <a:ext uri="{FF2B5EF4-FFF2-40B4-BE49-F238E27FC236}">
                <a16:creationId xmlns:a16="http://schemas.microsoft.com/office/drawing/2014/main" id="{75A9257B-F7C8-45BA-A28F-F99D24349A50}"/>
              </a:ext>
            </a:extLst>
          </p:cNvPr>
          <p:cNvSpPr>
            <a:spLocks xmlns:a="http://schemas.openxmlformats.org/drawingml/2006/main" noGrp="1"/>
          </p:cNvSpPr>
          <p:nvPr/>
        </p:nvSpPr>
        <p:spPr>
          <a:xfrm xmlns:a="http://schemas.openxmlformats.org/drawingml/2006/main">
            <a:off x="4585716" y="2606040"/>
            <a:ext cx="3017520" cy="2697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500" b="0" i="0">
                <a:solidFill>
                  <a:srgbClr val="53676C"/>
                </a:solidFill>
                <a:latin typeface="Arial"/>
                <a:ea typeface="Arial"/>
                <a:cs typeface="Arial"/>
              </a:defRPr>
            </a:defPPr>
            <a:lvl1pPr algn="l">
              <a:buNone/>
              <a:defRPr sz="1500" b="0" i="0">
                <a:solidFill>
                  <a:srgbClr val="53676C"/>
                </a:solidFill>
                <a:latin typeface="Arial"/>
                <a:ea typeface="Arial"/>
                <a:cs typeface="Arial"/>
              </a:defRPr>
            </a:lvl1pPr>
            <a:lvl2pPr algn="l">
              <a:buNone/>
              <a:defRPr sz="1500" b="0" i="0">
                <a:solidFill>
                  <a:srgbClr val="53676C"/>
                </a:solidFill>
                <a:latin typeface="Arial"/>
                <a:ea typeface="Arial"/>
                <a:cs typeface="Arial"/>
              </a:defRPr>
            </a:lvl2pPr>
            <a:lvl3pPr algn="l">
              <a:buNone/>
              <a:defRPr sz="1500" b="0" i="0">
                <a:solidFill>
                  <a:srgbClr val="53676C"/>
                </a:solidFill>
                <a:latin typeface="Arial"/>
                <a:ea typeface="Arial"/>
                <a:cs typeface="Arial"/>
              </a:defRPr>
            </a:lvl3pPr>
            <a:lvl4pPr algn="l">
              <a:buNone/>
              <a:defRPr sz="1500" b="0" i="0">
                <a:solidFill>
                  <a:srgbClr val="53676C"/>
                </a:solidFill>
                <a:latin typeface="Arial"/>
                <a:ea typeface="Arial"/>
                <a:cs typeface="Arial"/>
              </a:defRPr>
            </a:lvl4pPr>
            <a:lvl5pPr algn="l">
              <a:buNone/>
              <a:defRPr sz="1500" b="0" i="0">
                <a:solidFill>
                  <a:srgbClr val="53676C"/>
                </a:solidFill>
                <a:latin typeface="Arial"/>
                <a:ea typeface="Arial"/>
                <a:cs typeface="Arial"/>
              </a:defRPr>
            </a:lvl5pPr>
            <a:lvl6pPr algn="l">
              <a:buNone/>
              <a:defRPr sz="1500" b="0" i="0">
                <a:solidFill>
                  <a:srgbClr val="53676C"/>
                </a:solidFill>
                <a:latin typeface="Arial"/>
                <a:ea typeface="Arial"/>
                <a:cs typeface="Arial"/>
              </a:defRPr>
            </a:lvl6pPr>
            <a:lvl7pPr algn="l">
              <a:buNone/>
              <a:defRPr sz="1500" b="0" i="0">
                <a:solidFill>
                  <a:srgbClr val="53676C"/>
                </a:solidFill>
                <a:latin typeface="Arial"/>
                <a:ea typeface="Arial"/>
                <a:cs typeface="Arial"/>
              </a:defRPr>
            </a:lvl7pPr>
            <a:lvl8pPr algn="l">
              <a:buNone/>
              <a:defRPr sz="1500" b="0" i="0">
                <a:solidFill>
                  <a:srgbClr val="53676C"/>
                </a:solidFill>
                <a:latin typeface="Arial"/>
                <a:ea typeface="Arial"/>
                <a:cs typeface="Arial"/>
              </a:defRPr>
            </a:lvl8pPr>
            <a:lvl9pPr algn="l">
              <a:buNone/>
              <a:defRPr sz="1500" b="0" i="0">
                <a:solidFill>
                  <a:srgbClr val="53676C"/>
                </a:solidFill>
                <a:latin typeface="Arial"/>
                <a:ea typeface="Arial"/>
                <a:cs typeface="Arial"/>
              </a:defRPr>
            </a:lvl9pPr>
          </a:lstStyle>
          <a:p xmlns:a="http://schemas.openxmlformats.org/drawingml/2006/main">
            <a:pPr marL="0" indent="0" algn="l">
              <a:spcAft>
                <a:spcPts val="1000"/>
              </a:spcAft>
              <a:buNone/>
              <a:defRPr sz="1500" b="0" i="0">
                <a:solidFill>
                  <a:srgbClr val="53676C"/>
                </a:solidFill>
                <a:latin typeface="Arial"/>
                <a:ea typeface="Arial"/>
                <a:cs typeface="Arial"/>
              </a:defRPr>
            </a:pPr>
            <a:r>
              <a:rPr sz="1500" b="0" i="0">
                <a:solidFill>
                  <a:srgbClr val="53676C"/>
                </a:solidFill>
                <a:latin typeface="Arial"/>
                <a:ea typeface="Arial"/>
                <a:cs typeface="Arial"/>
              </a:rPr>
              <a:t>Kirana stores with recurring adjustments and no reliable tracking process.</a:t>
            </a:r>
            <a:endParaRPr sz="1500"/>
          </a:p>
          <a:p xmlns:a="http://schemas.openxmlformats.org/drawingml/2006/main">
            <a:pPr marL="0" indent="0">
              <a:spcAft>
                <a:spcPts val="1000"/>
              </a:spcAft>
              <a:buNone/>
            </a:pPr>
            <a:r>
              <a:rPr sz="1500">
                <a:solidFill>
                  <a:schemeClr val="accent5"/>
                </a:solidFill>
              </a:rPr>
              <a:t/>
            </a:r>
            <a:endParaRPr sz="1500"/>
          </a:p>
          <a:p xmlns:a="http://schemas.openxmlformats.org/drawingml/2006/main">
            <a:pPr marL="0" indent="0" algn="l">
              <a:buNone/>
              <a:defRPr sz="1500" b="0" i="0">
                <a:solidFill>
                  <a:srgbClr val="53676C"/>
                </a:solidFill>
                <a:latin typeface="Arial"/>
                <a:ea typeface="Arial"/>
                <a:cs typeface="Arial"/>
              </a:defRPr>
            </a:pPr>
            <a:r>
              <a:rPr sz="1500" b="0" i="0">
                <a:solidFill>
                  <a:srgbClr val="53676C"/>
                </a:solidFill>
                <a:latin typeface="Arial"/>
                <a:ea typeface="Arial"/>
                <a:cs typeface="Arial"/>
              </a:rPr>
              <a:t>Recruit 3–5 workflow testers through direct outreach.</a:t>
            </a:r>
            <a:endParaRPr sz="1500"/>
          </a:p>
          <a:p xmlns:a="http://schemas.openxmlformats.org/drawingml/2006/main">
            <a:pPr marL="0" indent="0">
              <a:buNone/>
            </a:pPr>
            <a:r>
              <a:rPr sz="1500">
                <a:solidFill>
                  <a:schemeClr val="accent5"/>
                </a:solidFill>
              </a:rPr>
              <a:t/>
            </a:r>
            <a:endParaRPr sz="1500"/>
          </a:p>
          <a:p xmlns:a="http://schemas.openxmlformats.org/drawingml/2006/main">
            <a:pPr marL="0" indent="0" algn="l">
              <a:buNone/>
              <a:defRPr sz="1500" b="0" i="0">
                <a:solidFill>
                  <a:srgbClr val="53676C"/>
                </a:solidFill>
                <a:latin typeface="Arial"/>
                <a:ea typeface="Arial"/>
                <a:cs typeface="Arial"/>
              </a:defRPr>
            </a:pPr>
            <a:r>
              <a:rPr sz="1500" b="0" i="0">
                <a:solidFill>
                  <a:srgbClr val="53676C"/>
                </a:solidFill>
                <a:latin typeface="Arial"/>
                <a:ea typeface="Arial"/>
                <a:cs typeface="Arial"/>
              </a:rPr>
              <a:t>Proposed Paytm for Business workflow; partnership and access required.</a:t>
            </a:r>
            <a:endParaRPr sz="1500"/>
          </a:p>
        </p:txBody>
      </p:sp>
      <p:sp>
        <p:nvSpPr>
          <p:cNvPr id="15" name="Costs card">
            <a:extLst xmlns:a="http://schemas.openxmlformats.org/drawingml/2006/main">
              <a:ext uri="{FF2B5EF4-FFF2-40B4-BE49-F238E27FC236}">
                <a16:creationId xmlns:a16="http://schemas.microsoft.com/office/drawing/2014/main" id="{71B90724-2584-4E58-B39D-16A23457E53A}"/>
              </a:ext>
            </a:extLst>
          </p:cNvPr>
          <p:cNvSpPr>
            <a:spLocks xmlns:a="http://schemas.openxmlformats.org/drawingml/2006/main" noGrp="1"/>
          </p:cNvSpPr>
          <p:nvPr/>
        </p:nvSpPr>
        <p:spPr>
          <a:xfrm xmlns:a="http://schemas.openxmlformats.org/drawingml/2006/main">
            <a:off x="8074152" y="1645920"/>
            <a:ext cx="3566160" cy="3794760"/>
          </a:xfrm>
          <a:prstGeom xmlns:a="http://schemas.openxmlformats.org/drawingml/2006/main" prst="roundRect">
            <a:avLst>
              <a:gd name="adj" fmla="val 3077"/>
            </a:avLst>
          </a:prstGeom>
          <a:solidFill xmlns:a="http://schemas.openxmlformats.org/drawingml/2006/main">
            <a:schemeClr val="bg1"/>
          </a:solidFill>
          <a:effectLst xmlns:a="http://schemas.openxmlformats.org/drawingml/2006/main">
            <a:outerShdw blurRad="127000" dist="38100" dir="5400000" sx="100000" sy="100000" kx="0" ky="0" algn="bl" rotWithShape="0">
              <a:srgbClr val="000000">
                <a:alpha val="12000"/>
              </a:srgbClr>
            </a:outerShdw>
          </a:effectLst>
        </p:spPr>
      </p:sp>
      <p:sp>
        <p:nvSpPr>
          <p:cNvPr id="16" name="Roadmap circle">
            <a:extLst xmlns:a="http://schemas.openxmlformats.org/drawingml/2006/main">
              <a:ext uri="{FF2B5EF4-FFF2-40B4-BE49-F238E27FC236}">
                <a16:creationId xmlns:a16="http://schemas.microsoft.com/office/drawing/2014/main" id="{E0B8756E-CFA1-4E84-B104-5C4A5233C776}"/>
              </a:ext>
            </a:extLst>
          </p:cNvPr>
          <p:cNvSpPr>
            <a:spLocks xmlns:a="http://schemas.openxmlformats.org/drawingml/2006/main" noGrp="1"/>
          </p:cNvSpPr>
          <p:nvPr/>
        </p:nvSpPr>
        <p:spPr>
          <a:xfrm xmlns:a="http://schemas.openxmlformats.org/drawingml/2006/main">
            <a:off x="8348472" y="1874520"/>
            <a:ext cx="502920" cy="502920"/>
          </a:xfrm>
          <a:prstGeom xmlns:a="http://schemas.openxmlformats.org/drawingml/2006/main" prst="ellipse">
            <a:avLst/>
          </a:prstGeom>
          <a:solidFill xmlns:a="http://schemas.openxmlformats.org/drawingml/2006/main">
            <a:srgbClr val="007E80"/>
          </a:solidFill>
        </p:spPr>
      </p:sp>
      <p:pic>
        <p:nvPicPr>
          <p:cNvPr id="17" name="Image 1">
            <a:extLst xmlns:a="http://schemas.openxmlformats.org/drawingml/2006/main">
              <a:ext uri="{FF2B5EF4-FFF2-40B4-BE49-F238E27FC236}">
                <a16:creationId xmlns:a16="http://schemas.microsoft.com/office/drawing/2014/main" id="{AC31E208-6D18-46C2-9816-837C93562BF6}"/>
              </a:ext>
            </a:extLst>
          </p:cNvPr>
          <p:cNvPicPr>
            <a:picLocks xmlns:a="http://schemas.openxmlformats.org/drawingml/2006/main" noChangeAspect="1"/>
          </p:cNvPicPr>
          <p:nvPr/>
        </p:nvPicPr>
        <p:blipFill>
          <a:blip xmlns:r="http://schemas.openxmlformats.org/officeDocument/2006/relationships" xmlns:a="http://schemas.openxmlformats.org/drawingml/2006/main" r:embed="Rc205b3eb0dd64cd0"/>
          <a:stretch xmlns:a="http://schemas.openxmlformats.org/drawingml/2006/main">
            <a:fillRect l="0" t="0" r="0" b="0"/>
          </a:stretch>
        </p:blipFill>
        <p:spPr>
          <a:xfrm xmlns:a="http://schemas.openxmlformats.org/drawingml/2006/main">
            <a:off x="8469173" y="1995221"/>
            <a:ext cx="261518" cy="261518"/>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9C113FC0-04FB-47CC-A0A6-FA37B18D459D}"/>
              </a:ext>
            </a:extLst>
          </p:cNvPr>
          <p:cNvSpPr>
            <a:spLocks xmlns:a="http://schemas.openxmlformats.org/drawingml/2006/main" noGrp="1"/>
          </p:cNvSpPr>
          <p:nvPr/>
        </p:nvSpPr>
        <p:spPr>
          <a:xfrm xmlns:a="http://schemas.openxmlformats.org/drawingml/2006/main">
            <a:off x="9034272" y="1874520"/>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tx1"/>
                </a:solidFill>
              </a:rPr>
              <a:t>Costs and roadmap</a:t>
            </a:r>
            <a:endParaRPr sz="1800"/>
          </a:p>
        </p:txBody>
      </p:sp>
      <p:sp>
        <p:nvSpPr>
          <p:cNvPr id="19" name="Text 15">
            <a:extLst xmlns:a="http://schemas.openxmlformats.org/drawingml/2006/main">
              <a:ext uri="{FF2B5EF4-FFF2-40B4-BE49-F238E27FC236}">
                <a16:creationId xmlns:a16="http://schemas.microsoft.com/office/drawing/2014/main" id="{0D9CD37A-CE97-446C-A061-A17B83BC523B}"/>
              </a:ext>
            </a:extLst>
          </p:cNvPr>
          <p:cNvSpPr>
            <a:spLocks xmlns:a="http://schemas.openxmlformats.org/drawingml/2006/main" noGrp="1"/>
          </p:cNvSpPr>
          <p:nvPr/>
        </p:nvSpPr>
        <p:spPr>
          <a:xfrm xmlns:a="http://schemas.openxmlformats.org/drawingml/2006/main">
            <a:off x="8348472" y="2606040"/>
            <a:ext cx="3017520" cy="2697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500" b="0" i="0">
                <a:solidFill>
                  <a:srgbClr val="53676C"/>
                </a:solidFill>
                <a:latin typeface="Arial"/>
                <a:ea typeface="Arial"/>
                <a:cs typeface="Arial"/>
              </a:defRPr>
            </a:defPPr>
            <a:lvl1pPr algn="l">
              <a:buNone/>
              <a:defRPr sz="1500" b="0" i="0">
                <a:solidFill>
                  <a:srgbClr val="53676C"/>
                </a:solidFill>
                <a:latin typeface="Arial"/>
                <a:ea typeface="Arial"/>
                <a:cs typeface="Arial"/>
              </a:defRPr>
            </a:lvl1pPr>
            <a:lvl2pPr algn="l">
              <a:buNone/>
              <a:defRPr sz="1500" b="0" i="0">
                <a:solidFill>
                  <a:srgbClr val="53676C"/>
                </a:solidFill>
                <a:latin typeface="Arial"/>
                <a:ea typeface="Arial"/>
                <a:cs typeface="Arial"/>
              </a:defRPr>
            </a:lvl2pPr>
            <a:lvl3pPr algn="l">
              <a:buNone/>
              <a:defRPr sz="1500" b="0" i="0">
                <a:solidFill>
                  <a:srgbClr val="53676C"/>
                </a:solidFill>
                <a:latin typeface="Arial"/>
                <a:ea typeface="Arial"/>
                <a:cs typeface="Arial"/>
              </a:defRPr>
            </a:lvl3pPr>
            <a:lvl4pPr algn="l">
              <a:buNone/>
              <a:defRPr sz="1500" b="0" i="0">
                <a:solidFill>
                  <a:srgbClr val="53676C"/>
                </a:solidFill>
                <a:latin typeface="Arial"/>
                <a:ea typeface="Arial"/>
                <a:cs typeface="Arial"/>
              </a:defRPr>
            </a:lvl4pPr>
            <a:lvl5pPr algn="l">
              <a:buNone/>
              <a:defRPr sz="1500" b="0" i="0">
                <a:solidFill>
                  <a:srgbClr val="53676C"/>
                </a:solidFill>
                <a:latin typeface="Arial"/>
                <a:ea typeface="Arial"/>
                <a:cs typeface="Arial"/>
              </a:defRPr>
            </a:lvl5pPr>
            <a:lvl6pPr algn="l">
              <a:buNone/>
              <a:defRPr sz="1500" b="0" i="0">
                <a:solidFill>
                  <a:srgbClr val="53676C"/>
                </a:solidFill>
                <a:latin typeface="Arial"/>
                <a:ea typeface="Arial"/>
                <a:cs typeface="Arial"/>
              </a:defRPr>
            </a:lvl6pPr>
            <a:lvl7pPr algn="l">
              <a:buNone/>
              <a:defRPr sz="1500" b="0" i="0">
                <a:solidFill>
                  <a:srgbClr val="53676C"/>
                </a:solidFill>
                <a:latin typeface="Arial"/>
                <a:ea typeface="Arial"/>
                <a:cs typeface="Arial"/>
              </a:defRPr>
            </a:lvl7pPr>
            <a:lvl8pPr algn="l">
              <a:buNone/>
              <a:defRPr sz="1500" b="0" i="0">
                <a:solidFill>
                  <a:srgbClr val="53676C"/>
                </a:solidFill>
                <a:latin typeface="Arial"/>
                <a:ea typeface="Arial"/>
                <a:cs typeface="Arial"/>
              </a:defRPr>
            </a:lvl8pPr>
            <a:lvl9pPr algn="l">
              <a:buNone/>
              <a:defRPr sz="1500" b="0" i="0">
                <a:solidFill>
                  <a:srgbClr val="53676C"/>
                </a:solidFill>
                <a:latin typeface="Arial"/>
                <a:ea typeface="Arial"/>
                <a:cs typeface="Arial"/>
              </a:defRPr>
            </a:lvl9pPr>
          </a:lstStyle>
          <a:p xmlns:a="http://schemas.openxmlformats.org/drawingml/2006/main">
            <a:pPr marL="0" indent="0" algn="l">
              <a:spcAft>
                <a:spcPts val="1000"/>
              </a:spcAft>
              <a:buNone/>
              <a:defRPr sz="1500" b="0" i="0">
                <a:solidFill>
                  <a:srgbClr val="53676C"/>
                </a:solidFill>
                <a:latin typeface="Arial"/>
                <a:ea typeface="Arial"/>
                <a:cs typeface="Arial"/>
              </a:defRPr>
            </a:pPr>
            <a:r>
              <a:rPr sz="1500" b="0" i="0">
                <a:solidFill>
                  <a:srgbClr val="53676C"/>
                </a:solidFill>
                <a:latin typeface="Arial"/>
                <a:ea typeface="Arial"/>
                <a:cs typeface="Arial"/>
              </a:rPr>
              <a:t>Measure model calls, retries, hosting and support before setting usage limits.</a:t>
            </a:r>
            <a:endParaRPr sz="1500"/>
          </a:p>
          <a:p xmlns:a="http://schemas.openxmlformats.org/drawingml/2006/main">
            <a:pPr marL="0" indent="0">
              <a:spcAft>
                <a:spcPts val="1000"/>
              </a:spcAft>
              <a:buNone/>
            </a:pPr>
            <a:r>
              <a:rPr sz="1500">
                <a:solidFill>
                  <a:schemeClr val="accent5"/>
                </a:solidFill>
              </a:rPr>
              <a:t/>
            </a:r>
            <a:endParaRPr sz="1500"/>
          </a:p>
          <a:p xmlns:a="http://schemas.openxmlformats.org/drawingml/2006/main">
            <a:pPr marL="0" indent="0" algn="l">
              <a:buNone/>
              <a:defRPr sz="1500" b="0" i="0">
                <a:solidFill>
                  <a:srgbClr val="53676C"/>
                </a:solidFill>
                <a:latin typeface="Arial"/>
                <a:ea typeface="Arial"/>
                <a:cs typeface="Arial"/>
              </a:defRPr>
            </a:pPr>
            <a:r>
              <a:rPr sz="1500" b="0" i="0">
                <a:solidFill>
                  <a:srgbClr val="53676C"/>
                </a:solidFill>
                <a:latin typeface="Arial"/>
                <a:ea typeface="Arial"/>
                <a:cs typeface="Arial"/>
              </a:rPr>
              <a:t>Next: Hindi/Hinglish and return-to-credit tracking.</a:t>
            </a:r>
            <a:endParaRPr sz="1500"/>
          </a:p>
          <a:p xmlns:a="http://schemas.openxmlformats.org/drawingml/2006/main">
            <a:pPr marL="0" indent="0">
              <a:buNone/>
            </a:pPr>
            <a:r>
              <a:rPr sz="1500">
                <a:solidFill>
                  <a:schemeClr val="accent5"/>
                </a:solidFill>
              </a:rPr>
              <a:t/>
            </a:r>
            <a:endParaRPr sz="1500"/>
          </a:p>
          <a:p xmlns:a="http://schemas.openxmlformats.org/drawingml/2006/main">
            <a:pPr marL="0" indent="0" algn="l">
              <a:buNone/>
              <a:defRPr sz="1500" b="0" i="0">
                <a:solidFill>
                  <a:srgbClr val="53676C"/>
                </a:solidFill>
                <a:latin typeface="Arial"/>
                <a:ea typeface="Arial"/>
                <a:cs typeface="Arial"/>
              </a:defRPr>
            </a:pPr>
            <a:r>
              <a:rPr sz="1500" b="0" i="0">
                <a:solidFill>
                  <a:srgbClr val="53676C"/>
                </a:solidFill>
                <a:latin typeface="Arial"/>
                <a:ea typeface="Arial"/>
                <a:cs typeface="Arial"/>
              </a:rPr>
              <a:t>Later: price and scheme checks after validation.</a:t>
            </a:r>
            <a:endParaRPr sz="1500"/>
          </a:p>
        </p:txBody>
      </p:sp>
      <p:sp>
        <p:nvSpPr>
          <p:cNvPr id="20" name="Text 16">
            <a:extLst xmlns:a="http://schemas.openxmlformats.org/drawingml/2006/main">
              <a:ext uri="{FF2B5EF4-FFF2-40B4-BE49-F238E27FC236}">
                <a16:creationId xmlns:a16="http://schemas.microsoft.com/office/drawing/2014/main" id="{C096B75B-6014-440B-AD59-FC53FF0D2642}"/>
              </a:ext>
            </a:extLst>
          </p:cNvPr>
          <p:cNvSpPr>
            <a:spLocks xmlns:a="http://schemas.openxmlformats.org/drawingml/2006/main" noGrp="1"/>
          </p:cNvSpPr>
          <p:nvPr/>
        </p:nvSpPr>
        <p:spPr>
          <a:xfrm xmlns:a="http://schemas.openxmlformats.org/drawingml/2006/main">
            <a:off x="548640" y="5669280"/>
            <a:ext cx="11091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53676C"/>
                </a:solidFill>
                <a:latin typeface="Arial"/>
                <a:ea typeface="Arial"/>
                <a:cs typeface="Arial"/>
              </a:defRPr>
            </a:defPPr>
            <a:lvl1pPr algn="l">
              <a:buNone/>
              <a:defRPr sz="1400" b="0" i="0">
                <a:solidFill>
                  <a:srgbClr val="53676C"/>
                </a:solidFill>
                <a:latin typeface="Arial"/>
                <a:ea typeface="Arial"/>
                <a:cs typeface="Arial"/>
              </a:defRPr>
            </a:lvl1pPr>
            <a:lvl2pPr algn="l">
              <a:buNone/>
              <a:defRPr sz="1400" b="0" i="0">
                <a:solidFill>
                  <a:srgbClr val="53676C"/>
                </a:solidFill>
                <a:latin typeface="Arial"/>
                <a:ea typeface="Arial"/>
                <a:cs typeface="Arial"/>
              </a:defRPr>
            </a:lvl2pPr>
            <a:lvl3pPr algn="l">
              <a:buNone/>
              <a:defRPr sz="1400" b="0" i="0">
                <a:solidFill>
                  <a:srgbClr val="53676C"/>
                </a:solidFill>
                <a:latin typeface="Arial"/>
                <a:ea typeface="Arial"/>
                <a:cs typeface="Arial"/>
              </a:defRPr>
            </a:lvl3pPr>
            <a:lvl4pPr algn="l">
              <a:buNone/>
              <a:defRPr sz="1400" b="0" i="0">
                <a:solidFill>
                  <a:srgbClr val="53676C"/>
                </a:solidFill>
                <a:latin typeface="Arial"/>
                <a:ea typeface="Arial"/>
                <a:cs typeface="Arial"/>
              </a:defRPr>
            </a:lvl4pPr>
            <a:lvl5pPr algn="l">
              <a:buNone/>
              <a:defRPr sz="1400" b="0" i="0">
                <a:solidFill>
                  <a:srgbClr val="53676C"/>
                </a:solidFill>
                <a:latin typeface="Arial"/>
                <a:ea typeface="Arial"/>
                <a:cs typeface="Arial"/>
              </a:defRPr>
            </a:lvl5pPr>
            <a:lvl6pPr algn="l">
              <a:buNone/>
              <a:defRPr sz="1400" b="0" i="0">
                <a:solidFill>
                  <a:srgbClr val="53676C"/>
                </a:solidFill>
                <a:latin typeface="Arial"/>
                <a:ea typeface="Arial"/>
                <a:cs typeface="Arial"/>
              </a:defRPr>
            </a:lvl6pPr>
            <a:lvl7pPr algn="l">
              <a:buNone/>
              <a:defRPr sz="1400" b="0" i="0">
                <a:solidFill>
                  <a:srgbClr val="53676C"/>
                </a:solidFill>
                <a:latin typeface="Arial"/>
                <a:ea typeface="Arial"/>
                <a:cs typeface="Arial"/>
              </a:defRPr>
            </a:lvl7pPr>
            <a:lvl8pPr algn="l">
              <a:buNone/>
              <a:defRPr sz="1400" b="0" i="0">
                <a:solidFill>
                  <a:srgbClr val="53676C"/>
                </a:solidFill>
                <a:latin typeface="Arial"/>
                <a:ea typeface="Arial"/>
                <a:cs typeface="Arial"/>
              </a:defRPr>
            </a:lvl8pPr>
            <a:lvl9pPr algn="l">
              <a:buNone/>
              <a:defRPr sz="1400" b="0" i="0">
                <a:solidFill>
                  <a:srgbClr val="53676C"/>
                </a:solidFill>
                <a:latin typeface="Arial"/>
                <a:ea typeface="Arial"/>
                <a:cs typeface="Arial"/>
              </a:defRPr>
            </a:lvl9pPr>
          </a:lstStyle>
          <a:p xmlns:a="http://schemas.openxmlformats.org/drawingml/2006/main">
            <a:pPr marL="0" indent="0" algn="l">
              <a:buNone/>
              <a:defRPr sz="1400" b="0" i="0">
                <a:solidFill>
                  <a:srgbClr val="53676C"/>
                </a:solidFill>
                <a:latin typeface="Arial"/>
                <a:ea typeface="Arial"/>
                <a:cs typeface="Arial"/>
              </a:defRPr>
            </a:pPr>
            <a:r>
              <a:rPr sz="1400" b="0" i="0">
                <a:solidFill>
                  <a:srgbClr val="53676C"/>
                </a:solidFill>
                <a:latin typeface="Arial"/>
                <a:ea typeface="Arial"/>
                <a:cs typeface="Arial"/>
              </a:rPr>
              <a:t>Keep ₹199 as a pricing hypothesis. Validate repeat usage, willingness to pay and cost per active store.</a:t>
            </a:r>
            <a:endParaRPr sz="1400"/>
          </a:p>
        </p:txBody>
      </p:sp>
      <p:sp>
        <p:nvSpPr>
          <p:cNvPr id="25" name="Slide Number Placeholder 0">
            <a:extLst xmlns:a="http://schemas.openxmlformats.org/drawingml/2006/main">
              <a:ext uri="{FF2B5EF4-FFF2-40B4-BE49-F238E27FC236}">
                <a16:creationId xmlns:a16="http://schemas.microsoft.com/office/drawing/2014/main" id="{242EE66C-FD8E-4620-97A3-D331BF07E4F6}"/>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53676C"/>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96840113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F29250-4588-48B6-A25D-78911C30AF1A}"/>
              </a:ext>
            </a:extLst>
          </p:cNvPr>
          <p:cNvSpPr>
            <a:spLocks xmlns:a="http://schemas.openxmlformats.org/drawingml/2006/main" noGrp="1"/>
          </p:cNvSpPr>
          <p:nvPr>
            <p:ph type="body" idx="100" hasCustomPrompt="1"/>
          </p:nvPr>
        </p:nvSpPr>
        <p:spPr>
          <a:xfrm xmlns:a="http://schemas.openxmlformats.org/drawingml/2006/main">
            <a:off x="548640" y="3657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i="0">
                <a:solidFill>
                  <a:srgbClr val="EFBA53"/>
                </a:solidFill>
                <a:latin typeface="Arial"/>
                <a:ea typeface="Arial"/>
                <a:cs typeface="Arial"/>
              </a:defRPr>
            </a:defPPr>
            <a:lvl1pPr algn="l">
              <a:buNone/>
              <a:defRPr sz="1400" b="1" i="0">
                <a:solidFill>
                  <a:srgbClr val="EFBA53"/>
                </a:solidFill>
                <a:latin typeface="Arial"/>
                <a:ea typeface="Arial"/>
                <a:cs typeface="Arial"/>
              </a:defRPr>
            </a:lvl1pPr>
            <a:lvl2pPr algn="l">
              <a:buNone/>
              <a:defRPr sz="1400" b="1" i="0">
                <a:solidFill>
                  <a:srgbClr val="EFBA53"/>
                </a:solidFill>
                <a:latin typeface="Arial"/>
                <a:ea typeface="Arial"/>
                <a:cs typeface="Arial"/>
              </a:defRPr>
            </a:lvl2pPr>
            <a:lvl3pPr algn="l">
              <a:buNone/>
              <a:defRPr sz="1400" b="1" i="0">
                <a:solidFill>
                  <a:srgbClr val="EFBA53"/>
                </a:solidFill>
                <a:latin typeface="Arial"/>
                <a:ea typeface="Arial"/>
                <a:cs typeface="Arial"/>
              </a:defRPr>
            </a:lvl3pPr>
            <a:lvl4pPr algn="l">
              <a:buNone/>
              <a:defRPr sz="1400" b="1" i="0">
                <a:solidFill>
                  <a:srgbClr val="EFBA53"/>
                </a:solidFill>
                <a:latin typeface="Arial"/>
                <a:ea typeface="Arial"/>
                <a:cs typeface="Arial"/>
              </a:defRPr>
            </a:lvl4pPr>
            <a:lvl5pPr algn="l">
              <a:buNone/>
              <a:defRPr sz="1400" b="1" i="0">
                <a:solidFill>
                  <a:srgbClr val="EFBA53"/>
                </a:solidFill>
                <a:latin typeface="Arial"/>
                <a:ea typeface="Arial"/>
                <a:cs typeface="Arial"/>
              </a:defRPr>
            </a:lvl5pPr>
            <a:lvl6pPr algn="l">
              <a:buNone/>
              <a:defRPr sz="1400" b="1" i="0">
                <a:solidFill>
                  <a:srgbClr val="EFBA53"/>
                </a:solidFill>
                <a:latin typeface="Arial"/>
                <a:ea typeface="Arial"/>
                <a:cs typeface="Arial"/>
              </a:defRPr>
            </a:lvl6pPr>
            <a:lvl7pPr algn="l">
              <a:buNone/>
              <a:defRPr sz="1400" b="1" i="0">
                <a:solidFill>
                  <a:srgbClr val="EFBA53"/>
                </a:solidFill>
                <a:latin typeface="Arial"/>
                <a:ea typeface="Arial"/>
                <a:cs typeface="Arial"/>
              </a:defRPr>
            </a:lvl7pPr>
            <a:lvl8pPr algn="l">
              <a:buNone/>
              <a:defRPr sz="1400" b="1" i="0">
                <a:solidFill>
                  <a:srgbClr val="EFBA53"/>
                </a:solidFill>
                <a:latin typeface="Arial"/>
                <a:ea typeface="Arial"/>
                <a:cs typeface="Arial"/>
              </a:defRPr>
            </a:lvl8pPr>
            <a:lvl9pPr algn="l">
              <a:buNone/>
              <a:defRPr sz="1400" b="1" i="0">
                <a:solidFill>
                  <a:srgbClr val="EFBA53"/>
                </a:solidFill>
                <a:latin typeface="Arial"/>
                <a:ea typeface="Arial"/>
                <a:cs typeface="Arial"/>
              </a:defRPr>
            </a:lvl9pPr>
          </a:lstStyle>
          <a:p xmlns:a="http://schemas.openxmlformats.org/drawingml/2006/main">
            <a:pPr marL="0" indent="0" algn="l">
              <a:buNone/>
              <a:defRPr sz="1400" b="1" i="0">
                <a:solidFill>
                  <a:srgbClr val="EFBA53"/>
                </a:solidFill>
                <a:latin typeface="Arial"/>
                <a:ea typeface="Arial"/>
                <a:cs typeface="Arial"/>
              </a:defRPr>
            </a:pPr>
            <a:r>
              <a:rPr sz="1400" b="1" i="0" spc="200">
                <a:solidFill>
                  <a:srgbClr val="EFBA53"/>
                </a:solidFill>
                <a:latin typeface="Arial"/>
                <a:ea typeface="Arial"/>
                <a:cs typeface="Arial"/>
              </a:rPr>
              <a:t>PAYTM FIT &amp; NEXT STEPS</a:t>
            </a:r>
            <a:endParaRPr sz="1400"/>
          </a:p>
        </p:txBody>
      </p:sp>
      <p:sp>
        <p:nvSpPr>
          <p:cNvPr id="3" name="Text 0">
            <a:extLst xmlns:a="http://schemas.openxmlformats.org/drawingml/2006/main">
              <a:ext uri="{FF2B5EF4-FFF2-40B4-BE49-F238E27FC236}">
                <a16:creationId xmlns:a16="http://schemas.microsoft.com/office/drawing/2014/main" id="{C664B2BB-8F9C-4EAE-B717-ABB06E8F3400}"/>
              </a:ext>
            </a:extLst>
          </p:cNvPr>
          <p:cNvSpPr>
            <a:spLocks xmlns:a="http://schemas.openxmlformats.org/drawingml/2006/main" noGrp="1"/>
          </p:cNvSpPr>
          <p:nvPr>
            <p:ph type="title" idx="101" hasCustomPrompt="1"/>
          </p:nvPr>
        </p:nvSpPr>
        <p:spPr>
          <a:xfrm xmlns:a="http://schemas.openxmlformats.org/drawingml/2006/main">
            <a:off x="548640" y="676656"/>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FFFFFF"/>
                </a:solidFill>
                <a:latin typeface="Arial"/>
                <a:ea typeface="Arial"/>
                <a:cs typeface="Arial"/>
              </a:defRPr>
            </a:defPPr>
            <a:lvl1pPr algn="l">
              <a:buNone/>
              <a:defRPr sz="3600" b="1" i="0">
                <a:solidFill>
                  <a:srgbClr val="FFFFFF"/>
                </a:solidFill>
                <a:latin typeface="Arial"/>
                <a:ea typeface="Arial"/>
                <a:cs typeface="Arial"/>
              </a:defRPr>
            </a:lvl1pPr>
            <a:lvl2pPr algn="l">
              <a:buNone/>
              <a:defRPr sz="3600" b="1" i="0">
                <a:solidFill>
                  <a:srgbClr val="FFFFFF"/>
                </a:solidFill>
                <a:latin typeface="Arial"/>
                <a:ea typeface="Arial"/>
                <a:cs typeface="Arial"/>
              </a:defRPr>
            </a:lvl2pPr>
            <a:lvl3pPr algn="l">
              <a:buNone/>
              <a:defRPr sz="3600" b="1" i="0">
                <a:solidFill>
                  <a:srgbClr val="FFFFFF"/>
                </a:solidFill>
                <a:latin typeface="Arial"/>
                <a:ea typeface="Arial"/>
                <a:cs typeface="Arial"/>
              </a:defRPr>
            </a:lvl3pPr>
            <a:lvl4pPr algn="l">
              <a:buNone/>
              <a:defRPr sz="3600" b="1" i="0">
                <a:solidFill>
                  <a:srgbClr val="FFFFFF"/>
                </a:solidFill>
                <a:latin typeface="Arial"/>
                <a:ea typeface="Arial"/>
                <a:cs typeface="Arial"/>
              </a:defRPr>
            </a:lvl4pPr>
            <a:lvl5pPr algn="l">
              <a:buNone/>
              <a:defRPr sz="3600" b="1" i="0">
                <a:solidFill>
                  <a:srgbClr val="FFFFFF"/>
                </a:solidFill>
                <a:latin typeface="Arial"/>
                <a:ea typeface="Arial"/>
                <a:cs typeface="Arial"/>
              </a:defRPr>
            </a:lvl5pPr>
            <a:lvl6pPr algn="l">
              <a:buNone/>
              <a:defRPr sz="3600" b="1" i="0">
                <a:solidFill>
                  <a:srgbClr val="FFFFFF"/>
                </a:solidFill>
                <a:latin typeface="Arial"/>
                <a:ea typeface="Arial"/>
                <a:cs typeface="Arial"/>
              </a:defRPr>
            </a:lvl6pPr>
            <a:lvl7pPr algn="l">
              <a:buNone/>
              <a:defRPr sz="3600" b="1" i="0">
                <a:solidFill>
                  <a:srgbClr val="FFFFFF"/>
                </a:solidFill>
                <a:latin typeface="Arial"/>
                <a:ea typeface="Arial"/>
                <a:cs typeface="Arial"/>
              </a:defRPr>
            </a:lvl7pPr>
            <a:lvl8pPr algn="l">
              <a:buNone/>
              <a:defRPr sz="3600" b="1" i="0">
                <a:solidFill>
                  <a:srgbClr val="FFFFFF"/>
                </a:solidFill>
                <a:latin typeface="Arial"/>
                <a:ea typeface="Arial"/>
                <a:cs typeface="Arial"/>
              </a:defRPr>
            </a:lvl8pPr>
            <a:lvl9pPr algn="l">
              <a:buNone/>
              <a:defRPr sz="3600" b="1" i="0">
                <a:solidFill>
                  <a:srgbClr val="FFFFFF"/>
                </a:solidFill>
                <a:latin typeface="Arial"/>
                <a:ea typeface="Arial"/>
                <a:cs typeface="Arial"/>
              </a:defRPr>
            </a:lvl9pPr>
          </a:lstStyle>
          <a:p xmlns:a="http://schemas.openxmlformats.org/drawingml/2006/main">
            <a:pPr marL="0" indent="0" algn="l">
              <a:buNone/>
              <a:defRPr sz="3600" b="1" i="0">
                <a:solidFill>
                  <a:srgbClr val="FFFFFF"/>
                </a:solidFill>
                <a:latin typeface="Arial"/>
                <a:ea typeface="Arial"/>
                <a:cs typeface="Arial"/>
              </a:defRPr>
            </a:pPr>
            <a:r>
              <a:rPr sz="3600" b="1" i="0">
                <a:solidFill>
                  <a:srgbClr val="FFFFFF"/>
                </a:solidFill>
                <a:latin typeface="Arial"/>
                <a:ea typeface="Arial"/>
                <a:cs typeface="Arial"/>
              </a:rPr>
              <a:t>One focused build. A small merchant pilot</a:t>
            </a:r>
            <a:endParaRPr sz="3600"/>
          </a:p>
        </p:txBody>
      </p:sp>
      <p:sp>
        <p:nvSpPr>
          <p:cNvPr id="4" name="Next step 1">
            <a:extLst xmlns:a="http://schemas.openxmlformats.org/drawingml/2006/main">
              <a:ext uri="{FF2B5EF4-FFF2-40B4-BE49-F238E27FC236}">
                <a16:creationId xmlns:a16="http://schemas.microsoft.com/office/drawing/2014/main" id="{6C831033-1F77-48B7-8A60-493E0F67A1DC}"/>
              </a:ext>
            </a:extLst>
          </p:cNvPr>
          <p:cNvSpPr>
            <a:spLocks xmlns:a="http://schemas.openxmlformats.org/drawingml/2006/main" noGrp="1"/>
          </p:cNvSpPr>
          <p:nvPr/>
        </p:nvSpPr>
        <p:spPr>
          <a:xfrm xmlns:a="http://schemas.openxmlformats.org/drawingml/2006/main">
            <a:off x="548640" y="1691640"/>
            <a:ext cx="3566160" cy="2606040"/>
          </a:xfrm>
          <a:prstGeom xmlns:a="http://schemas.openxmlformats.org/drawingml/2006/main" prst="roundRect">
            <a:avLst>
              <a:gd name="adj" fmla="val 4211"/>
            </a:avLst>
          </a:prstGeom>
          <a:solidFill xmlns:a="http://schemas.openxmlformats.org/drawingml/2006/main">
            <a:schemeClr val="bg1">
              <a:alpha val="9000"/>
            </a:schemeClr>
          </a:solidFill>
        </p:spPr>
      </p:sp>
      <p:sp>
        <p:nvSpPr>
          <p:cNvPr id="5" name="Text 3">
            <a:extLst xmlns:a="http://schemas.openxmlformats.org/drawingml/2006/main">
              <a:ext uri="{FF2B5EF4-FFF2-40B4-BE49-F238E27FC236}">
                <a16:creationId xmlns:a16="http://schemas.microsoft.com/office/drawing/2014/main" id="{6960E3BD-3E2F-4ED6-9567-6F3AF4CE46A8}"/>
              </a:ext>
            </a:extLst>
          </p:cNvPr>
          <p:cNvSpPr>
            <a:spLocks xmlns:a="http://schemas.openxmlformats.org/drawingml/2006/main" noGrp="1"/>
          </p:cNvSpPr>
          <p:nvPr/>
        </p:nvSpPr>
        <p:spPr>
          <a:xfrm xmlns:a="http://schemas.openxmlformats.org/drawingml/2006/main">
            <a:off x="822960" y="1874520"/>
            <a:ext cx="914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accent3"/>
                </a:solidFill>
              </a:rPr>
              <a:t>1</a:t>
            </a:r>
            <a:endParaRPr sz="4400"/>
          </a:p>
        </p:txBody>
      </p:sp>
      <p:sp>
        <p:nvSpPr>
          <p:cNvPr id="6" name="Text 4">
            <a:extLst xmlns:a="http://schemas.openxmlformats.org/drawingml/2006/main">
              <a:ext uri="{FF2B5EF4-FFF2-40B4-BE49-F238E27FC236}">
                <a16:creationId xmlns:a16="http://schemas.microsoft.com/office/drawing/2014/main" id="{83B158F0-C214-473E-BECF-93FE870F8471}"/>
              </a:ext>
            </a:extLst>
          </p:cNvPr>
          <p:cNvSpPr>
            <a:spLocks xmlns:a="http://schemas.openxmlformats.org/drawingml/2006/main" noGrp="1"/>
          </p:cNvSpPr>
          <p:nvPr/>
        </p:nvSpPr>
        <p:spPr>
          <a:xfrm xmlns:a="http://schemas.openxmlformats.org/drawingml/2006/main">
            <a:off x="822960" y="265176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FFFFFF"/>
                </a:solidFill>
                <a:latin typeface="Arial"/>
                <a:ea typeface="Arial"/>
                <a:cs typeface="Arial"/>
              </a:defRPr>
            </a:defPPr>
            <a:lvl1pPr algn="l">
              <a:buNone/>
              <a:defRPr sz="2000" b="1" i="0">
                <a:solidFill>
                  <a:srgbClr val="FFFFFF"/>
                </a:solidFill>
                <a:latin typeface="Arial"/>
                <a:ea typeface="Arial"/>
                <a:cs typeface="Arial"/>
              </a:defRPr>
            </a:lvl1pPr>
            <a:lvl2pPr algn="l">
              <a:buNone/>
              <a:defRPr sz="2000" b="1" i="0">
                <a:solidFill>
                  <a:srgbClr val="FFFFFF"/>
                </a:solidFill>
                <a:latin typeface="Arial"/>
                <a:ea typeface="Arial"/>
                <a:cs typeface="Arial"/>
              </a:defRPr>
            </a:lvl2pPr>
            <a:lvl3pPr algn="l">
              <a:buNone/>
              <a:defRPr sz="2000" b="1" i="0">
                <a:solidFill>
                  <a:srgbClr val="FFFFFF"/>
                </a:solidFill>
                <a:latin typeface="Arial"/>
                <a:ea typeface="Arial"/>
                <a:cs typeface="Arial"/>
              </a:defRPr>
            </a:lvl3pPr>
            <a:lvl4pPr algn="l">
              <a:buNone/>
              <a:defRPr sz="2000" b="1" i="0">
                <a:solidFill>
                  <a:srgbClr val="FFFFFF"/>
                </a:solidFill>
                <a:latin typeface="Arial"/>
                <a:ea typeface="Arial"/>
                <a:cs typeface="Arial"/>
              </a:defRPr>
            </a:lvl4pPr>
            <a:lvl5pPr algn="l">
              <a:buNone/>
              <a:defRPr sz="2000" b="1" i="0">
                <a:solidFill>
                  <a:srgbClr val="FFFFFF"/>
                </a:solidFill>
                <a:latin typeface="Arial"/>
                <a:ea typeface="Arial"/>
                <a:cs typeface="Arial"/>
              </a:defRPr>
            </a:lvl5pPr>
            <a:lvl6pPr algn="l">
              <a:buNone/>
              <a:defRPr sz="2000" b="1" i="0">
                <a:solidFill>
                  <a:srgbClr val="FFFFFF"/>
                </a:solidFill>
                <a:latin typeface="Arial"/>
                <a:ea typeface="Arial"/>
                <a:cs typeface="Arial"/>
              </a:defRPr>
            </a:lvl6pPr>
            <a:lvl7pPr algn="l">
              <a:buNone/>
              <a:defRPr sz="2000" b="1" i="0">
                <a:solidFill>
                  <a:srgbClr val="FFFFFF"/>
                </a:solidFill>
                <a:latin typeface="Arial"/>
                <a:ea typeface="Arial"/>
                <a:cs typeface="Arial"/>
              </a:defRPr>
            </a:lvl7pPr>
            <a:lvl8pPr algn="l">
              <a:buNone/>
              <a:defRPr sz="2000" b="1" i="0">
                <a:solidFill>
                  <a:srgbClr val="FFFFFF"/>
                </a:solidFill>
                <a:latin typeface="Arial"/>
                <a:ea typeface="Arial"/>
                <a:cs typeface="Arial"/>
              </a:defRPr>
            </a:lvl8pPr>
            <a:lvl9pPr algn="l">
              <a:buNone/>
              <a:defRPr sz="2000" b="1" i="0">
                <a:solidFill>
                  <a:srgbClr val="FFFFFF"/>
                </a:solidFill>
                <a:latin typeface="Arial"/>
                <a:ea typeface="Arial"/>
                <a:cs typeface="Arial"/>
              </a:defRPr>
            </a:lvl9pPr>
          </a:lstStyle>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One-day prototype</a:t>
            </a:r>
            <a:endParaRPr sz="2000"/>
          </a:p>
        </p:txBody>
      </p:sp>
      <p:sp>
        <p:nvSpPr>
          <p:cNvPr id="7" name="Text 5">
            <a:extLst xmlns:a="http://schemas.openxmlformats.org/drawingml/2006/main">
              <a:ext uri="{FF2B5EF4-FFF2-40B4-BE49-F238E27FC236}">
                <a16:creationId xmlns:a16="http://schemas.microsoft.com/office/drawing/2014/main" id="{1C060951-AA2A-4C58-A49F-F6823E35EA99}"/>
              </a:ext>
            </a:extLst>
          </p:cNvPr>
          <p:cNvSpPr>
            <a:spLocks xmlns:a="http://schemas.openxmlformats.org/drawingml/2006/main" noGrp="1"/>
          </p:cNvSpPr>
          <p:nvPr/>
        </p:nvSpPr>
        <p:spPr>
          <a:xfrm xmlns:a="http://schemas.openxmlformats.org/drawingml/2006/main">
            <a:off x="822960" y="3063240"/>
            <a:ext cx="3063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A9BDCD"/>
                </a:solidFill>
                <a:latin typeface="Arial"/>
                <a:ea typeface="Arial"/>
                <a:cs typeface="Arial"/>
              </a:defRPr>
            </a:defPPr>
            <a:lvl1pPr algn="l">
              <a:buNone/>
              <a:defRPr sz="1400" b="0" i="0">
                <a:solidFill>
                  <a:srgbClr val="A9BDCD"/>
                </a:solidFill>
                <a:latin typeface="Arial"/>
                <a:ea typeface="Arial"/>
                <a:cs typeface="Arial"/>
              </a:defRPr>
            </a:lvl1pPr>
            <a:lvl2pPr algn="l">
              <a:buNone/>
              <a:defRPr sz="1400" b="0" i="0">
                <a:solidFill>
                  <a:srgbClr val="A9BDCD"/>
                </a:solidFill>
                <a:latin typeface="Arial"/>
                <a:ea typeface="Arial"/>
                <a:cs typeface="Arial"/>
              </a:defRPr>
            </a:lvl2pPr>
            <a:lvl3pPr algn="l">
              <a:buNone/>
              <a:defRPr sz="1400" b="0" i="0">
                <a:solidFill>
                  <a:srgbClr val="A9BDCD"/>
                </a:solidFill>
                <a:latin typeface="Arial"/>
                <a:ea typeface="Arial"/>
                <a:cs typeface="Arial"/>
              </a:defRPr>
            </a:lvl3pPr>
            <a:lvl4pPr algn="l">
              <a:buNone/>
              <a:defRPr sz="1400" b="0" i="0">
                <a:solidFill>
                  <a:srgbClr val="A9BDCD"/>
                </a:solidFill>
                <a:latin typeface="Arial"/>
                <a:ea typeface="Arial"/>
                <a:cs typeface="Arial"/>
              </a:defRPr>
            </a:lvl4pPr>
            <a:lvl5pPr algn="l">
              <a:buNone/>
              <a:defRPr sz="1400" b="0" i="0">
                <a:solidFill>
                  <a:srgbClr val="A9BDCD"/>
                </a:solidFill>
                <a:latin typeface="Arial"/>
                <a:ea typeface="Arial"/>
                <a:cs typeface="Arial"/>
              </a:defRPr>
            </a:lvl5pPr>
            <a:lvl6pPr algn="l">
              <a:buNone/>
              <a:defRPr sz="1400" b="0" i="0">
                <a:solidFill>
                  <a:srgbClr val="A9BDCD"/>
                </a:solidFill>
                <a:latin typeface="Arial"/>
                <a:ea typeface="Arial"/>
                <a:cs typeface="Arial"/>
              </a:defRPr>
            </a:lvl6pPr>
            <a:lvl7pPr algn="l">
              <a:buNone/>
              <a:defRPr sz="1400" b="0" i="0">
                <a:solidFill>
                  <a:srgbClr val="A9BDCD"/>
                </a:solidFill>
                <a:latin typeface="Arial"/>
                <a:ea typeface="Arial"/>
                <a:cs typeface="Arial"/>
              </a:defRPr>
            </a:lvl7pPr>
            <a:lvl8pPr algn="l">
              <a:buNone/>
              <a:defRPr sz="1400" b="0" i="0">
                <a:solidFill>
                  <a:srgbClr val="A9BDCD"/>
                </a:solidFill>
                <a:latin typeface="Arial"/>
                <a:ea typeface="Arial"/>
                <a:cs typeface="Arial"/>
              </a:defRPr>
            </a:lvl8pPr>
            <a:lvl9pPr algn="l">
              <a:buNone/>
              <a:defRPr sz="1400" b="0" i="0">
                <a:solidFill>
                  <a:srgbClr val="A9BDCD"/>
                </a:solidFill>
                <a:latin typeface="Arial"/>
                <a:ea typeface="Arial"/>
                <a:cs typeface="Arial"/>
              </a:defRPr>
            </a:lvl9pPr>
          </a:lstStyle>
          <a:p xmlns:a="http://schemas.openxmlformats.org/drawingml/2006/main">
            <a:pPr marL="0" indent="0" algn="l">
              <a:buNone/>
              <a:defRPr sz="1400" b="0" i="0">
                <a:solidFill>
                  <a:srgbClr val="A9BDCD"/>
                </a:solidFill>
                <a:latin typeface="Arial"/>
                <a:ea typeface="Arial"/>
                <a:cs typeface="Arial"/>
              </a:defRPr>
            </a:pPr>
            <a:r>
              <a:rPr sz="1400" b="0" i="0">
                <a:solidFill>
                  <a:srgbClr val="A9BDCD"/>
                </a:solidFill>
                <a:latin typeface="Arial"/>
                <a:ea typeface="Arial"/>
                <a:cs typeface="Arial"/>
              </a:rPr>
              <a:t>One format: extraction, confirmed counts, rules, evidence sharing and case tracking. Check an explicit credit on a second synthetic bill.</a:t>
            </a:r>
            <a:endParaRPr sz="1400"/>
          </a:p>
        </p:txBody>
      </p:sp>
      <p:sp>
        <p:nvSpPr>
          <p:cNvPr id="8" name="Next step 2">
            <a:extLst xmlns:a="http://schemas.openxmlformats.org/drawingml/2006/main">
              <a:ext uri="{FF2B5EF4-FFF2-40B4-BE49-F238E27FC236}">
                <a16:creationId xmlns:a16="http://schemas.microsoft.com/office/drawing/2014/main" id="{F32AC445-F056-4E4F-A570-0891956DA0A6}"/>
              </a:ext>
            </a:extLst>
          </p:cNvPr>
          <p:cNvSpPr>
            <a:spLocks xmlns:a="http://schemas.openxmlformats.org/drawingml/2006/main" noGrp="1"/>
          </p:cNvSpPr>
          <p:nvPr/>
        </p:nvSpPr>
        <p:spPr>
          <a:xfrm xmlns:a="http://schemas.openxmlformats.org/drawingml/2006/main">
            <a:off x="4311396" y="1691640"/>
            <a:ext cx="3566160" cy="2606040"/>
          </a:xfrm>
          <a:prstGeom xmlns:a="http://schemas.openxmlformats.org/drawingml/2006/main" prst="roundRect">
            <a:avLst>
              <a:gd name="adj" fmla="val 4211"/>
            </a:avLst>
          </a:prstGeom>
          <a:solidFill xmlns:a="http://schemas.openxmlformats.org/drawingml/2006/main">
            <a:schemeClr val="bg1">
              <a:alpha val="9000"/>
            </a:schemeClr>
          </a:solidFill>
        </p:spPr>
      </p:sp>
      <p:sp>
        <p:nvSpPr>
          <p:cNvPr id="9" name="Text 7">
            <a:extLst xmlns:a="http://schemas.openxmlformats.org/drawingml/2006/main">
              <a:ext uri="{FF2B5EF4-FFF2-40B4-BE49-F238E27FC236}">
                <a16:creationId xmlns:a16="http://schemas.microsoft.com/office/drawing/2014/main" id="{9DDC4CEA-0371-47A6-9161-85F8B727CD8A}"/>
              </a:ext>
            </a:extLst>
          </p:cNvPr>
          <p:cNvSpPr>
            <a:spLocks xmlns:a="http://schemas.openxmlformats.org/drawingml/2006/main" noGrp="1"/>
          </p:cNvSpPr>
          <p:nvPr/>
        </p:nvSpPr>
        <p:spPr>
          <a:xfrm xmlns:a="http://schemas.openxmlformats.org/drawingml/2006/main">
            <a:off x="4585716" y="1874520"/>
            <a:ext cx="914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accent3"/>
                </a:solidFill>
              </a:rPr>
              <a:t>2</a:t>
            </a:r>
            <a:endParaRPr sz="4400"/>
          </a:p>
        </p:txBody>
      </p:sp>
      <p:sp>
        <p:nvSpPr>
          <p:cNvPr id="10" name="Text 8">
            <a:extLst xmlns:a="http://schemas.openxmlformats.org/drawingml/2006/main">
              <a:ext uri="{FF2B5EF4-FFF2-40B4-BE49-F238E27FC236}">
                <a16:creationId xmlns:a16="http://schemas.microsoft.com/office/drawing/2014/main" id="{65BDB387-F8D1-487A-900A-03BFF88BEBCA}"/>
              </a:ext>
            </a:extLst>
          </p:cNvPr>
          <p:cNvSpPr>
            <a:spLocks xmlns:a="http://schemas.openxmlformats.org/drawingml/2006/main" noGrp="1"/>
          </p:cNvSpPr>
          <p:nvPr/>
        </p:nvSpPr>
        <p:spPr>
          <a:xfrm xmlns:a="http://schemas.openxmlformats.org/drawingml/2006/main">
            <a:off x="4585716" y="265176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chemeClr val="bg1"/>
                </a:solidFill>
              </a:rPr>
              <a:t>Run a small pilot</a:t>
            </a:r>
            <a:endParaRPr sz="2000"/>
          </a:p>
        </p:txBody>
      </p:sp>
      <p:sp>
        <p:nvSpPr>
          <p:cNvPr id="11" name="Text 9">
            <a:extLst xmlns:a="http://schemas.openxmlformats.org/drawingml/2006/main">
              <a:ext uri="{FF2B5EF4-FFF2-40B4-BE49-F238E27FC236}">
                <a16:creationId xmlns:a16="http://schemas.microsoft.com/office/drawing/2014/main" id="{9AE101F1-CFF3-41B2-A00B-85E8E5CA517B}"/>
              </a:ext>
            </a:extLst>
          </p:cNvPr>
          <p:cNvSpPr>
            <a:spLocks xmlns:a="http://schemas.openxmlformats.org/drawingml/2006/main" noGrp="1"/>
          </p:cNvSpPr>
          <p:nvPr/>
        </p:nvSpPr>
        <p:spPr>
          <a:xfrm xmlns:a="http://schemas.openxmlformats.org/drawingml/2006/main">
            <a:off x="4585716" y="3063240"/>
            <a:ext cx="3063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A9BDCD"/>
                </a:solidFill>
                <a:latin typeface="Arial"/>
                <a:ea typeface="Arial"/>
                <a:cs typeface="Arial"/>
              </a:defRPr>
            </a:defPPr>
            <a:lvl1pPr algn="l">
              <a:buNone/>
              <a:defRPr sz="1400" b="0" i="0">
                <a:solidFill>
                  <a:srgbClr val="A9BDCD"/>
                </a:solidFill>
                <a:latin typeface="Arial"/>
                <a:ea typeface="Arial"/>
                <a:cs typeface="Arial"/>
              </a:defRPr>
            </a:lvl1pPr>
            <a:lvl2pPr algn="l">
              <a:buNone/>
              <a:defRPr sz="1400" b="0" i="0">
                <a:solidFill>
                  <a:srgbClr val="A9BDCD"/>
                </a:solidFill>
                <a:latin typeface="Arial"/>
                <a:ea typeface="Arial"/>
                <a:cs typeface="Arial"/>
              </a:defRPr>
            </a:lvl2pPr>
            <a:lvl3pPr algn="l">
              <a:buNone/>
              <a:defRPr sz="1400" b="0" i="0">
                <a:solidFill>
                  <a:srgbClr val="A9BDCD"/>
                </a:solidFill>
                <a:latin typeface="Arial"/>
                <a:ea typeface="Arial"/>
                <a:cs typeface="Arial"/>
              </a:defRPr>
            </a:lvl3pPr>
            <a:lvl4pPr algn="l">
              <a:buNone/>
              <a:defRPr sz="1400" b="0" i="0">
                <a:solidFill>
                  <a:srgbClr val="A9BDCD"/>
                </a:solidFill>
                <a:latin typeface="Arial"/>
                <a:ea typeface="Arial"/>
                <a:cs typeface="Arial"/>
              </a:defRPr>
            </a:lvl4pPr>
            <a:lvl5pPr algn="l">
              <a:buNone/>
              <a:defRPr sz="1400" b="0" i="0">
                <a:solidFill>
                  <a:srgbClr val="A9BDCD"/>
                </a:solidFill>
                <a:latin typeface="Arial"/>
                <a:ea typeface="Arial"/>
                <a:cs typeface="Arial"/>
              </a:defRPr>
            </a:lvl5pPr>
            <a:lvl6pPr algn="l">
              <a:buNone/>
              <a:defRPr sz="1400" b="0" i="0">
                <a:solidFill>
                  <a:srgbClr val="A9BDCD"/>
                </a:solidFill>
                <a:latin typeface="Arial"/>
                <a:ea typeface="Arial"/>
                <a:cs typeface="Arial"/>
              </a:defRPr>
            </a:lvl6pPr>
            <a:lvl7pPr algn="l">
              <a:buNone/>
              <a:defRPr sz="1400" b="0" i="0">
                <a:solidFill>
                  <a:srgbClr val="A9BDCD"/>
                </a:solidFill>
                <a:latin typeface="Arial"/>
                <a:ea typeface="Arial"/>
                <a:cs typeface="Arial"/>
              </a:defRPr>
            </a:lvl7pPr>
            <a:lvl8pPr algn="l">
              <a:buNone/>
              <a:defRPr sz="1400" b="0" i="0">
                <a:solidFill>
                  <a:srgbClr val="A9BDCD"/>
                </a:solidFill>
                <a:latin typeface="Arial"/>
                <a:ea typeface="Arial"/>
                <a:cs typeface="Arial"/>
              </a:defRPr>
            </a:lvl8pPr>
            <a:lvl9pPr algn="l">
              <a:buNone/>
              <a:defRPr sz="1400" b="0" i="0">
                <a:solidFill>
                  <a:srgbClr val="A9BDCD"/>
                </a:solidFill>
                <a:latin typeface="Arial"/>
                <a:ea typeface="Arial"/>
                <a:cs typeface="Arial"/>
              </a:defRPr>
            </a:lvl9pPr>
          </a:lstStyle>
          <a:p xmlns:a="http://schemas.openxmlformats.org/drawingml/2006/main">
            <a:pPr marL="0" indent="0" algn="l">
              <a:buNone/>
              <a:defRPr sz="1400" b="0" i="0">
                <a:solidFill>
                  <a:srgbClr val="A9BDCD"/>
                </a:solidFill>
                <a:latin typeface="Arial"/>
                <a:ea typeface="Arial"/>
                <a:cs typeface="Arial"/>
              </a:defRPr>
            </a:pPr>
            <a:r>
              <a:rPr sz="1400" b="0" i="0">
                <a:solidFill>
                  <a:srgbClr val="A9BDCD"/>
                </a:solidFill>
                <a:latin typeface="Arial"/>
                <a:ea typeface="Arial"/>
                <a:cs typeface="Arial"/>
              </a:rPr>
              <a:t>3–5 stores: 1 baseline week, then 4 pilot weeks. Measure preparation time, closure rate and repeat use.</a:t>
            </a:r>
            <a:endParaRPr sz="1400"/>
          </a:p>
        </p:txBody>
      </p:sp>
      <p:sp>
        <p:nvSpPr>
          <p:cNvPr id="12" name="Next step 3">
            <a:extLst xmlns:a="http://schemas.openxmlformats.org/drawingml/2006/main">
              <a:ext uri="{FF2B5EF4-FFF2-40B4-BE49-F238E27FC236}">
                <a16:creationId xmlns:a16="http://schemas.microsoft.com/office/drawing/2014/main" id="{3DA54D98-A664-4A5B-8DDF-F8E75A58B627}"/>
              </a:ext>
            </a:extLst>
          </p:cNvPr>
          <p:cNvSpPr>
            <a:spLocks xmlns:a="http://schemas.openxmlformats.org/drawingml/2006/main" noGrp="1"/>
          </p:cNvSpPr>
          <p:nvPr/>
        </p:nvSpPr>
        <p:spPr>
          <a:xfrm xmlns:a="http://schemas.openxmlformats.org/drawingml/2006/main">
            <a:off x="8074152" y="1691640"/>
            <a:ext cx="3566160" cy="2606040"/>
          </a:xfrm>
          <a:prstGeom xmlns:a="http://schemas.openxmlformats.org/drawingml/2006/main" prst="roundRect">
            <a:avLst>
              <a:gd name="adj" fmla="val 4211"/>
            </a:avLst>
          </a:prstGeom>
          <a:solidFill xmlns:a="http://schemas.openxmlformats.org/drawingml/2006/main">
            <a:schemeClr val="bg1">
              <a:alpha val="9000"/>
            </a:schemeClr>
          </a:solidFill>
        </p:spPr>
      </p:sp>
      <p:sp>
        <p:nvSpPr>
          <p:cNvPr id="13" name="Text 11">
            <a:extLst xmlns:a="http://schemas.openxmlformats.org/drawingml/2006/main">
              <a:ext uri="{FF2B5EF4-FFF2-40B4-BE49-F238E27FC236}">
                <a16:creationId xmlns:a16="http://schemas.microsoft.com/office/drawing/2014/main" id="{60BE7B81-A580-4CB8-BE14-933BAC94988E}"/>
              </a:ext>
            </a:extLst>
          </p:cNvPr>
          <p:cNvSpPr>
            <a:spLocks xmlns:a="http://schemas.openxmlformats.org/drawingml/2006/main" noGrp="1"/>
          </p:cNvSpPr>
          <p:nvPr/>
        </p:nvSpPr>
        <p:spPr>
          <a:xfrm xmlns:a="http://schemas.openxmlformats.org/drawingml/2006/main">
            <a:off x="8348472" y="1874520"/>
            <a:ext cx="914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chemeClr val="accent3"/>
                </a:solidFill>
              </a:rPr>
              <a:t>3</a:t>
            </a:r>
            <a:endParaRPr sz="4400"/>
          </a:p>
        </p:txBody>
      </p:sp>
      <p:sp>
        <p:nvSpPr>
          <p:cNvPr id="14" name="Text 12">
            <a:extLst xmlns:a="http://schemas.openxmlformats.org/drawingml/2006/main">
              <a:ext uri="{FF2B5EF4-FFF2-40B4-BE49-F238E27FC236}">
                <a16:creationId xmlns:a16="http://schemas.microsoft.com/office/drawing/2014/main" id="{A25770D7-43A6-4919-9CEB-7DE5E2AC46FD}"/>
              </a:ext>
            </a:extLst>
          </p:cNvPr>
          <p:cNvSpPr>
            <a:spLocks xmlns:a="http://schemas.openxmlformats.org/drawingml/2006/main" noGrp="1"/>
          </p:cNvSpPr>
          <p:nvPr/>
        </p:nvSpPr>
        <p:spPr>
          <a:xfrm xmlns:a="http://schemas.openxmlformats.org/drawingml/2006/main">
            <a:off x="8348472" y="265176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000" b="1" i="0">
                <a:solidFill>
                  <a:srgbClr val="FFFFFF"/>
                </a:solidFill>
                <a:latin typeface="Arial"/>
                <a:ea typeface="Arial"/>
                <a:cs typeface="Arial"/>
              </a:defRPr>
            </a:defPPr>
            <a:lvl1pPr algn="l">
              <a:buNone/>
              <a:defRPr sz="2000" b="1" i="0">
                <a:solidFill>
                  <a:srgbClr val="FFFFFF"/>
                </a:solidFill>
                <a:latin typeface="Arial"/>
                <a:ea typeface="Arial"/>
                <a:cs typeface="Arial"/>
              </a:defRPr>
            </a:lvl1pPr>
            <a:lvl2pPr algn="l">
              <a:buNone/>
              <a:defRPr sz="2000" b="1" i="0">
                <a:solidFill>
                  <a:srgbClr val="FFFFFF"/>
                </a:solidFill>
                <a:latin typeface="Arial"/>
                <a:ea typeface="Arial"/>
                <a:cs typeface="Arial"/>
              </a:defRPr>
            </a:lvl2pPr>
            <a:lvl3pPr algn="l">
              <a:buNone/>
              <a:defRPr sz="2000" b="1" i="0">
                <a:solidFill>
                  <a:srgbClr val="FFFFFF"/>
                </a:solidFill>
                <a:latin typeface="Arial"/>
                <a:ea typeface="Arial"/>
                <a:cs typeface="Arial"/>
              </a:defRPr>
            </a:lvl3pPr>
            <a:lvl4pPr algn="l">
              <a:buNone/>
              <a:defRPr sz="2000" b="1" i="0">
                <a:solidFill>
                  <a:srgbClr val="FFFFFF"/>
                </a:solidFill>
                <a:latin typeface="Arial"/>
                <a:ea typeface="Arial"/>
                <a:cs typeface="Arial"/>
              </a:defRPr>
            </a:lvl4pPr>
            <a:lvl5pPr algn="l">
              <a:buNone/>
              <a:defRPr sz="2000" b="1" i="0">
                <a:solidFill>
                  <a:srgbClr val="FFFFFF"/>
                </a:solidFill>
                <a:latin typeface="Arial"/>
                <a:ea typeface="Arial"/>
                <a:cs typeface="Arial"/>
              </a:defRPr>
            </a:lvl5pPr>
            <a:lvl6pPr algn="l">
              <a:buNone/>
              <a:defRPr sz="2000" b="1" i="0">
                <a:solidFill>
                  <a:srgbClr val="FFFFFF"/>
                </a:solidFill>
                <a:latin typeface="Arial"/>
                <a:ea typeface="Arial"/>
                <a:cs typeface="Arial"/>
              </a:defRPr>
            </a:lvl6pPr>
            <a:lvl7pPr algn="l">
              <a:buNone/>
              <a:defRPr sz="2000" b="1" i="0">
                <a:solidFill>
                  <a:srgbClr val="FFFFFF"/>
                </a:solidFill>
                <a:latin typeface="Arial"/>
                <a:ea typeface="Arial"/>
                <a:cs typeface="Arial"/>
              </a:defRPr>
            </a:lvl7pPr>
            <a:lvl8pPr algn="l">
              <a:buNone/>
              <a:defRPr sz="2000" b="1" i="0">
                <a:solidFill>
                  <a:srgbClr val="FFFFFF"/>
                </a:solidFill>
                <a:latin typeface="Arial"/>
                <a:ea typeface="Arial"/>
                <a:cs typeface="Arial"/>
              </a:defRPr>
            </a:lvl8pPr>
            <a:lvl9pPr algn="l">
              <a:buNone/>
              <a:defRPr sz="2000" b="1" i="0">
                <a:solidFill>
                  <a:srgbClr val="FFFFFF"/>
                </a:solidFill>
                <a:latin typeface="Arial"/>
                <a:ea typeface="Arial"/>
                <a:cs typeface="Arial"/>
              </a:defRPr>
            </a:lvl9pPr>
          </a:lstStyle>
          <a:p xmlns:a="http://schemas.openxmlformats.org/drawingml/2006/main">
            <a:pPr marL="0" indent="0" algn="l">
              <a:buNone/>
              <a:defRPr sz="2000" b="1" i="0">
                <a:solidFill>
                  <a:srgbClr val="FFFFFF"/>
                </a:solidFill>
                <a:latin typeface="Arial"/>
                <a:ea typeface="Arial"/>
                <a:cs typeface="Arial"/>
              </a:defRPr>
            </a:pPr>
            <a:r>
              <a:rPr sz="2000" b="1" i="0">
                <a:solidFill>
                  <a:srgbClr val="FFFFFF"/>
                </a:solidFill>
                <a:latin typeface="Arial"/>
                <a:ea typeface="Arial"/>
                <a:cs typeface="Arial"/>
              </a:rPr>
              <a:t>Validate the business</a:t>
            </a:r>
            <a:endParaRPr sz="2000"/>
          </a:p>
        </p:txBody>
      </p:sp>
      <p:sp>
        <p:nvSpPr>
          <p:cNvPr id="15" name="Text 13">
            <a:extLst xmlns:a="http://schemas.openxmlformats.org/drawingml/2006/main">
              <a:ext uri="{FF2B5EF4-FFF2-40B4-BE49-F238E27FC236}">
                <a16:creationId xmlns:a16="http://schemas.microsoft.com/office/drawing/2014/main" id="{BC5554E3-A184-469B-95B4-7BCC2D57BE72}"/>
              </a:ext>
            </a:extLst>
          </p:cNvPr>
          <p:cNvSpPr>
            <a:spLocks xmlns:a="http://schemas.openxmlformats.org/drawingml/2006/main" noGrp="1"/>
          </p:cNvSpPr>
          <p:nvPr/>
        </p:nvSpPr>
        <p:spPr>
          <a:xfrm xmlns:a="http://schemas.openxmlformats.org/drawingml/2006/main">
            <a:off x="8348472" y="3063240"/>
            <a:ext cx="30632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400" b="0" i="0">
                <a:solidFill>
                  <a:srgbClr val="A9BDCD"/>
                </a:solidFill>
                <a:latin typeface="Arial"/>
                <a:ea typeface="Arial"/>
                <a:cs typeface="Arial"/>
              </a:defRPr>
            </a:defPPr>
            <a:lvl1pPr algn="l">
              <a:buNone/>
              <a:defRPr sz="1400" b="0" i="0">
                <a:solidFill>
                  <a:srgbClr val="A9BDCD"/>
                </a:solidFill>
                <a:latin typeface="Arial"/>
                <a:ea typeface="Arial"/>
                <a:cs typeface="Arial"/>
              </a:defRPr>
            </a:lvl1pPr>
            <a:lvl2pPr algn="l">
              <a:buNone/>
              <a:defRPr sz="1400" b="0" i="0">
                <a:solidFill>
                  <a:srgbClr val="A9BDCD"/>
                </a:solidFill>
                <a:latin typeface="Arial"/>
                <a:ea typeface="Arial"/>
                <a:cs typeface="Arial"/>
              </a:defRPr>
            </a:lvl2pPr>
            <a:lvl3pPr algn="l">
              <a:buNone/>
              <a:defRPr sz="1400" b="0" i="0">
                <a:solidFill>
                  <a:srgbClr val="A9BDCD"/>
                </a:solidFill>
                <a:latin typeface="Arial"/>
                <a:ea typeface="Arial"/>
                <a:cs typeface="Arial"/>
              </a:defRPr>
            </a:lvl3pPr>
            <a:lvl4pPr algn="l">
              <a:buNone/>
              <a:defRPr sz="1400" b="0" i="0">
                <a:solidFill>
                  <a:srgbClr val="A9BDCD"/>
                </a:solidFill>
                <a:latin typeface="Arial"/>
                <a:ea typeface="Arial"/>
                <a:cs typeface="Arial"/>
              </a:defRPr>
            </a:lvl4pPr>
            <a:lvl5pPr algn="l">
              <a:buNone/>
              <a:defRPr sz="1400" b="0" i="0">
                <a:solidFill>
                  <a:srgbClr val="A9BDCD"/>
                </a:solidFill>
                <a:latin typeface="Arial"/>
                <a:ea typeface="Arial"/>
                <a:cs typeface="Arial"/>
              </a:defRPr>
            </a:lvl5pPr>
            <a:lvl6pPr algn="l">
              <a:buNone/>
              <a:defRPr sz="1400" b="0" i="0">
                <a:solidFill>
                  <a:srgbClr val="A9BDCD"/>
                </a:solidFill>
                <a:latin typeface="Arial"/>
                <a:ea typeface="Arial"/>
                <a:cs typeface="Arial"/>
              </a:defRPr>
            </a:lvl6pPr>
            <a:lvl7pPr algn="l">
              <a:buNone/>
              <a:defRPr sz="1400" b="0" i="0">
                <a:solidFill>
                  <a:srgbClr val="A9BDCD"/>
                </a:solidFill>
                <a:latin typeface="Arial"/>
                <a:ea typeface="Arial"/>
                <a:cs typeface="Arial"/>
              </a:defRPr>
            </a:lvl7pPr>
            <a:lvl8pPr algn="l">
              <a:buNone/>
              <a:defRPr sz="1400" b="0" i="0">
                <a:solidFill>
                  <a:srgbClr val="A9BDCD"/>
                </a:solidFill>
                <a:latin typeface="Arial"/>
                <a:ea typeface="Arial"/>
                <a:cs typeface="Arial"/>
              </a:defRPr>
            </a:lvl8pPr>
            <a:lvl9pPr algn="l">
              <a:buNone/>
              <a:defRPr sz="1400" b="0" i="0">
                <a:solidFill>
                  <a:srgbClr val="A9BDCD"/>
                </a:solidFill>
                <a:latin typeface="Arial"/>
                <a:ea typeface="Arial"/>
                <a:cs typeface="Arial"/>
              </a:defRPr>
            </a:lvl9pPr>
          </a:lstStyle>
          <a:p xmlns:a="http://schemas.openxmlformats.org/drawingml/2006/main">
            <a:pPr marL="0" indent="0" algn="l">
              <a:buNone/>
              <a:defRPr sz="1400" b="0" i="0">
                <a:solidFill>
                  <a:srgbClr val="A9BDCD"/>
                </a:solidFill>
                <a:latin typeface="Arial"/>
                <a:ea typeface="Arial"/>
                <a:cs typeface="Arial"/>
              </a:defRPr>
            </a:pPr>
            <a:r>
              <a:rPr sz="1400" b="0" i="0">
                <a:solidFill>
                  <a:srgbClr val="A9BDCD"/>
                </a:solidFill>
                <a:latin typeface="Arial"/>
                <a:ea typeface="Arial"/>
                <a:cs typeface="Arial"/>
              </a:rPr>
              <a:t>Use real case frequency, willingness to pay and processing cost to set pricing. Explore Paytm distribution after validation.</a:t>
            </a:r>
            <a:endParaRPr sz="1400"/>
          </a:p>
        </p:txBody>
      </p:sp>
      <p:sp>
        <p:nvSpPr>
          <p:cNvPr id="16" name="Text 14">
            <a:extLst xmlns:a="http://schemas.openxmlformats.org/drawingml/2006/main">
              <a:ext uri="{FF2B5EF4-FFF2-40B4-BE49-F238E27FC236}">
                <a16:creationId xmlns:a16="http://schemas.microsoft.com/office/drawing/2014/main" id="{4F768552-6091-48A8-A5E5-71945DD8B9E9}"/>
              </a:ext>
            </a:extLst>
          </p:cNvPr>
          <p:cNvSpPr>
            <a:spLocks xmlns:a="http://schemas.openxmlformats.org/drawingml/2006/main" noGrp="1"/>
          </p:cNvSpPr>
          <p:nvPr/>
        </p:nvSpPr>
        <p:spPr>
          <a:xfrm xmlns:a="http://schemas.openxmlformats.org/drawingml/2006/main">
            <a:off x="548640" y="461772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FFFFFF"/>
                </a:solidFill>
                <a:latin typeface="Arial"/>
                <a:ea typeface="Arial"/>
                <a:cs typeface="Arial"/>
              </a:defRPr>
            </a:defPPr>
            <a:lvl1pPr algn="l">
              <a:buNone/>
              <a:defRPr sz="3600" b="1" i="0">
                <a:solidFill>
                  <a:srgbClr val="FFFFFF"/>
                </a:solidFill>
                <a:latin typeface="Arial"/>
                <a:ea typeface="Arial"/>
                <a:cs typeface="Arial"/>
              </a:defRPr>
            </a:lvl1pPr>
            <a:lvl2pPr algn="l">
              <a:buNone/>
              <a:defRPr sz="3600" b="1" i="0">
                <a:solidFill>
                  <a:srgbClr val="FFFFFF"/>
                </a:solidFill>
                <a:latin typeface="Arial"/>
                <a:ea typeface="Arial"/>
                <a:cs typeface="Arial"/>
              </a:defRPr>
            </a:lvl2pPr>
            <a:lvl3pPr algn="l">
              <a:buNone/>
              <a:defRPr sz="3600" b="1" i="0">
                <a:solidFill>
                  <a:srgbClr val="FFFFFF"/>
                </a:solidFill>
                <a:latin typeface="Arial"/>
                <a:ea typeface="Arial"/>
                <a:cs typeface="Arial"/>
              </a:defRPr>
            </a:lvl3pPr>
            <a:lvl4pPr algn="l">
              <a:buNone/>
              <a:defRPr sz="3600" b="1" i="0">
                <a:solidFill>
                  <a:srgbClr val="FFFFFF"/>
                </a:solidFill>
                <a:latin typeface="Arial"/>
                <a:ea typeface="Arial"/>
                <a:cs typeface="Arial"/>
              </a:defRPr>
            </a:lvl4pPr>
            <a:lvl5pPr algn="l">
              <a:buNone/>
              <a:defRPr sz="3600" b="1" i="0">
                <a:solidFill>
                  <a:srgbClr val="FFFFFF"/>
                </a:solidFill>
                <a:latin typeface="Arial"/>
                <a:ea typeface="Arial"/>
                <a:cs typeface="Arial"/>
              </a:defRPr>
            </a:lvl5pPr>
            <a:lvl6pPr algn="l">
              <a:buNone/>
              <a:defRPr sz="3600" b="1" i="0">
                <a:solidFill>
                  <a:srgbClr val="FFFFFF"/>
                </a:solidFill>
                <a:latin typeface="Arial"/>
                <a:ea typeface="Arial"/>
                <a:cs typeface="Arial"/>
              </a:defRPr>
            </a:lvl6pPr>
            <a:lvl7pPr algn="l">
              <a:buNone/>
              <a:defRPr sz="3600" b="1" i="0">
                <a:solidFill>
                  <a:srgbClr val="FFFFFF"/>
                </a:solidFill>
                <a:latin typeface="Arial"/>
                <a:ea typeface="Arial"/>
                <a:cs typeface="Arial"/>
              </a:defRPr>
            </a:lvl7pPr>
            <a:lvl8pPr algn="l">
              <a:buNone/>
              <a:defRPr sz="3600" b="1" i="0">
                <a:solidFill>
                  <a:srgbClr val="FFFFFF"/>
                </a:solidFill>
                <a:latin typeface="Arial"/>
                <a:ea typeface="Arial"/>
                <a:cs typeface="Arial"/>
              </a:defRPr>
            </a:lvl8pPr>
            <a:lvl9pPr algn="l">
              <a:buNone/>
              <a:defRPr sz="3600" b="1" i="0">
                <a:solidFill>
                  <a:srgbClr val="FFFFFF"/>
                </a:solidFill>
                <a:latin typeface="Arial"/>
                <a:ea typeface="Arial"/>
                <a:cs typeface="Arial"/>
              </a:defRPr>
            </a:lvl9pPr>
          </a:lstStyle>
          <a:p xmlns:a="http://schemas.openxmlformats.org/drawingml/2006/main">
            <a:pPr marL="0" indent="0" algn="l">
              <a:buNone/>
              <a:defRPr sz="3600" b="1" i="0">
                <a:solidFill>
                  <a:srgbClr val="FFFFFF"/>
                </a:solidFill>
                <a:latin typeface="Arial"/>
                <a:ea typeface="Arial"/>
                <a:cs typeface="Arial"/>
              </a:defRPr>
            </a:pPr>
            <a:r>
              <a:rPr sz="3600" b="1" i="0">
                <a:solidFill>
                  <a:srgbClr val="FFFFFF"/>
                </a:solidFill>
                <a:latin typeface="Arial"/>
                <a:ea typeface="Arial"/>
                <a:cs typeface="Arial"/>
              </a:rPr>
              <a:t>A business partner beyond the payment</a:t>
            </a:r>
            <a:endParaRPr sz="3600"/>
          </a:p>
        </p:txBody>
      </p:sp>
      <p:sp>
        <p:nvSpPr>
          <p:cNvPr id="17" name="Text 15">
            <a:extLst xmlns:a="http://schemas.openxmlformats.org/drawingml/2006/main">
              <a:ext uri="{FF2B5EF4-FFF2-40B4-BE49-F238E27FC236}">
                <a16:creationId xmlns:a16="http://schemas.microsoft.com/office/drawing/2014/main" id="{5EA113D3-F972-46A3-BFB6-F22556079252}"/>
              </a:ext>
            </a:extLst>
          </p:cNvPr>
          <p:cNvSpPr>
            <a:spLocks xmlns:a="http://schemas.openxmlformats.org/drawingml/2006/main" noGrp="1"/>
          </p:cNvSpPr>
          <p:nvPr/>
        </p:nvSpPr>
        <p:spPr>
          <a:xfrm xmlns:a="http://schemas.openxmlformats.org/drawingml/2006/main">
            <a:off x="548640" y="5440680"/>
            <a:ext cx="110916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i="0">
                <a:solidFill>
                  <a:srgbClr val="EFBA53"/>
                </a:solidFill>
                <a:latin typeface="Arial"/>
                <a:ea typeface="Arial"/>
                <a:cs typeface="Arial"/>
              </a:defRPr>
            </a:defPPr>
            <a:lvl1pPr algn="l">
              <a:buNone/>
              <a:defRPr sz="1600" b="0" i="0">
                <a:solidFill>
                  <a:srgbClr val="EFBA53"/>
                </a:solidFill>
                <a:latin typeface="Arial"/>
                <a:ea typeface="Arial"/>
                <a:cs typeface="Arial"/>
              </a:defRPr>
            </a:lvl1pPr>
            <a:lvl2pPr algn="l">
              <a:buNone/>
              <a:defRPr sz="1600" b="0" i="0">
                <a:solidFill>
                  <a:srgbClr val="EFBA53"/>
                </a:solidFill>
                <a:latin typeface="Arial"/>
                <a:ea typeface="Arial"/>
                <a:cs typeface="Arial"/>
              </a:defRPr>
            </a:lvl2pPr>
            <a:lvl3pPr algn="l">
              <a:buNone/>
              <a:defRPr sz="1600" b="0" i="0">
                <a:solidFill>
                  <a:srgbClr val="EFBA53"/>
                </a:solidFill>
                <a:latin typeface="Arial"/>
                <a:ea typeface="Arial"/>
                <a:cs typeface="Arial"/>
              </a:defRPr>
            </a:lvl3pPr>
            <a:lvl4pPr algn="l">
              <a:buNone/>
              <a:defRPr sz="1600" b="0" i="0">
                <a:solidFill>
                  <a:srgbClr val="EFBA53"/>
                </a:solidFill>
                <a:latin typeface="Arial"/>
                <a:ea typeface="Arial"/>
                <a:cs typeface="Arial"/>
              </a:defRPr>
            </a:lvl4pPr>
            <a:lvl5pPr algn="l">
              <a:buNone/>
              <a:defRPr sz="1600" b="0" i="0">
                <a:solidFill>
                  <a:srgbClr val="EFBA53"/>
                </a:solidFill>
                <a:latin typeface="Arial"/>
                <a:ea typeface="Arial"/>
                <a:cs typeface="Arial"/>
              </a:defRPr>
            </a:lvl5pPr>
            <a:lvl6pPr algn="l">
              <a:buNone/>
              <a:defRPr sz="1600" b="0" i="0">
                <a:solidFill>
                  <a:srgbClr val="EFBA53"/>
                </a:solidFill>
                <a:latin typeface="Arial"/>
                <a:ea typeface="Arial"/>
                <a:cs typeface="Arial"/>
              </a:defRPr>
            </a:lvl6pPr>
            <a:lvl7pPr algn="l">
              <a:buNone/>
              <a:defRPr sz="1600" b="0" i="0">
                <a:solidFill>
                  <a:srgbClr val="EFBA53"/>
                </a:solidFill>
                <a:latin typeface="Arial"/>
                <a:ea typeface="Arial"/>
                <a:cs typeface="Arial"/>
              </a:defRPr>
            </a:lvl7pPr>
            <a:lvl8pPr algn="l">
              <a:buNone/>
              <a:defRPr sz="1600" b="0" i="0">
                <a:solidFill>
                  <a:srgbClr val="EFBA53"/>
                </a:solidFill>
                <a:latin typeface="Arial"/>
                <a:ea typeface="Arial"/>
                <a:cs typeface="Arial"/>
              </a:defRPr>
            </a:lvl8pPr>
            <a:lvl9pPr algn="l">
              <a:buNone/>
              <a:defRPr sz="1600" b="0" i="0">
                <a:solidFill>
                  <a:srgbClr val="EFBA53"/>
                </a:solidFill>
                <a:latin typeface="Arial"/>
                <a:ea typeface="Arial"/>
                <a:cs typeface="Arial"/>
              </a:defRPr>
            </a:lvl9pPr>
          </a:lstStyle>
          <a:p xmlns:a="http://schemas.openxmlformats.org/drawingml/2006/main">
            <a:pPr marL="0" indent="0" algn="l">
              <a:buNone/>
              <a:defRPr sz="1600" b="0" i="0">
                <a:solidFill>
                  <a:srgbClr val="EFBA53"/>
                </a:solidFill>
                <a:latin typeface="Arial"/>
                <a:ea typeface="Arial"/>
                <a:cs typeface="Arial"/>
              </a:defRPr>
            </a:pPr>
            <a:r>
              <a:rPr sz="1600" b="0" i="0">
                <a:solidFill>
                  <a:srgbClr val="EFBA53"/>
                </a:solidFill>
                <a:latin typeface="Arial"/>
                <a:ea typeface="Arial"/>
                <a:cs typeface="Arial"/>
              </a:rPr>
              <a:t>Our ask: introductions to 3–5 merchants and guidance on relevant Paytm integration access.</a:t>
            </a:r>
            <a:endParaRPr sz="1600"/>
          </a:p>
        </p:txBody>
      </p:sp>
      <p:sp>
        <p:nvSpPr>
          <p:cNvPr id="25" name="Slide Number Placeholder 0">
            <a:extLst xmlns:a="http://schemas.openxmlformats.org/drawingml/2006/main">
              <a:ext uri="{FF2B5EF4-FFF2-40B4-BE49-F238E27FC236}">
                <a16:creationId xmlns:a16="http://schemas.microsoft.com/office/drawing/2014/main" id="{F5C3DB8F-AEE0-403A-9DCC-0C224F18EEB6}"/>
              </a:ext>
            </a:extLst>
          </p:cNvPr>
          <p:cNvSpPr>
            <a:spLocks xmlns:a="http://schemas.openxmlformats.org/drawingml/2006/main" noGrp="1"/>
          </p:cNvSpPr>
          <p:nvPr>
            <p:ph type="sldNum" idx="4294967295"/>
          </p:nvPr>
        </p:nvSpPr>
        <p:spPr>
          <a:xfrm xmlns:a="http://schemas.openxmlformats.org/drawingml/2006/main">
            <a:off x="10972800" y="6455664"/>
            <a:ext cx="667512" cy="237744"/>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A9BDCD"/>
                </a:solidFill>
              </a:defRPr>
            </a:lvl1pPr>
          </a:lstStyle>
          <a:p xmlns:a="http://schemas.openxmlformats.org/drawingml/2006/main">
            <a:pPr algn="r">
              <a:buNone/>
            </a:pPr>
            <a:fld id="{F7021451-1387-4CA6-816F-3879F97B5CBC}" type="slidenum">
              <a:rPr b="0"/>
              <a:t>9</a:t>
            </a:fld>
            <a:endParaRPr/>
          </a:p>
        </p:txBody>
      </p:sp>
      <p:sp>
        <p:nvSpPr>
          <p:cNvPr id="26" name="paytm-fit">
            <a:extLst xmlns:a="http://schemas.openxmlformats.org/drawingml/2006/main">
              <a:ext uri="{FF2B5EF4-FFF2-40B4-BE49-F238E27FC236}">
                <a16:creationId xmlns:a16="http://schemas.microsoft.com/office/drawing/2014/main" id="{D4B81EEA-5279-405F-8A5C-4714144217A5}"/>
              </a:ext>
            </a:extLst>
          </p:cNvPr>
          <p:cNvSpPr>
            <a:spLocks xmlns:a="http://schemas.openxmlformats.org/drawingml/2006/main" noGrp="1"/>
          </p:cNvSpPr>
          <p:nvPr/>
        </p:nvSpPr>
        <p:spPr>
          <a:xfrm xmlns:a="http://schemas.openxmlformats.org/drawingml/2006/main">
            <a:off x="548640" y="5924550"/>
            <a:ext cx="11091672"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A9BDCD"/>
                </a:solidFill>
                <a:latin typeface="Arial"/>
                <a:ea typeface="Arial"/>
                <a:cs typeface="Arial"/>
              </a:defRPr>
            </a:defPPr>
            <a:lvl1pPr>
              <a:buNone/>
              <a:defRPr sz="1500" b="0">
                <a:solidFill>
                  <a:srgbClr val="A9BDCD"/>
                </a:solidFill>
                <a:latin typeface="Arial"/>
                <a:ea typeface="Arial"/>
                <a:cs typeface="Arial"/>
              </a:defRPr>
            </a:lvl1pPr>
            <a:lvl2pPr>
              <a:buNone/>
              <a:defRPr sz="1500" b="0">
                <a:solidFill>
                  <a:srgbClr val="A9BDCD"/>
                </a:solidFill>
                <a:latin typeface="Arial"/>
                <a:ea typeface="Arial"/>
                <a:cs typeface="Arial"/>
              </a:defRPr>
            </a:lvl2pPr>
            <a:lvl3pPr>
              <a:buNone/>
              <a:defRPr sz="1500" b="0">
                <a:solidFill>
                  <a:srgbClr val="A9BDCD"/>
                </a:solidFill>
                <a:latin typeface="Arial"/>
                <a:ea typeface="Arial"/>
                <a:cs typeface="Arial"/>
              </a:defRPr>
            </a:lvl3pPr>
            <a:lvl4pPr>
              <a:buNone/>
              <a:defRPr sz="1500" b="0">
                <a:solidFill>
                  <a:srgbClr val="A9BDCD"/>
                </a:solidFill>
                <a:latin typeface="Arial"/>
                <a:ea typeface="Arial"/>
                <a:cs typeface="Arial"/>
              </a:defRPr>
            </a:lvl4pPr>
            <a:lvl5pPr>
              <a:buNone/>
              <a:defRPr sz="1500" b="0">
                <a:solidFill>
                  <a:srgbClr val="A9BDCD"/>
                </a:solidFill>
                <a:latin typeface="Arial"/>
                <a:ea typeface="Arial"/>
                <a:cs typeface="Arial"/>
              </a:defRPr>
            </a:lvl5pPr>
            <a:lvl6pPr>
              <a:buNone/>
              <a:defRPr sz="1500" b="0">
                <a:solidFill>
                  <a:srgbClr val="A9BDCD"/>
                </a:solidFill>
                <a:latin typeface="Arial"/>
                <a:ea typeface="Arial"/>
                <a:cs typeface="Arial"/>
              </a:defRPr>
            </a:lvl6pPr>
            <a:lvl7pPr>
              <a:buNone/>
              <a:defRPr sz="1500" b="0">
                <a:solidFill>
                  <a:srgbClr val="A9BDCD"/>
                </a:solidFill>
                <a:latin typeface="Arial"/>
                <a:ea typeface="Arial"/>
                <a:cs typeface="Arial"/>
              </a:defRPr>
            </a:lvl7pPr>
            <a:lvl8pPr>
              <a:buNone/>
              <a:defRPr sz="1500" b="0">
                <a:solidFill>
                  <a:srgbClr val="A9BDCD"/>
                </a:solidFill>
                <a:latin typeface="Arial"/>
                <a:ea typeface="Arial"/>
                <a:cs typeface="Arial"/>
              </a:defRPr>
            </a:lvl8pPr>
            <a:lvl9pPr>
              <a:buNone/>
              <a:defRPr sz="1500" b="0">
                <a:solidFill>
                  <a:srgbClr val="A9BDCD"/>
                </a:solidFill>
                <a:latin typeface="Arial"/>
                <a:ea typeface="Arial"/>
                <a:cs typeface="Arial"/>
              </a:defRPr>
            </a:lvl9pPr>
          </a:lstStyle>
          <a:p xmlns:a="http://schemas.openxmlformats.org/drawingml/2006/main">
            <a:pPr>
              <a:buNone/>
              <a:defRPr sz="1500" b="0">
                <a:solidFill>
                  <a:srgbClr val="A9BDCD"/>
                </a:solidFill>
                <a:latin typeface="Arial"/>
                <a:ea typeface="Arial"/>
                <a:cs typeface="Arial"/>
              </a:defRPr>
            </a:pPr>
            <a:r>
              <a:rPr sz="1500" b="0">
                <a:solidFill>
                  <a:srgbClr val="A9BDCD"/>
                </a:solidFill>
                <a:latin typeface="Arial"/>
                <a:ea typeface="Arial"/>
                <a:cs typeface="Arial"/>
              </a:rPr>
              <a:t>Proposed Paytm for Business workflow: supplier follow-up between payments. Integration subject to approval.</a:t>
            </a:r>
          </a:p>
        </p:txBody>
      </p:sp>
    </p:spTree>
    <p:extLst>
      <p:ext uri="{BB962C8B-B14F-4D97-AF65-F5344CB8AC3E}">
        <p14:creationId xmlns:p14="http://schemas.microsoft.com/office/powerpoint/2010/main" val="1827487546"/>
      </p:ext>
    </p:extLst>
  </p:cSld>
</p:sld>
</file>

<file path=ppt/theme/theme1.xml><?xml version="1.0" encoding="utf-8"?>
<a:theme xmlns:a="http://schemas.openxmlformats.org/drawingml/2006/main" name="Munafa">
  <a:themeElements>
    <a:clrScheme name="Munafa">
      <a:dk1>
        <a:srgbClr val="132D36"/>
      </a:dk1>
      <a:lt1>
        <a:srgbClr val="FFFFFF"/>
      </a:lt1>
      <a:dk2>
        <a:srgbClr val="0B5C5E"/>
      </a:dk2>
      <a:lt2>
        <a:srgbClr val="F7F5EE"/>
      </a:lt2>
      <a:accent1>
        <a:srgbClr val="007E80"/>
      </a:accent1>
      <a:accent2>
        <a:srgbClr val="F17359"/>
      </a:accent2>
      <a:accent3>
        <a:srgbClr val="EFBA53"/>
      </a:accent3>
      <a:accent4>
        <a:srgbClr val="51D7AE"/>
      </a:accent4>
      <a:accent5>
        <a:srgbClr val="53676C"/>
      </a:accent5>
      <a:accent6>
        <a:srgbClr val="A9BDCD"/>
      </a:accent6>
      <a:hlink>
        <a:srgbClr val="007E80"/>
      </a:hlink>
      <a:folHlink>
        <a:srgbClr val="53676C"/>
      </a:folHlink>
    </a:clrScheme>
    <a:fontScheme name="Munaf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Munaf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2026-10-27T10:42:21.2730000Z</dcterms:created>
  <dcterms:modified xsi:type="dcterms:W3CDTF">2026-10-27T10:42:21.2730000Z</dcterms:modified>
</coreProperties>
</file>